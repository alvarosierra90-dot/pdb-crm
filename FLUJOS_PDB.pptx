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7E"/>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FF9800"/>
          </a:solidFill>
          <a:ln w="12700">
            <a:solidFill>
              <a:srgbClr val="FF9800"/>
            </a:solidFill>
            <a:prstDash val="solid"/>
          </a:ln>
        </p:spPr>
      </p:sp>
      <p:sp>
        <p:nvSpPr>
          <p:cNvPr id="3" name="Shape 1"/>
          <p:cNvSpPr/>
          <p:nvPr/>
        </p:nvSpPr>
        <p:spPr>
          <a:xfrm>
            <a:off x="0" y="6803136"/>
            <a:ext cx="12188952" cy="54864"/>
          </a:xfrm>
          <a:prstGeom prst="rect">
            <a:avLst/>
          </a:prstGeom>
          <a:solidFill>
            <a:srgbClr val="FF9800"/>
          </a:solidFill>
          <a:ln w="12700">
            <a:solidFill>
              <a:srgbClr val="FF9800"/>
            </a:solidFill>
            <a:prstDash val="solid"/>
          </a:ln>
        </p:spPr>
      </p:sp>
      <p:sp>
        <p:nvSpPr>
          <p:cNvPr id="4" name="Text 2"/>
          <p:cNvSpPr/>
          <p:nvPr/>
        </p:nvSpPr>
        <p:spPr>
          <a:xfrm>
            <a:off x="914400" y="1828800"/>
            <a:ext cx="10360152" cy="1097280"/>
          </a:xfrm>
          <a:prstGeom prst="rect">
            <a:avLst/>
          </a:prstGeom>
          <a:noFill/>
          <a:ln/>
        </p:spPr>
        <p:txBody>
          <a:bodyPr wrap="square" rtlCol="0" anchor="ctr"/>
          <a:lstStyle/>
          <a:p>
            <a:pPr algn="ctr" indent="0" marL="0">
              <a:buNone/>
            </a:pPr>
            <a:r>
              <a:rPr lang="en-US" sz="6000" b="1" dirty="0">
                <a:solidFill>
                  <a:srgbClr val="FFFFFF"/>
                </a:solidFill>
                <a:latin typeface="Calibri" pitchFamily="34" charset="0"/>
                <a:ea typeface="Calibri" pitchFamily="34" charset="-122"/>
                <a:cs typeface="Calibri" pitchFamily="34" charset="-120"/>
              </a:rPr>
              <a:t>FLUJOS PDB</a:t>
            </a:r>
            <a:endParaRPr lang="en-US" sz="6000" dirty="0"/>
          </a:p>
        </p:txBody>
      </p:sp>
      <p:sp>
        <p:nvSpPr>
          <p:cNvPr id="5" name="Text 3"/>
          <p:cNvSpPr/>
          <p:nvPr/>
        </p:nvSpPr>
        <p:spPr>
          <a:xfrm>
            <a:off x="914400" y="3108960"/>
            <a:ext cx="10360152" cy="548640"/>
          </a:xfrm>
          <a:prstGeom prst="rect">
            <a:avLst/>
          </a:prstGeom>
          <a:noFill/>
          <a:ln/>
        </p:spPr>
        <p:txBody>
          <a:bodyPr wrap="square" rtlCol="0" anchor="ctr"/>
          <a:lstStyle/>
          <a:p>
            <a:pPr algn="ctr" indent="0" marL="0">
              <a:buNone/>
            </a:pPr>
            <a:r>
              <a:rPr lang="en-US" sz="2200" dirty="0">
                <a:solidFill>
                  <a:srgbClr val="90CAF9"/>
                </a:solidFill>
                <a:latin typeface="Calibri" pitchFamily="34" charset="0"/>
                <a:ea typeface="Calibri" pitchFamily="34" charset="-122"/>
                <a:cs typeface="Calibri" pitchFamily="34" charset="-120"/>
              </a:rPr>
              <a:t>Mapa de procesos · 10 ciclos clave</a:t>
            </a:r>
            <a:endParaRPr lang="en-US" sz="2200" dirty="0"/>
          </a:p>
        </p:txBody>
      </p:sp>
      <p:sp>
        <p:nvSpPr>
          <p:cNvPr id="6" name="Text 4"/>
          <p:cNvSpPr/>
          <p:nvPr/>
        </p:nvSpPr>
        <p:spPr>
          <a:xfrm>
            <a:off x="914400" y="3749040"/>
            <a:ext cx="10360152" cy="365760"/>
          </a:xfrm>
          <a:prstGeom prst="rect">
            <a:avLst/>
          </a:prstGeom>
          <a:noFill/>
          <a:ln/>
        </p:spPr>
        <p:txBody>
          <a:bodyPr wrap="square" rtlCol="0" anchor="ctr"/>
          <a:lstStyle/>
          <a:p>
            <a:pPr algn="ctr" indent="0" marL="0">
              <a:buNone/>
            </a:pPr>
            <a:r>
              <a:rPr lang="en-US" sz="1100" dirty="0">
                <a:solidFill>
                  <a:srgbClr val="BBDEFB"/>
                </a:solidFill>
                <a:latin typeface="Calibri" pitchFamily="34" charset="0"/>
                <a:ea typeface="Calibri" pitchFamily="34" charset="-122"/>
                <a:cs typeface="Calibri" pitchFamily="34" charset="-120"/>
              </a:rPr>
              <a:t>LEAD · Activo · Oferta · Demanda · Match · Oportunidad WIP · Negociación · Instrucción · Transacción</a:t>
            </a:r>
            <a:endParaRPr lang="en-US" sz="1100" dirty="0"/>
          </a:p>
        </p:txBody>
      </p:sp>
      <p:sp>
        <p:nvSpPr>
          <p:cNvPr id="7" name="Shape 5"/>
          <p:cNvSpPr/>
          <p:nvPr/>
        </p:nvSpPr>
        <p:spPr>
          <a:xfrm>
            <a:off x="2286000" y="5120640"/>
            <a:ext cx="2468880" cy="411480"/>
          </a:xfrm>
          <a:prstGeom prst="roundRect">
            <a:avLst>
              <a:gd name="adj" fmla="val 17778"/>
            </a:avLst>
          </a:prstGeom>
          <a:solidFill>
            <a:srgbClr val="0078D4"/>
          </a:solidFill>
          <a:ln w="12700">
            <a:solidFill>
              <a:srgbClr val="0078D4"/>
            </a:solidFill>
            <a:prstDash val="solid"/>
          </a:ln>
        </p:spPr>
      </p:sp>
      <p:sp>
        <p:nvSpPr>
          <p:cNvPr id="8" name="Text 6"/>
          <p:cNvSpPr/>
          <p:nvPr/>
        </p:nvSpPr>
        <p:spPr>
          <a:xfrm>
            <a:off x="22860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Dynamics — sistema maestro</a:t>
            </a:r>
            <a:endParaRPr lang="en-US" sz="1100" dirty="0"/>
          </a:p>
        </p:txBody>
      </p:sp>
      <p:sp>
        <p:nvSpPr>
          <p:cNvPr id="9" name="Shape 7"/>
          <p:cNvSpPr/>
          <p:nvPr/>
        </p:nvSpPr>
        <p:spPr>
          <a:xfrm>
            <a:off x="5029200" y="5120640"/>
            <a:ext cx="2468880" cy="411480"/>
          </a:xfrm>
          <a:prstGeom prst="roundRect">
            <a:avLst>
              <a:gd name="adj" fmla="val 17778"/>
            </a:avLst>
          </a:prstGeom>
          <a:solidFill>
            <a:srgbClr val="2E7D32"/>
          </a:solidFill>
          <a:ln w="12700">
            <a:solidFill>
              <a:srgbClr val="2E7D32"/>
            </a:solidFill>
            <a:prstDash val="solid"/>
          </a:ln>
        </p:spPr>
      </p:sp>
      <p:sp>
        <p:nvSpPr>
          <p:cNvPr id="10" name="Text 8"/>
          <p:cNvSpPr/>
          <p:nvPr/>
        </p:nvSpPr>
        <p:spPr>
          <a:xfrm>
            <a:off x="50292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PDB — sistema operativo</a:t>
            </a:r>
            <a:endParaRPr lang="en-US" sz="1100" dirty="0"/>
          </a:p>
        </p:txBody>
      </p:sp>
      <p:sp>
        <p:nvSpPr>
          <p:cNvPr id="11" name="Shape 9"/>
          <p:cNvSpPr/>
          <p:nvPr/>
        </p:nvSpPr>
        <p:spPr>
          <a:xfrm>
            <a:off x="7772400" y="5120640"/>
            <a:ext cx="2468880" cy="411480"/>
          </a:xfrm>
          <a:prstGeom prst="roundRect">
            <a:avLst>
              <a:gd name="adj" fmla="val 17778"/>
            </a:avLst>
          </a:prstGeom>
          <a:solidFill>
            <a:srgbClr val="DC2626"/>
          </a:solidFill>
          <a:ln w="12700">
            <a:solidFill>
              <a:srgbClr val="DC2626"/>
            </a:solidFill>
            <a:prstDash val="solid"/>
          </a:ln>
        </p:spPr>
      </p:sp>
      <p:sp>
        <p:nvSpPr>
          <p:cNvPr id="12" name="Text 10"/>
          <p:cNvSpPr/>
          <p:nvPr/>
        </p:nvSpPr>
        <p:spPr>
          <a:xfrm>
            <a:off x="77724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Vínculo CRÍTICO</a:t>
            </a:r>
            <a:endParaRPr lang="en-US" sz="1100" dirty="0"/>
          </a:p>
        </p:txBody>
      </p:sp>
      <p:sp>
        <p:nvSpPr>
          <p:cNvPr id="13" name="Text 11"/>
          <p:cNvSpPr/>
          <p:nvPr/>
        </p:nvSpPr>
        <p:spPr>
          <a:xfrm>
            <a:off x="0" y="6309360"/>
            <a:ext cx="12188952" cy="274320"/>
          </a:xfrm>
          <a:prstGeom prst="rect">
            <a:avLst/>
          </a:prstGeom>
          <a:noFill/>
          <a:ln/>
        </p:spPr>
        <p:txBody>
          <a:bodyPr wrap="square" rtlCol="0" anchor="ctr"/>
          <a:lstStyle/>
          <a:p>
            <a:pPr algn="ctr" indent="0" marL="0">
              <a:buNone/>
            </a:pPr>
            <a:r>
              <a:rPr lang="en-US" sz="1100" dirty="0">
                <a:solidFill>
                  <a:srgbClr val="7986CB"/>
                </a:solidFill>
                <a:latin typeface="Calibri" pitchFamily="34" charset="0"/>
                <a:ea typeface="Calibri" pitchFamily="34" charset="-122"/>
                <a:cs typeface="Calibri" pitchFamily="34" charset="-120"/>
              </a:rPr>
              <a:t>Savills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LEAD — Punto de entrada del funnel comercial</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Captura automática desde 5 canales → cualificación → vinculación obligatoria Cuenta/Contacto → transformación según tipo</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926080" cy="4572000"/>
          </a:xfrm>
          <a:prstGeom prst="rect">
            <a:avLst/>
          </a:prstGeom>
          <a:solidFill>
            <a:srgbClr val="0284C7">
              <a:alpha val="12000"/>
            </a:srgbClr>
          </a:solidFill>
          <a:ln w="12700">
            <a:solidFill>
              <a:srgbClr val="0284C7"/>
            </a:solidFill>
            <a:prstDash val="dash"/>
          </a:ln>
        </p:spPr>
      </p:sp>
      <p:sp>
        <p:nvSpPr>
          <p:cNvPr id="12" name="Text 10"/>
          <p:cNvSpPr/>
          <p:nvPr/>
        </p:nvSpPr>
        <p:spPr>
          <a:xfrm>
            <a:off x="347472" y="950976"/>
            <a:ext cx="2779776" cy="219456"/>
          </a:xfrm>
          <a:prstGeom prst="rect">
            <a:avLst/>
          </a:prstGeom>
          <a:noFill/>
          <a:ln/>
        </p:spPr>
        <p:txBody>
          <a:bodyPr wrap="square" rtlCol="0" anchor="t"/>
          <a:lstStyle/>
          <a:p>
            <a:pPr indent="0" marL="0">
              <a:buNone/>
            </a:pPr>
            <a:r>
              <a:rPr lang="en-US" sz="900" b="1" dirty="0">
                <a:solidFill>
                  <a:srgbClr val="0284C7"/>
                </a:solidFill>
                <a:latin typeface="Calibri" pitchFamily="34" charset="0"/>
                <a:ea typeface="Calibri" pitchFamily="34" charset="-122"/>
                <a:cs typeface="Calibri" pitchFamily="34" charset="-120"/>
              </a:rPr>
              <a:t>📡  CANALES EXTERNOS</a:t>
            </a:r>
            <a:endParaRPr lang="en-US" sz="900" dirty="0"/>
          </a:p>
        </p:txBody>
      </p:sp>
      <p:sp>
        <p:nvSpPr>
          <p:cNvPr id="13" name="Shape 11"/>
          <p:cNvSpPr/>
          <p:nvPr/>
        </p:nvSpPr>
        <p:spPr>
          <a:xfrm>
            <a:off x="3429000" y="914400"/>
            <a:ext cx="5120640" cy="4572000"/>
          </a:xfrm>
          <a:prstGeom prst="rect">
            <a:avLst/>
          </a:prstGeom>
          <a:solidFill>
            <a:srgbClr val="92400E">
              <a:alpha val="12000"/>
            </a:srgbClr>
          </a:solidFill>
          <a:ln w="12700">
            <a:solidFill>
              <a:srgbClr val="92400E"/>
            </a:solidFill>
            <a:prstDash val="dash"/>
          </a:ln>
        </p:spPr>
      </p:sp>
      <p:sp>
        <p:nvSpPr>
          <p:cNvPr id="14" name="Text 12"/>
          <p:cNvSpPr/>
          <p:nvPr/>
        </p:nvSpPr>
        <p:spPr>
          <a:xfrm>
            <a:off x="3502152" y="950976"/>
            <a:ext cx="4974336" cy="219456"/>
          </a:xfrm>
          <a:prstGeom prst="rect">
            <a:avLst/>
          </a:prstGeom>
          <a:noFill/>
          <a:ln/>
        </p:spPr>
        <p:txBody>
          <a:bodyPr wrap="square" rtlCol="0" anchor="t"/>
          <a:lstStyle/>
          <a:p>
            <a:pPr indent="0" marL="0">
              <a:buNone/>
            </a:pPr>
            <a:r>
              <a:rPr lang="en-US" sz="900" b="1" dirty="0">
                <a:solidFill>
                  <a:srgbClr val="92400E"/>
                </a:solidFill>
                <a:latin typeface="Calibri" pitchFamily="34" charset="0"/>
                <a:ea typeface="Calibri" pitchFamily="34" charset="-122"/>
                <a:cs typeface="Calibri" pitchFamily="34" charset="-120"/>
              </a:rPr>
              <a:t>🟡  PDB · MÓDULO LEADS</a:t>
            </a:r>
            <a:endParaRPr lang="en-US" sz="900" dirty="0"/>
          </a:p>
        </p:txBody>
      </p:sp>
      <p:sp>
        <p:nvSpPr>
          <p:cNvPr id="15" name="Shape 13"/>
          <p:cNvSpPr/>
          <p:nvPr/>
        </p:nvSpPr>
        <p:spPr>
          <a:xfrm>
            <a:off x="8778240" y="914400"/>
            <a:ext cx="3136392" cy="4572000"/>
          </a:xfrm>
          <a:prstGeom prst="rect">
            <a:avLst/>
          </a:prstGeom>
          <a:solidFill>
            <a:srgbClr val="15803D">
              <a:alpha val="12000"/>
            </a:srgbClr>
          </a:solidFill>
          <a:ln w="12700">
            <a:solidFill>
              <a:srgbClr val="15803D"/>
            </a:solidFill>
            <a:prstDash val="dash"/>
          </a:ln>
        </p:spPr>
      </p:sp>
      <p:sp>
        <p:nvSpPr>
          <p:cNvPr id="16" name="Text 14"/>
          <p:cNvSpPr/>
          <p:nvPr/>
        </p:nvSpPr>
        <p:spPr>
          <a:xfrm>
            <a:off x="8851392" y="950976"/>
            <a:ext cx="2990088" cy="219456"/>
          </a:xfrm>
          <a:prstGeom prst="rect">
            <a:avLst/>
          </a:prstGeom>
          <a:noFill/>
          <a:ln/>
        </p:spPr>
        <p:txBody>
          <a:bodyPr wrap="square" rtlCol="0" anchor="t"/>
          <a:lstStyle/>
          <a:p>
            <a:pPr indent="0" marL="0">
              <a:buNone/>
            </a:pPr>
            <a:r>
              <a:rPr lang="en-US" sz="900" b="1" dirty="0">
                <a:solidFill>
                  <a:srgbClr val="15803D"/>
                </a:solidFill>
                <a:latin typeface="Calibri" pitchFamily="34" charset="0"/>
                <a:ea typeface="Calibri" pitchFamily="34" charset="-122"/>
                <a:cs typeface="Calibri" pitchFamily="34" charset="-120"/>
              </a:rPr>
              <a:t>⚡  DESTINOS · TRANSFORMACIÓN</a:t>
            </a:r>
            <a:endParaRPr lang="en-US" sz="900" dirty="0"/>
          </a:p>
        </p:txBody>
      </p:sp>
      <p:sp>
        <p:nvSpPr>
          <p:cNvPr id="17" name="Shape 15"/>
          <p:cNvSpPr/>
          <p:nvPr/>
        </p:nvSpPr>
        <p:spPr>
          <a:xfrm>
            <a:off x="411480" y="1280160"/>
            <a:ext cx="2651760" cy="640080"/>
          </a:xfrm>
          <a:prstGeom prst="roundRect">
            <a:avLst>
              <a:gd name="adj" fmla="val 8571"/>
            </a:avLst>
          </a:prstGeom>
          <a:solidFill>
            <a:srgbClr val="E0F2FE"/>
          </a:solidFill>
          <a:ln w="19050">
            <a:solidFill>
              <a:srgbClr val="0284C7"/>
            </a:solidFill>
            <a:prstDash val="solid"/>
          </a:ln>
        </p:spPr>
      </p:sp>
      <p:sp>
        <p:nvSpPr>
          <p:cNvPr id="18" name="Text 16"/>
          <p:cNvSpPr/>
          <p:nvPr/>
        </p:nvSpPr>
        <p:spPr>
          <a:xfrm>
            <a:off x="411480" y="1280160"/>
            <a:ext cx="2651760" cy="640080"/>
          </a:xfrm>
          <a:prstGeom prst="rect">
            <a:avLst/>
          </a:prstGeom>
          <a:noFill/>
          <a:ln/>
        </p:spPr>
        <p:txBody>
          <a:bodyPr wrap="square" rtlCol="0" anchor="ctr"/>
          <a:lstStyle/>
          <a:p>
            <a:pPr algn="ctr" indent="0" marL="0">
              <a:buNone/>
            </a:pPr>
            <a:r>
              <a:rPr lang="en-US" sz="1000" dirty="0">
                <a:solidFill>
                  <a:srgbClr val="0C4A6E"/>
                </a:solidFill>
                <a:latin typeface="Calibri" pitchFamily="34" charset="0"/>
                <a:ea typeface="Calibri" pitchFamily="34" charset="-122"/>
                <a:cs typeface="Calibri" pitchFamily="34" charset="-120"/>
              </a:rPr>
              <a:t>Web + landing pages</a:t>
            </a:r>
            <a:endParaRPr lang="en-US" sz="1000" dirty="0"/>
          </a:p>
        </p:txBody>
      </p:sp>
      <p:sp>
        <p:nvSpPr>
          <p:cNvPr id="19" name="Shape 17"/>
          <p:cNvSpPr/>
          <p:nvPr/>
        </p:nvSpPr>
        <p:spPr>
          <a:xfrm>
            <a:off x="320040" y="1170432"/>
            <a:ext cx="292608" cy="292608"/>
          </a:xfrm>
          <a:prstGeom prst="ellipse">
            <a:avLst/>
          </a:prstGeom>
          <a:solidFill>
            <a:srgbClr val="0284C7"/>
          </a:solidFill>
          <a:ln w="19050">
            <a:solidFill>
              <a:srgbClr val="FFFFFF"/>
            </a:solidFill>
            <a:prstDash val="solid"/>
          </a:ln>
        </p:spPr>
      </p:sp>
      <p:sp>
        <p:nvSpPr>
          <p:cNvPr id="20" name="Text 18"/>
          <p:cNvSpPr/>
          <p:nvPr/>
        </p:nvSpPr>
        <p:spPr>
          <a:xfrm>
            <a:off x="320040" y="117043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1" name="Shape 19"/>
          <p:cNvSpPr/>
          <p:nvPr/>
        </p:nvSpPr>
        <p:spPr>
          <a:xfrm>
            <a:off x="411480" y="2103120"/>
            <a:ext cx="2651760" cy="640080"/>
          </a:xfrm>
          <a:prstGeom prst="roundRect">
            <a:avLst>
              <a:gd name="adj" fmla="val 8571"/>
            </a:avLst>
          </a:prstGeom>
          <a:solidFill>
            <a:srgbClr val="E0F2FE"/>
          </a:solidFill>
          <a:ln w="19050">
            <a:solidFill>
              <a:srgbClr val="0284C7"/>
            </a:solidFill>
            <a:prstDash val="solid"/>
          </a:ln>
        </p:spPr>
      </p:sp>
      <p:sp>
        <p:nvSpPr>
          <p:cNvPr id="22" name="Text 20"/>
          <p:cNvSpPr/>
          <p:nvPr/>
        </p:nvSpPr>
        <p:spPr>
          <a:xfrm>
            <a:off x="411480" y="2103120"/>
            <a:ext cx="2651760" cy="640080"/>
          </a:xfrm>
          <a:prstGeom prst="rect">
            <a:avLst/>
          </a:prstGeom>
          <a:noFill/>
          <a:ln/>
        </p:spPr>
        <p:txBody>
          <a:bodyPr wrap="square" rtlCol="0" anchor="ctr"/>
          <a:lstStyle/>
          <a:p>
            <a:pPr algn="ctr" indent="0" marL="0">
              <a:buNone/>
            </a:pPr>
            <a:r>
              <a:rPr lang="en-US" sz="1000" dirty="0">
                <a:solidFill>
                  <a:srgbClr val="0C4A6E"/>
                </a:solidFill>
                <a:latin typeface="Calibri" pitchFamily="34" charset="0"/>
                <a:ea typeface="Calibri" pitchFamily="34" charset="-122"/>
                <a:cs typeface="Calibri" pitchFamily="34" charset="-120"/>
              </a:rPr>
              <a:t>Portales</a:t>
            </a:r>
            <a:endParaRPr lang="en-US" sz="1000" dirty="0"/>
          </a:p>
          <a:p>
            <a:pPr algn="ctr" indent="0" marL="0">
              <a:buNone/>
            </a:pPr>
            <a:r>
              <a:rPr lang="en-US" sz="1000" dirty="0">
                <a:solidFill>
                  <a:srgbClr val="0C4A6E"/>
                </a:solidFill>
                <a:latin typeface="Calibri" pitchFamily="34" charset="0"/>
                <a:ea typeface="Calibri" pitchFamily="34" charset="-122"/>
                <a:cs typeface="Calibri" pitchFamily="34" charset="-120"/>
              </a:rPr>
              <a:t>Idealista · Habitaclia · Belbex</a:t>
            </a:r>
            <a:endParaRPr lang="en-US" sz="1000" dirty="0"/>
          </a:p>
        </p:txBody>
      </p:sp>
      <p:sp>
        <p:nvSpPr>
          <p:cNvPr id="23" name="Shape 21"/>
          <p:cNvSpPr/>
          <p:nvPr/>
        </p:nvSpPr>
        <p:spPr>
          <a:xfrm>
            <a:off x="320040" y="1993392"/>
            <a:ext cx="292608" cy="292608"/>
          </a:xfrm>
          <a:prstGeom prst="ellipse">
            <a:avLst/>
          </a:prstGeom>
          <a:solidFill>
            <a:srgbClr val="0284C7"/>
          </a:solidFill>
          <a:ln w="19050">
            <a:solidFill>
              <a:srgbClr val="FFFFFF"/>
            </a:solidFill>
            <a:prstDash val="solid"/>
          </a:ln>
        </p:spPr>
      </p:sp>
      <p:sp>
        <p:nvSpPr>
          <p:cNvPr id="24" name="Text 22"/>
          <p:cNvSpPr/>
          <p:nvPr/>
        </p:nvSpPr>
        <p:spPr>
          <a:xfrm>
            <a:off x="320040" y="199339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Shape 23"/>
          <p:cNvSpPr/>
          <p:nvPr/>
        </p:nvSpPr>
        <p:spPr>
          <a:xfrm>
            <a:off x="411480" y="3017520"/>
            <a:ext cx="2651760" cy="640080"/>
          </a:xfrm>
          <a:prstGeom prst="roundRect">
            <a:avLst>
              <a:gd name="adj" fmla="val 8571"/>
            </a:avLst>
          </a:prstGeom>
          <a:solidFill>
            <a:srgbClr val="E0F2FE"/>
          </a:solidFill>
          <a:ln w="19050">
            <a:solidFill>
              <a:srgbClr val="0284C7"/>
            </a:solidFill>
            <a:prstDash val="solid"/>
          </a:ln>
        </p:spPr>
      </p:sp>
      <p:sp>
        <p:nvSpPr>
          <p:cNvPr id="26" name="Text 24"/>
          <p:cNvSpPr/>
          <p:nvPr/>
        </p:nvSpPr>
        <p:spPr>
          <a:xfrm>
            <a:off x="411480" y="3017520"/>
            <a:ext cx="2651760" cy="640080"/>
          </a:xfrm>
          <a:prstGeom prst="rect">
            <a:avLst/>
          </a:prstGeom>
          <a:noFill/>
          <a:ln/>
        </p:spPr>
        <p:txBody>
          <a:bodyPr wrap="square" rtlCol="0" anchor="ctr"/>
          <a:lstStyle/>
          <a:p>
            <a:pPr algn="ctr" indent="0" marL="0">
              <a:buNone/>
            </a:pPr>
            <a:r>
              <a:rPr lang="en-US" sz="1000" dirty="0">
                <a:solidFill>
                  <a:srgbClr val="0C4A6E"/>
                </a:solidFill>
                <a:latin typeface="Calibri" pitchFamily="34" charset="0"/>
                <a:ea typeface="Calibri" pitchFamily="34" charset="-122"/>
                <a:cs typeface="Calibri" pitchFamily="34" charset="-120"/>
              </a:rPr>
              <a:t>LinkedIn + campañas</a:t>
            </a:r>
            <a:endParaRPr lang="en-US" sz="1000" dirty="0"/>
          </a:p>
        </p:txBody>
      </p:sp>
      <p:sp>
        <p:nvSpPr>
          <p:cNvPr id="27" name="Shape 25"/>
          <p:cNvSpPr/>
          <p:nvPr/>
        </p:nvSpPr>
        <p:spPr>
          <a:xfrm>
            <a:off x="320040" y="2907792"/>
            <a:ext cx="292608" cy="292608"/>
          </a:xfrm>
          <a:prstGeom prst="ellipse">
            <a:avLst/>
          </a:prstGeom>
          <a:solidFill>
            <a:srgbClr val="0284C7"/>
          </a:solidFill>
          <a:ln w="19050">
            <a:solidFill>
              <a:srgbClr val="FFFFFF"/>
            </a:solidFill>
            <a:prstDash val="solid"/>
          </a:ln>
        </p:spPr>
      </p:sp>
      <p:sp>
        <p:nvSpPr>
          <p:cNvPr id="28" name="Text 26"/>
          <p:cNvSpPr/>
          <p:nvPr/>
        </p:nvSpPr>
        <p:spPr>
          <a:xfrm>
            <a:off x="320040" y="290779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9" name="Shape 27"/>
          <p:cNvSpPr/>
          <p:nvPr/>
        </p:nvSpPr>
        <p:spPr>
          <a:xfrm>
            <a:off x="411480" y="3840480"/>
            <a:ext cx="2651760" cy="640080"/>
          </a:xfrm>
          <a:prstGeom prst="roundRect">
            <a:avLst>
              <a:gd name="adj" fmla="val 8571"/>
            </a:avLst>
          </a:prstGeom>
          <a:solidFill>
            <a:srgbClr val="E0F2FE"/>
          </a:solidFill>
          <a:ln w="19050">
            <a:solidFill>
              <a:srgbClr val="0284C7"/>
            </a:solidFill>
            <a:prstDash val="solid"/>
          </a:ln>
        </p:spPr>
      </p:sp>
      <p:sp>
        <p:nvSpPr>
          <p:cNvPr id="30" name="Text 28"/>
          <p:cNvSpPr/>
          <p:nvPr/>
        </p:nvSpPr>
        <p:spPr>
          <a:xfrm>
            <a:off x="411480" y="3840480"/>
            <a:ext cx="2651760" cy="640080"/>
          </a:xfrm>
          <a:prstGeom prst="rect">
            <a:avLst/>
          </a:prstGeom>
          <a:noFill/>
          <a:ln/>
        </p:spPr>
        <p:txBody>
          <a:bodyPr wrap="square" rtlCol="0" anchor="ctr"/>
          <a:lstStyle/>
          <a:p>
            <a:pPr algn="ctr" indent="0" marL="0">
              <a:buNone/>
            </a:pPr>
            <a:r>
              <a:rPr lang="en-US" sz="1000" dirty="0">
                <a:solidFill>
                  <a:srgbClr val="0C4A6E"/>
                </a:solidFill>
                <a:latin typeface="Calibri" pitchFamily="34" charset="0"/>
                <a:ea typeface="Calibri" pitchFamily="34" charset="-122"/>
                <a:cs typeface="Calibri" pitchFamily="34" charset="-120"/>
              </a:rPr>
              <a:t>Formularios</a:t>
            </a:r>
            <a:endParaRPr lang="en-US" sz="1000" dirty="0"/>
          </a:p>
          <a:p>
            <a:pPr algn="ctr" indent="0" marL="0">
              <a:buNone/>
            </a:pPr>
            <a:r>
              <a:rPr lang="en-US" sz="1000" dirty="0">
                <a:solidFill>
                  <a:srgbClr val="0C4A6E"/>
                </a:solidFill>
                <a:latin typeface="Calibri" pitchFamily="34" charset="0"/>
                <a:ea typeface="Calibri" pitchFamily="34" charset="-122"/>
                <a:cs typeface="Calibri" pitchFamily="34" charset="-120"/>
              </a:rPr>
              <a:t>consultoría · advisory</a:t>
            </a:r>
            <a:endParaRPr lang="en-US" sz="1000" dirty="0"/>
          </a:p>
        </p:txBody>
      </p:sp>
      <p:sp>
        <p:nvSpPr>
          <p:cNvPr id="31" name="Shape 29"/>
          <p:cNvSpPr/>
          <p:nvPr/>
        </p:nvSpPr>
        <p:spPr>
          <a:xfrm>
            <a:off x="320040" y="3730752"/>
            <a:ext cx="292608" cy="292608"/>
          </a:xfrm>
          <a:prstGeom prst="ellipse">
            <a:avLst/>
          </a:prstGeom>
          <a:solidFill>
            <a:srgbClr val="0284C7"/>
          </a:solidFill>
          <a:ln w="19050">
            <a:solidFill>
              <a:srgbClr val="FFFFFF"/>
            </a:solidFill>
            <a:prstDash val="solid"/>
          </a:ln>
        </p:spPr>
      </p:sp>
      <p:sp>
        <p:nvSpPr>
          <p:cNvPr id="32" name="Text 30"/>
          <p:cNvSpPr/>
          <p:nvPr/>
        </p:nvSpPr>
        <p:spPr>
          <a:xfrm>
            <a:off x="320040" y="373075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3" name="Shape 31"/>
          <p:cNvSpPr/>
          <p:nvPr/>
        </p:nvSpPr>
        <p:spPr>
          <a:xfrm>
            <a:off x="411480" y="4663440"/>
            <a:ext cx="2651760" cy="640080"/>
          </a:xfrm>
          <a:prstGeom prst="roundRect">
            <a:avLst>
              <a:gd name="adj" fmla="val 8571"/>
            </a:avLst>
          </a:prstGeom>
          <a:solidFill>
            <a:srgbClr val="E0F2FE"/>
          </a:solidFill>
          <a:ln w="19050">
            <a:solidFill>
              <a:srgbClr val="0284C7"/>
            </a:solidFill>
            <a:prstDash val="solid"/>
          </a:ln>
        </p:spPr>
      </p:sp>
      <p:sp>
        <p:nvSpPr>
          <p:cNvPr id="34" name="Text 32"/>
          <p:cNvSpPr/>
          <p:nvPr/>
        </p:nvSpPr>
        <p:spPr>
          <a:xfrm>
            <a:off x="411480" y="4663440"/>
            <a:ext cx="2651760" cy="640080"/>
          </a:xfrm>
          <a:prstGeom prst="rect">
            <a:avLst/>
          </a:prstGeom>
          <a:noFill/>
          <a:ln/>
        </p:spPr>
        <p:txBody>
          <a:bodyPr wrap="square" rtlCol="0" anchor="ctr"/>
          <a:lstStyle/>
          <a:p>
            <a:pPr algn="ctr" indent="0" marL="0">
              <a:buNone/>
            </a:pPr>
            <a:r>
              <a:rPr lang="en-US" sz="1000" dirty="0">
                <a:solidFill>
                  <a:srgbClr val="0C4A6E"/>
                </a:solidFill>
                <a:latin typeface="Calibri" pitchFamily="34" charset="0"/>
                <a:ea typeface="Calibri" pitchFamily="34" charset="-122"/>
                <a:cs typeface="Calibri" pitchFamily="34" charset="-120"/>
              </a:rPr>
              <a:t>Recomendación</a:t>
            </a:r>
            <a:endParaRPr lang="en-US" sz="1000" dirty="0"/>
          </a:p>
          <a:p>
            <a:pPr algn="ctr" indent="0" marL="0">
              <a:buNone/>
            </a:pPr>
            <a:r>
              <a:rPr lang="en-US" sz="1000" dirty="0">
                <a:solidFill>
                  <a:srgbClr val="0C4A6E"/>
                </a:solidFill>
                <a:latin typeface="Calibri" pitchFamily="34" charset="0"/>
                <a:ea typeface="Calibri" pitchFamily="34" charset="-122"/>
                <a:cs typeface="Calibri" pitchFamily="34" charset="-120"/>
              </a:rPr>
              <a:t>+ contacto directo</a:t>
            </a:r>
            <a:endParaRPr lang="en-US" sz="1000" dirty="0"/>
          </a:p>
        </p:txBody>
      </p:sp>
      <p:sp>
        <p:nvSpPr>
          <p:cNvPr id="35" name="Shape 33"/>
          <p:cNvSpPr/>
          <p:nvPr/>
        </p:nvSpPr>
        <p:spPr>
          <a:xfrm>
            <a:off x="320040" y="4553712"/>
            <a:ext cx="292608" cy="292608"/>
          </a:xfrm>
          <a:prstGeom prst="ellipse">
            <a:avLst/>
          </a:prstGeom>
          <a:solidFill>
            <a:srgbClr val="0284C7"/>
          </a:solidFill>
          <a:ln w="19050">
            <a:solidFill>
              <a:srgbClr val="FFFFFF"/>
            </a:solidFill>
            <a:prstDash val="solid"/>
          </a:ln>
        </p:spPr>
      </p:sp>
      <p:sp>
        <p:nvSpPr>
          <p:cNvPr id="36" name="Text 34"/>
          <p:cNvSpPr/>
          <p:nvPr/>
        </p:nvSpPr>
        <p:spPr>
          <a:xfrm>
            <a:off x="320040" y="455371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Shape 35"/>
          <p:cNvSpPr/>
          <p:nvPr/>
        </p:nvSpPr>
        <p:spPr>
          <a:xfrm>
            <a:off x="3611880" y="1280160"/>
            <a:ext cx="4754880" cy="777240"/>
          </a:xfrm>
          <a:prstGeom prst="roundRect">
            <a:avLst>
              <a:gd name="adj" fmla="val 9412"/>
            </a:avLst>
          </a:prstGeom>
          <a:solidFill>
            <a:srgbClr val="FEF3C7"/>
          </a:solidFill>
          <a:ln w="19050">
            <a:solidFill>
              <a:srgbClr val="D97706"/>
            </a:solidFill>
            <a:prstDash val="solid"/>
          </a:ln>
        </p:spPr>
      </p:sp>
      <p:sp>
        <p:nvSpPr>
          <p:cNvPr id="38" name="Text 36"/>
          <p:cNvSpPr/>
          <p:nvPr/>
        </p:nvSpPr>
        <p:spPr>
          <a:xfrm>
            <a:off x="3611880" y="1280160"/>
            <a:ext cx="4754880" cy="777240"/>
          </a:xfrm>
          <a:prstGeom prst="rect">
            <a:avLst/>
          </a:prstGeom>
          <a:noFill/>
          <a:ln/>
        </p:spPr>
        <p:txBody>
          <a:bodyPr wrap="square" rtlCol="0" anchor="ctr"/>
          <a:lstStyle/>
          <a:p>
            <a:pPr algn="ctr" indent="0" marL="0">
              <a:buNone/>
            </a:pPr>
            <a:r>
              <a:rPr lang="en-US" sz="1000" dirty="0">
                <a:solidFill>
                  <a:srgbClr val="7C2D12"/>
                </a:solidFill>
                <a:latin typeface="Calibri" pitchFamily="34" charset="0"/>
                <a:ea typeface="Calibri" pitchFamily="34" charset="-122"/>
                <a:cs typeface="Calibri" pitchFamily="34" charset="-120"/>
              </a:rPr>
              <a:t>Captura automática</a:t>
            </a:r>
            <a:endParaRPr lang="en-US" sz="1000" dirty="0"/>
          </a:p>
          <a:p>
            <a:pPr algn="ctr" indent="0" marL="0">
              <a:buNone/>
            </a:pPr>
            <a:r>
              <a:rPr lang="en-US" sz="1000" dirty="0">
                <a:solidFill>
                  <a:srgbClr val="7C2D12"/>
                </a:solidFill>
                <a:latin typeface="Calibri" pitchFamily="34" charset="0"/>
                <a:ea typeface="Calibri" pitchFamily="34" charset="-122"/>
                <a:cs typeface="Calibri" pitchFamily="34" charset="-120"/>
              </a:rPr>
              <a:t>anuncio · campaña</a:t>
            </a:r>
            <a:endParaRPr lang="en-US" sz="1000" dirty="0"/>
          </a:p>
          <a:p>
            <a:pPr algn="ctr" indent="0" marL="0">
              <a:buNone/>
            </a:pPr>
            <a:r>
              <a:rPr lang="en-US" sz="1000" dirty="0">
                <a:solidFill>
                  <a:srgbClr val="7C2D12"/>
                </a:solidFill>
                <a:latin typeface="Calibri" pitchFamily="34" charset="0"/>
                <a:ea typeface="Calibri" pitchFamily="34" charset="-122"/>
                <a:cs typeface="Calibri" pitchFamily="34" charset="-120"/>
              </a:rPr>
              <a:t>URL · fecha · canal</a:t>
            </a:r>
            <a:endParaRPr lang="en-US" sz="1000" dirty="0"/>
          </a:p>
        </p:txBody>
      </p:sp>
      <p:sp>
        <p:nvSpPr>
          <p:cNvPr id="39" name="Shape 37"/>
          <p:cNvSpPr/>
          <p:nvPr/>
        </p:nvSpPr>
        <p:spPr>
          <a:xfrm>
            <a:off x="3520440" y="1170432"/>
            <a:ext cx="292608" cy="292608"/>
          </a:xfrm>
          <a:prstGeom prst="ellipse">
            <a:avLst/>
          </a:prstGeom>
          <a:solidFill>
            <a:srgbClr val="92400E"/>
          </a:solidFill>
          <a:ln w="19050">
            <a:solidFill>
              <a:srgbClr val="FFFFFF"/>
            </a:solidFill>
            <a:prstDash val="solid"/>
          </a:ln>
        </p:spPr>
      </p:sp>
      <p:sp>
        <p:nvSpPr>
          <p:cNvPr id="40" name="Text 38"/>
          <p:cNvSpPr/>
          <p:nvPr/>
        </p:nvSpPr>
        <p:spPr>
          <a:xfrm>
            <a:off x="3520440" y="117043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1" name="Shape 39"/>
          <p:cNvSpPr/>
          <p:nvPr/>
        </p:nvSpPr>
        <p:spPr>
          <a:xfrm>
            <a:off x="3611880" y="2194560"/>
            <a:ext cx="4754880" cy="777240"/>
          </a:xfrm>
          <a:prstGeom prst="roundRect">
            <a:avLst>
              <a:gd name="adj" fmla="val 9412"/>
            </a:avLst>
          </a:prstGeom>
          <a:solidFill>
            <a:srgbClr val="FEF3C7"/>
          </a:solidFill>
          <a:ln w="19050">
            <a:solidFill>
              <a:srgbClr val="D97706"/>
            </a:solidFill>
            <a:prstDash val="solid"/>
          </a:ln>
        </p:spPr>
      </p:sp>
      <p:sp>
        <p:nvSpPr>
          <p:cNvPr id="42" name="Text 40"/>
          <p:cNvSpPr/>
          <p:nvPr/>
        </p:nvSpPr>
        <p:spPr>
          <a:xfrm>
            <a:off x="3611880" y="2194560"/>
            <a:ext cx="4754880" cy="777240"/>
          </a:xfrm>
          <a:prstGeom prst="rect">
            <a:avLst/>
          </a:prstGeom>
          <a:noFill/>
          <a:ln/>
        </p:spPr>
        <p:txBody>
          <a:bodyPr wrap="square" rtlCol="0" anchor="ctr"/>
          <a:lstStyle/>
          <a:p>
            <a:pPr algn="ctr" indent="0" marL="0">
              <a:buNone/>
            </a:pPr>
            <a:r>
              <a:rPr lang="en-US" sz="1000" dirty="0">
                <a:solidFill>
                  <a:srgbClr val="7C2D12"/>
                </a:solidFill>
                <a:latin typeface="Calibri" pitchFamily="34" charset="0"/>
                <a:ea typeface="Calibri" pitchFamily="34" charset="-122"/>
                <a:cs typeface="Calibri" pitchFamily="34" charset="-120"/>
              </a:rPr>
              <a:t>Clasificación tipo</a:t>
            </a:r>
            <a:endParaRPr lang="en-US" sz="1000" dirty="0"/>
          </a:p>
          <a:p>
            <a:pPr algn="ctr" indent="0" marL="0">
              <a:buNone/>
            </a:pPr>
            <a:r>
              <a:rPr lang="en-US" sz="1000" dirty="0">
                <a:solidFill>
                  <a:srgbClr val="7C2D12"/>
                </a:solidFill>
                <a:latin typeface="Calibri" pitchFamily="34" charset="0"/>
                <a:ea typeface="Calibri" pitchFamily="34" charset="-122"/>
                <a:cs typeface="Calibri" pitchFamily="34" charset="-120"/>
              </a:rPr>
              <a:t>Demanda / Oferta / Servicio</a:t>
            </a:r>
            <a:endParaRPr lang="en-US" sz="1000" dirty="0"/>
          </a:p>
        </p:txBody>
      </p:sp>
      <p:sp>
        <p:nvSpPr>
          <p:cNvPr id="43" name="Shape 41"/>
          <p:cNvSpPr/>
          <p:nvPr/>
        </p:nvSpPr>
        <p:spPr>
          <a:xfrm>
            <a:off x="3520440" y="2084832"/>
            <a:ext cx="292608" cy="292608"/>
          </a:xfrm>
          <a:prstGeom prst="ellipse">
            <a:avLst/>
          </a:prstGeom>
          <a:solidFill>
            <a:srgbClr val="92400E"/>
          </a:solidFill>
          <a:ln w="19050">
            <a:solidFill>
              <a:srgbClr val="FFFFFF"/>
            </a:solidFill>
            <a:prstDash val="solid"/>
          </a:ln>
        </p:spPr>
      </p:sp>
      <p:sp>
        <p:nvSpPr>
          <p:cNvPr id="44" name="Text 42"/>
          <p:cNvSpPr/>
          <p:nvPr/>
        </p:nvSpPr>
        <p:spPr>
          <a:xfrm>
            <a:off x="3520440" y="208483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5" name="Shape 43"/>
          <p:cNvSpPr/>
          <p:nvPr/>
        </p:nvSpPr>
        <p:spPr>
          <a:xfrm>
            <a:off x="3611880" y="3108960"/>
            <a:ext cx="4754880" cy="777240"/>
          </a:xfrm>
          <a:prstGeom prst="roundRect">
            <a:avLst>
              <a:gd name="adj" fmla="val 9412"/>
            </a:avLst>
          </a:prstGeom>
          <a:solidFill>
            <a:srgbClr val="FEF3C7"/>
          </a:solidFill>
          <a:ln w="19050">
            <a:solidFill>
              <a:srgbClr val="D97706"/>
            </a:solidFill>
            <a:prstDash val="solid"/>
          </a:ln>
        </p:spPr>
      </p:sp>
      <p:sp>
        <p:nvSpPr>
          <p:cNvPr id="46" name="Text 44"/>
          <p:cNvSpPr/>
          <p:nvPr/>
        </p:nvSpPr>
        <p:spPr>
          <a:xfrm>
            <a:off x="3611880" y="3108960"/>
            <a:ext cx="4754880" cy="777240"/>
          </a:xfrm>
          <a:prstGeom prst="rect">
            <a:avLst/>
          </a:prstGeom>
          <a:noFill/>
          <a:ln/>
        </p:spPr>
        <p:txBody>
          <a:bodyPr wrap="square" rtlCol="0" anchor="ctr"/>
          <a:lstStyle/>
          <a:p>
            <a:pPr algn="ctr" indent="0" marL="0">
              <a:buNone/>
            </a:pPr>
            <a:r>
              <a:rPr lang="en-US" sz="1000" dirty="0">
                <a:solidFill>
                  <a:srgbClr val="7C2D12"/>
                </a:solidFill>
                <a:latin typeface="Calibri" pitchFamily="34" charset="0"/>
                <a:ea typeface="Calibri" pitchFamily="34" charset="-122"/>
                <a:cs typeface="Calibri" pitchFamily="34" charset="-120"/>
              </a:rPr>
              <a:t>Cualificación</a:t>
            </a:r>
            <a:endParaRPr lang="en-US" sz="1000" dirty="0"/>
          </a:p>
          <a:p>
            <a:pPr algn="ctr" indent="0" marL="0">
              <a:buNone/>
            </a:pPr>
            <a:r>
              <a:rPr lang="en-US" sz="1000" dirty="0">
                <a:solidFill>
                  <a:srgbClr val="7C2D12"/>
                </a:solidFill>
                <a:latin typeface="Calibri" pitchFamily="34" charset="0"/>
                <a:ea typeface="Calibri" pitchFamily="34" charset="-122"/>
                <a:cs typeface="Calibri" pitchFamily="34" charset="-120"/>
              </a:rPr>
              <a:t>actividades · llamadas</a:t>
            </a:r>
            <a:endParaRPr lang="en-US" sz="1000" dirty="0"/>
          </a:p>
        </p:txBody>
      </p:sp>
      <p:sp>
        <p:nvSpPr>
          <p:cNvPr id="47" name="Shape 45"/>
          <p:cNvSpPr/>
          <p:nvPr/>
        </p:nvSpPr>
        <p:spPr>
          <a:xfrm>
            <a:off x="3520440" y="2999232"/>
            <a:ext cx="292608" cy="292608"/>
          </a:xfrm>
          <a:prstGeom prst="ellipse">
            <a:avLst/>
          </a:prstGeom>
          <a:solidFill>
            <a:srgbClr val="92400E"/>
          </a:solidFill>
          <a:ln w="19050">
            <a:solidFill>
              <a:srgbClr val="FFFFFF"/>
            </a:solidFill>
            <a:prstDash val="solid"/>
          </a:ln>
        </p:spPr>
      </p:sp>
      <p:sp>
        <p:nvSpPr>
          <p:cNvPr id="48" name="Text 46"/>
          <p:cNvSpPr/>
          <p:nvPr/>
        </p:nvSpPr>
        <p:spPr>
          <a:xfrm>
            <a:off x="3520440" y="299923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49" name="Shape 47"/>
          <p:cNvSpPr/>
          <p:nvPr/>
        </p:nvSpPr>
        <p:spPr>
          <a:xfrm>
            <a:off x="3611880" y="4023360"/>
            <a:ext cx="4754880" cy="777240"/>
          </a:xfrm>
          <a:prstGeom prst="roundRect">
            <a:avLst>
              <a:gd name="adj" fmla="val 9412"/>
            </a:avLst>
          </a:prstGeom>
          <a:solidFill>
            <a:srgbClr val="FEE2E2"/>
          </a:solidFill>
          <a:ln w="31750">
            <a:solidFill>
              <a:srgbClr val="DC2626"/>
            </a:solidFill>
            <a:prstDash val="solid"/>
          </a:ln>
        </p:spPr>
      </p:sp>
      <p:sp>
        <p:nvSpPr>
          <p:cNvPr id="50" name="Text 48"/>
          <p:cNvSpPr/>
          <p:nvPr/>
        </p:nvSpPr>
        <p:spPr>
          <a:xfrm>
            <a:off x="3611880" y="4023360"/>
            <a:ext cx="4754880" cy="777240"/>
          </a:xfrm>
          <a:prstGeom prst="rect">
            <a:avLst/>
          </a:prstGeom>
          <a:noFill/>
          <a:ln/>
        </p:spPr>
        <p:txBody>
          <a:bodyPr wrap="square" rtlCol="0" anchor="ctr"/>
          <a:lstStyle/>
          <a:p>
            <a:pPr algn="ctr" indent="0" marL="0">
              <a:buNone/>
            </a:pPr>
            <a:r>
              <a:rPr lang="en-US" sz="1000" b="1" dirty="0">
                <a:solidFill>
                  <a:srgbClr val="991B1B"/>
                </a:solidFill>
                <a:latin typeface="Calibri" pitchFamily="34" charset="0"/>
                <a:ea typeface="Calibri" pitchFamily="34" charset="-122"/>
                <a:cs typeface="Calibri" pitchFamily="34" charset="-120"/>
              </a:rPr>
              <a:t>Vinculación OBLIGATORIA</a:t>
            </a:r>
            <a:endParaRPr lang="en-US" sz="1000" dirty="0"/>
          </a:p>
          <a:p>
            <a:pPr algn="ctr" indent="0" marL="0">
              <a:buNone/>
            </a:pPr>
            <a:r>
              <a:rPr lang="en-US" sz="1000" b="1" dirty="0">
                <a:solidFill>
                  <a:srgbClr val="991B1B"/>
                </a:solidFill>
                <a:latin typeface="Calibri" pitchFamily="34" charset="0"/>
                <a:ea typeface="Calibri" pitchFamily="34" charset="-122"/>
                <a:cs typeface="Calibri" pitchFamily="34" charset="-120"/>
              </a:rPr>
              <a:t>Cuenta y/o Contacto</a:t>
            </a:r>
            <a:endParaRPr lang="en-US" sz="1000" dirty="0"/>
          </a:p>
        </p:txBody>
      </p:sp>
      <p:sp>
        <p:nvSpPr>
          <p:cNvPr id="51" name="Shape 49"/>
          <p:cNvSpPr/>
          <p:nvPr/>
        </p:nvSpPr>
        <p:spPr>
          <a:xfrm>
            <a:off x="3520440" y="3913632"/>
            <a:ext cx="292608" cy="292608"/>
          </a:xfrm>
          <a:prstGeom prst="ellipse">
            <a:avLst/>
          </a:prstGeom>
          <a:solidFill>
            <a:srgbClr val="92400E"/>
          </a:solidFill>
          <a:ln w="19050">
            <a:solidFill>
              <a:srgbClr val="FFFFFF"/>
            </a:solidFill>
            <a:prstDash val="solid"/>
          </a:ln>
        </p:spPr>
      </p:sp>
      <p:sp>
        <p:nvSpPr>
          <p:cNvPr id="52" name="Text 50"/>
          <p:cNvSpPr/>
          <p:nvPr/>
        </p:nvSpPr>
        <p:spPr>
          <a:xfrm>
            <a:off x="3520440" y="3913632"/>
            <a:ext cx="292608" cy="29260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53" name="Shape 51"/>
          <p:cNvSpPr/>
          <p:nvPr/>
        </p:nvSpPr>
        <p:spPr>
          <a:xfrm>
            <a:off x="5166360" y="4983480"/>
            <a:ext cx="1645920" cy="502920"/>
          </a:xfrm>
          <a:prstGeom prst="diamond">
            <a:avLst/>
          </a:prstGeom>
          <a:solidFill>
            <a:srgbClr val="FEF3C7"/>
          </a:solidFill>
          <a:ln w="25400">
            <a:solidFill>
              <a:srgbClr val="D97706"/>
            </a:solidFill>
            <a:prstDash val="solid"/>
          </a:ln>
        </p:spPr>
      </p:sp>
      <p:sp>
        <p:nvSpPr>
          <p:cNvPr id="54" name="Text 52"/>
          <p:cNvSpPr/>
          <p:nvPr/>
        </p:nvSpPr>
        <p:spPr>
          <a:xfrm>
            <a:off x="5166360" y="4983480"/>
            <a:ext cx="1645920" cy="502920"/>
          </a:xfrm>
          <a:prstGeom prst="rect">
            <a:avLst/>
          </a:prstGeom>
          <a:noFill/>
          <a:ln/>
        </p:spPr>
        <p:txBody>
          <a:bodyPr wrap="square" rtlCol="0" anchor="ctr"/>
          <a:lstStyle/>
          <a:p>
            <a:pPr algn="ctr" indent="0" marL="0">
              <a:buNone/>
            </a:pPr>
            <a:r>
              <a:rPr lang="en-US" sz="1000" b="1" dirty="0">
                <a:solidFill>
                  <a:srgbClr val="7C2D12"/>
                </a:solidFill>
                <a:latin typeface="Calibri" pitchFamily="34" charset="0"/>
                <a:ea typeface="Calibri" pitchFamily="34" charset="-122"/>
                <a:cs typeface="Calibri" pitchFamily="34" charset="-120"/>
              </a:rPr>
              <a:t>10 · Decisión</a:t>
            </a:r>
            <a:endParaRPr lang="en-US" sz="1000" dirty="0"/>
          </a:p>
        </p:txBody>
      </p:sp>
      <p:sp>
        <p:nvSpPr>
          <p:cNvPr id="55" name="Shape 53"/>
          <p:cNvSpPr/>
          <p:nvPr/>
        </p:nvSpPr>
        <p:spPr>
          <a:xfrm>
            <a:off x="8915400" y="1280160"/>
            <a:ext cx="2880360" cy="777240"/>
          </a:xfrm>
          <a:prstGeom prst="roundRect">
            <a:avLst>
              <a:gd name="adj" fmla="val 9412"/>
            </a:avLst>
          </a:prstGeom>
          <a:solidFill>
            <a:srgbClr val="DCFCE7"/>
          </a:solidFill>
          <a:ln w="19050">
            <a:solidFill>
              <a:srgbClr val="15803D"/>
            </a:solidFill>
            <a:prstDash val="solid"/>
          </a:ln>
        </p:spPr>
      </p:sp>
      <p:sp>
        <p:nvSpPr>
          <p:cNvPr id="56" name="Text 54"/>
          <p:cNvSpPr/>
          <p:nvPr/>
        </p:nvSpPr>
        <p:spPr>
          <a:xfrm>
            <a:off x="8915400" y="1280160"/>
            <a:ext cx="2880360" cy="777240"/>
          </a:xfrm>
          <a:prstGeom prst="rect">
            <a:avLst/>
          </a:prstGeom>
          <a:noFill/>
          <a:ln/>
        </p:spPr>
        <p:txBody>
          <a:bodyPr wrap="square"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Demanda + Oportunidad</a:t>
            </a:r>
            <a:endParaRPr lang="en-US" sz="1000" dirty="0"/>
          </a:p>
          <a:p>
            <a:pPr algn="ctr" indent="0" marL="0">
              <a:buNone/>
            </a:pPr>
            <a:r>
              <a:rPr lang="en-US" sz="1000" b="1" dirty="0">
                <a:solidFill>
                  <a:srgbClr val="15803D"/>
                </a:solidFill>
                <a:latin typeface="Calibri" pitchFamily="34" charset="0"/>
                <a:ea typeface="Calibri" pitchFamily="34" charset="-122"/>
                <a:cs typeface="Calibri" pitchFamily="34" charset="-120"/>
              </a:rPr>
              <a:t>tipo Demanda</a:t>
            </a:r>
            <a:endParaRPr lang="en-US" sz="1000" dirty="0"/>
          </a:p>
        </p:txBody>
      </p:sp>
      <p:sp>
        <p:nvSpPr>
          <p:cNvPr id="57" name="Shape 55"/>
          <p:cNvSpPr/>
          <p:nvPr/>
        </p:nvSpPr>
        <p:spPr>
          <a:xfrm>
            <a:off x="8823960" y="1170432"/>
            <a:ext cx="329184" cy="292608"/>
          </a:xfrm>
          <a:prstGeom prst="ellipse">
            <a:avLst/>
          </a:prstGeom>
          <a:solidFill>
            <a:srgbClr val="15803D"/>
          </a:solidFill>
          <a:ln w="19050">
            <a:solidFill>
              <a:srgbClr val="FFFFFF"/>
            </a:solidFill>
            <a:prstDash val="solid"/>
          </a:ln>
        </p:spPr>
      </p:sp>
      <p:sp>
        <p:nvSpPr>
          <p:cNvPr id="58" name="Text 56"/>
          <p:cNvSpPr/>
          <p:nvPr/>
        </p:nvSpPr>
        <p:spPr>
          <a:xfrm>
            <a:off x="8823960" y="1170432"/>
            <a:ext cx="329184" cy="29260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11a</a:t>
            </a:r>
            <a:endParaRPr lang="en-US" sz="800" dirty="0"/>
          </a:p>
        </p:txBody>
      </p:sp>
      <p:sp>
        <p:nvSpPr>
          <p:cNvPr id="59" name="Shape 57"/>
          <p:cNvSpPr/>
          <p:nvPr/>
        </p:nvSpPr>
        <p:spPr>
          <a:xfrm>
            <a:off x="8915400" y="2194560"/>
            <a:ext cx="2880360" cy="777240"/>
          </a:xfrm>
          <a:prstGeom prst="roundRect">
            <a:avLst>
              <a:gd name="adj" fmla="val 9412"/>
            </a:avLst>
          </a:prstGeom>
          <a:solidFill>
            <a:srgbClr val="DCFCE7"/>
          </a:solidFill>
          <a:ln w="19050">
            <a:solidFill>
              <a:srgbClr val="15803D"/>
            </a:solidFill>
            <a:prstDash val="solid"/>
          </a:ln>
        </p:spPr>
      </p:sp>
      <p:sp>
        <p:nvSpPr>
          <p:cNvPr id="60" name="Text 58"/>
          <p:cNvSpPr/>
          <p:nvPr/>
        </p:nvSpPr>
        <p:spPr>
          <a:xfrm>
            <a:off x="8915400" y="2194560"/>
            <a:ext cx="2880360" cy="777240"/>
          </a:xfrm>
          <a:prstGeom prst="rect">
            <a:avLst/>
          </a:prstGeom>
          <a:noFill/>
          <a:ln/>
        </p:spPr>
        <p:txBody>
          <a:bodyPr wrap="square"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Oferta + Oportunidad</a:t>
            </a:r>
            <a:endParaRPr lang="en-US" sz="1000" dirty="0"/>
          </a:p>
          <a:p>
            <a:pPr algn="ctr" indent="0" marL="0">
              <a:buNone/>
            </a:pPr>
            <a:r>
              <a:rPr lang="en-US" sz="1000" b="1" dirty="0">
                <a:solidFill>
                  <a:srgbClr val="15803D"/>
                </a:solidFill>
                <a:latin typeface="Calibri" pitchFamily="34" charset="0"/>
                <a:ea typeface="Calibri" pitchFamily="34" charset="-122"/>
                <a:cs typeface="Calibri" pitchFamily="34" charset="-120"/>
              </a:rPr>
              <a:t>tipo Oferta</a:t>
            </a:r>
            <a:endParaRPr lang="en-US" sz="1000" dirty="0"/>
          </a:p>
        </p:txBody>
      </p:sp>
      <p:sp>
        <p:nvSpPr>
          <p:cNvPr id="61" name="Shape 59"/>
          <p:cNvSpPr/>
          <p:nvPr/>
        </p:nvSpPr>
        <p:spPr>
          <a:xfrm>
            <a:off x="8823960" y="2084832"/>
            <a:ext cx="329184" cy="292608"/>
          </a:xfrm>
          <a:prstGeom prst="ellipse">
            <a:avLst/>
          </a:prstGeom>
          <a:solidFill>
            <a:srgbClr val="15803D"/>
          </a:solidFill>
          <a:ln w="19050">
            <a:solidFill>
              <a:srgbClr val="FFFFFF"/>
            </a:solidFill>
            <a:prstDash val="solid"/>
          </a:ln>
        </p:spPr>
      </p:sp>
      <p:sp>
        <p:nvSpPr>
          <p:cNvPr id="62" name="Text 60"/>
          <p:cNvSpPr/>
          <p:nvPr/>
        </p:nvSpPr>
        <p:spPr>
          <a:xfrm>
            <a:off x="8823960" y="2084832"/>
            <a:ext cx="329184" cy="29260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11b</a:t>
            </a:r>
            <a:endParaRPr lang="en-US" sz="800" dirty="0"/>
          </a:p>
        </p:txBody>
      </p:sp>
      <p:sp>
        <p:nvSpPr>
          <p:cNvPr id="63" name="Shape 61"/>
          <p:cNvSpPr/>
          <p:nvPr/>
        </p:nvSpPr>
        <p:spPr>
          <a:xfrm>
            <a:off x="8915400" y="3108960"/>
            <a:ext cx="2880360" cy="777240"/>
          </a:xfrm>
          <a:prstGeom prst="roundRect">
            <a:avLst>
              <a:gd name="adj" fmla="val 9412"/>
            </a:avLst>
          </a:prstGeom>
          <a:solidFill>
            <a:srgbClr val="DBEAFE"/>
          </a:solidFill>
          <a:ln w="19050">
            <a:solidFill>
              <a:srgbClr val="1E40AF"/>
            </a:solidFill>
            <a:prstDash val="solid"/>
          </a:ln>
        </p:spPr>
      </p:sp>
      <p:sp>
        <p:nvSpPr>
          <p:cNvPr id="64" name="Text 62"/>
          <p:cNvSpPr/>
          <p:nvPr/>
        </p:nvSpPr>
        <p:spPr>
          <a:xfrm>
            <a:off x="8915400" y="3108960"/>
            <a:ext cx="2880360" cy="777240"/>
          </a:xfrm>
          <a:prstGeom prst="rect">
            <a:avLst/>
          </a:prstGeom>
          <a:noFill/>
          <a:ln/>
        </p:spPr>
        <p:txBody>
          <a:bodyPr wrap="square" rtlCol="0" anchor="ctr"/>
          <a:lstStyle/>
          <a:p>
            <a:pPr algn="ctr" indent="0" marL="0">
              <a:buNone/>
            </a:pPr>
            <a:r>
              <a:rPr lang="en-US" sz="1000" b="1" dirty="0">
                <a:solidFill>
                  <a:srgbClr val="1E40AF"/>
                </a:solidFill>
                <a:latin typeface="Calibri" pitchFamily="34" charset="0"/>
                <a:ea typeface="Calibri" pitchFamily="34" charset="-122"/>
                <a:cs typeface="Calibri" pitchFamily="34" charset="-120"/>
              </a:rPr>
              <a:t>Solo Oportunidad</a:t>
            </a:r>
            <a:endParaRPr lang="en-US" sz="1000" dirty="0"/>
          </a:p>
          <a:p>
            <a:pPr algn="ctr" indent="0" marL="0">
              <a:buNone/>
            </a:pPr>
            <a:r>
              <a:rPr lang="en-US" sz="1000" b="1" dirty="0">
                <a:solidFill>
                  <a:srgbClr val="1E40AF"/>
                </a:solidFill>
                <a:latin typeface="Calibri" pitchFamily="34" charset="0"/>
                <a:ea typeface="Calibri" pitchFamily="34" charset="-122"/>
                <a:cs typeface="Calibri" pitchFamily="34" charset="-120"/>
              </a:rPr>
              <a:t>tipo Servicio · sin</a:t>
            </a:r>
            <a:endParaRPr lang="en-US" sz="1000" dirty="0"/>
          </a:p>
          <a:p>
            <a:pPr algn="ctr" indent="0" marL="0">
              <a:buNone/>
            </a:pPr>
            <a:r>
              <a:rPr lang="en-US" sz="1000" b="1" dirty="0">
                <a:solidFill>
                  <a:srgbClr val="1E40AF"/>
                </a:solidFill>
                <a:latin typeface="Calibri" pitchFamily="34" charset="0"/>
                <a:ea typeface="Calibri" pitchFamily="34" charset="-122"/>
                <a:cs typeface="Calibri" pitchFamily="34" charset="-120"/>
              </a:rPr>
              <a:t>activo/oferta/demanda</a:t>
            </a:r>
            <a:endParaRPr lang="en-US" sz="1000" dirty="0"/>
          </a:p>
        </p:txBody>
      </p:sp>
      <p:sp>
        <p:nvSpPr>
          <p:cNvPr id="65" name="Shape 63"/>
          <p:cNvSpPr/>
          <p:nvPr/>
        </p:nvSpPr>
        <p:spPr>
          <a:xfrm>
            <a:off x="8823960" y="2999232"/>
            <a:ext cx="329184" cy="292608"/>
          </a:xfrm>
          <a:prstGeom prst="ellipse">
            <a:avLst/>
          </a:prstGeom>
          <a:solidFill>
            <a:srgbClr val="1E40AF"/>
          </a:solidFill>
          <a:ln w="19050">
            <a:solidFill>
              <a:srgbClr val="FFFFFF"/>
            </a:solidFill>
            <a:prstDash val="solid"/>
          </a:ln>
        </p:spPr>
      </p:sp>
      <p:sp>
        <p:nvSpPr>
          <p:cNvPr id="66" name="Text 64"/>
          <p:cNvSpPr/>
          <p:nvPr/>
        </p:nvSpPr>
        <p:spPr>
          <a:xfrm>
            <a:off x="8823960" y="2999232"/>
            <a:ext cx="329184" cy="29260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11c</a:t>
            </a:r>
            <a:endParaRPr lang="en-US" sz="800" dirty="0"/>
          </a:p>
        </p:txBody>
      </p:sp>
      <p:sp>
        <p:nvSpPr>
          <p:cNvPr id="67" name="Shape 65"/>
          <p:cNvSpPr/>
          <p:nvPr/>
        </p:nvSpPr>
        <p:spPr>
          <a:xfrm>
            <a:off x="8915400" y="4297680"/>
            <a:ext cx="2880360" cy="777240"/>
          </a:xfrm>
          <a:prstGeom prst="roundRect">
            <a:avLst>
              <a:gd name="adj" fmla="val 9412"/>
            </a:avLst>
          </a:prstGeom>
          <a:solidFill>
            <a:srgbClr val="FEE2E2"/>
          </a:solidFill>
          <a:ln w="19050">
            <a:solidFill>
              <a:srgbClr val="991B1B"/>
            </a:solidFill>
            <a:prstDash val="solid"/>
          </a:ln>
        </p:spPr>
      </p:sp>
      <p:sp>
        <p:nvSpPr>
          <p:cNvPr id="68" name="Text 66"/>
          <p:cNvSpPr/>
          <p:nvPr/>
        </p:nvSpPr>
        <p:spPr>
          <a:xfrm>
            <a:off x="8915400" y="4297680"/>
            <a:ext cx="2880360" cy="777240"/>
          </a:xfrm>
          <a:prstGeom prst="rect">
            <a:avLst/>
          </a:prstGeom>
          <a:noFill/>
          <a:ln/>
        </p:spPr>
        <p:txBody>
          <a:bodyPr wrap="square" rtlCol="0" anchor="ctr"/>
          <a:lstStyle/>
          <a:p>
            <a:pPr algn="ctr" indent="0" marL="0">
              <a:buNone/>
            </a:pPr>
            <a:r>
              <a:rPr lang="en-US" sz="1000" b="1" dirty="0">
                <a:solidFill>
                  <a:srgbClr val="991B1B"/>
                </a:solidFill>
                <a:latin typeface="Calibri" pitchFamily="34" charset="0"/>
                <a:ea typeface="Calibri" pitchFamily="34" charset="-122"/>
                <a:cs typeface="Calibri" pitchFamily="34" charset="-120"/>
              </a:rPr>
              <a:t>Lead Nulo</a:t>
            </a:r>
            <a:endParaRPr lang="en-US" sz="1000" dirty="0"/>
          </a:p>
          <a:p>
            <a:pPr algn="ctr" indent="0" marL="0">
              <a:buNone/>
            </a:pPr>
            <a:r>
              <a:rPr lang="en-US" sz="1000" b="1" dirty="0">
                <a:solidFill>
                  <a:srgbClr val="991B1B"/>
                </a:solidFill>
                <a:latin typeface="Calibri" pitchFamily="34" charset="0"/>
                <a:ea typeface="Calibri" pitchFamily="34" charset="-122"/>
                <a:cs typeface="Calibri" pitchFamily="34" charset="-120"/>
              </a:rPr>
              <a:t>15 motivos</a:t>
            </a:r>
            <a:endParaRPr lang="en-US" sz="1000" dirty="0"/>
          </a:p>
          <a:p>
            <a:pPr algn="ctr" indent="0" marL="0">
              <a:buNone/>
            </a:pPr>
            <a:r>
              <a:rPr lang="en-US" sz="1000" b="1" dirty="0">
                <a:solidFill>
                  <a:srgbClr val="991B1B"/>
                </a:solidFill>
                <a:latin typeface="Calibri" pitchFamily="34" charset="0"/>
                <a:ea typeface="Calibri" pitchFamily="34" charset="-122"/>
                <a:cs typeface="Calibri" pitchFamily="34" charset="-120"/>
              </a:rPr>
              <a:t>trazabilidad</a:t>
            </a:r>
            <a:endParaRPr lang="en-US" sz="1000" dirty="0"/>
          </a:p>
        </p:txBody>
      </p:sp>
      <p:sp>
        <p:nvSpPr>
          <p:cNvPr id="69" name="Shape 67"/>
          <p:cNvSpPr/>
          <p:nvPr/>
        </p:nvSpPr>
        <p:spPr>
          <a:xfrm>
            <a:off x="8823960" y="4187952"/>
            <a:ext cx="329184" cy="292608"/>
          </a:xfrm>
          <a:prstGeom prst="ellipse">
            <a:avLst/>
          </a:prstGeom>
          <a:solidFill>
            <a:srgbClr val="991B1B"/>
          </a:solidFill>
          <a:ln w="19050">
            <a:solidFill>
              <a:srgbClr val="FFFFFF"/>
            </a:solidFill>
            <a:prstDash val="solid"/>
          </a:ln>
        </p:spPr>
      </p:sp>
      <p:sp>
        <p:nvSpPr>
          <p:cNvPr id="70" name="Text 68"/>
          <p:cNvSpPr/>
          <p:nvPr/>
        </p:nvSpPr>
        <p:spPr>
          <a:xfrm>
            <a:off x="8823960" y="4187952"/>
            <a:ext cx="329184" cy="29260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11d</a:t>
            </a:r>
            <a:endParaRPr lang="en-US" sz="800" dirty="0"/>
          </a:p>
        </p:txBody>
      </p:sp>
      <p:sp>
        <p:nvSpPr>
          <p:cNvPr id="71" name="Shape 69"/>
          <p:cNvSpPr/>
          <p:nvPr/>
        </p:nvSpPr>
        <p:spPr>
          <a:xfrm>
            <a:off x="3063240" y="1600200"/>
            <a:ext cx="548640" cy="45720"/>
          </a:xfrm>
          <a:prstGeom prst="line">
            <a:avLst/>
          </a:prstGeom>
          <a:noFill/>
          <a:ln w="22860">
            <a:solidFill>
              <a:srgbClr val="BDBDBD"/>
            </a:solidFill>
            <a:prstDash val="solid"/>
            <a:tailEnd type="arrow"/>
          </a:ln>
        </p:spPr>
      </p:sp>
      <p:sp>
        <p:nvSpPr>
          <p:cNvPr id="72" name="Shape 70"/>
          <p:cNvSpPr/>
          <p:nvPr/>
        </p:nvSpPr>
        <p:spPr>
          <a:xfrm>
            <a:off x="3063240" y="2423160"/>
            <a:ext cx="548640" cy="-777240"/>
          </a:xfrm>
          <a:prstGeom prst="line">
            <a:avLst/>
          </a:prstGeom>
          <a:noFill/>
          <a:ln w="22860">
            <a:solidFill>
              <a:srgbClr val="BDBDBD"/>
            </a:solidFill>
            <a:prstDash val="solid"/>
            <a:tailEnd type="arrow"/>
          </a:ln>
        </p:spPr>
      </p:sp>
      <p:sp>
        <p:nvSpPr>
          <p:cNvPr id="73" name="Shape 71"/>
          <p:cNvSpPr/>
          <p:nvPr/>
        </p:nvSpPr>
        <p:spPr>
          <a:xfrm>
            <a:off x="3063240" y="3337560"/>
            <a:ext cx="548640" cy="-1691640"/>
          </a:xfrm>
          <a:prstGeom prst="line">
            <a:avLst/>
          </a:prstGeom>
          <a:noFill/>
          <a:ln w="22860">
            <a:solidFill>
              <a:srgbClr val="BDBDBD"/>
            </a:solidFill>
            <a:prstDash val="solid"/>
            <a:tailEnd type="arrow"/>
          </a:ln>
        </p:spPr>
      </p:sp>
      <p:sp>
        <p:nvSpPr>
          <p:cNvPr id="74" name="Shape 72"/>
          <p:cNvSpPr/>
          <p:nvPr/>
        </p:nvSpPr>
        <p:spPr>
          <a:xfrm>
            <a:off x="3063240" y="4160520"/>
            <a:ext cx="548640" cy="-2514600"/>
          </a:xfrm>
          <a:prstGeom prst="line">
            <a:avLst/>
          </a:prstGeom>
          <a:noFill/>
          <a:ln w="22860">
            <a:solidFill>
              <a:srgbClr val="BDBDBD"/>
            </a:solidFill>
            <a:prstDash val="solid"/>
            <a:tailEnd type="arrow"/>
          </a:ln>
        </p:spPr>
      </p:sp>
      <p:sp>
        <p:nvSpPr>
          <p:cNvPr id="75" name="Shape 73"/>
          <p:cNvSpPr/>
          <p:nvPr/>
        </p:nvSpPr>
        <p:spPr>
          <a:xfrm>
            <a:off x="3063240" y="4983480"/>
            <a:ext cx="548640" cy="-3337560"/>
          </a:xfrm>
          <a:prstGeom prst="line">
            <a:avLst/>
          </a:prstGeom>
          <a:noFill/>
          <a:ln w="22860">
            <a:solidFill>
              <a:srgbClr val="BDBDBD"/>
            </a:solidFill>
            <a:prstDash val="solid"/>
            <a:tailEnd type="arrow"/>
          </a:ln>
        </p:spPr>
      </p:sp>
      <p:sp>
        <p:nvSpPr>
          <p:cNvPr id="76" name="Shape 74"/>
          <p:cNvSpPr/>
          <p:nvPr/>
        </p:nvSpPr>
        <p:spPr>
          <a:xfrm>
            <a:off x="5989320" y="2057400"/>
            <a:ext cx="0" cy="137160"/>
          </a:xfrm>
          <a:prstGeom prst="line">
            <a:avLst/>
          </a:prstGeom>
          <a:noFill/>
          <a:ln w="22860">
            <a:solidFill>
              <a:srgbClr val="BDBDBD"/>
            </a:solidFill>
            <a:prstDash val="solid"/>
            <a:tailEnd type="arrow"/>
          </a:ln>
        </p:spPr>
      </p:sp>
      <p:sp>
        <p:nvSpPr>
          <p:cNvPr id="77" name="Shape 75"/>
          <p:cNvSpPr/>
          <p:nvPr/>
        </p:nvSpPr>
        <p:spPr>
          <a:xfrm>
            <a:off x="5989320" y="2971800"/>
            <a:ext cx="0" cy="137160"/>
          </a:xfrm>
          <a:prstGeom prst="line">
            <a:avLst/>
          </a:prstGeom>
          <a:noFill/>
          <a:ln w="22860">
            <a:solidFill>
              <a:srgbClr val="BDBDBD"/>
            </a:solidFill>
            <a:prstDash val="solid"/>
            <a:tailEnd type="arrow"/>
          </a:ln>
        </p:spPr>
      </p:sp>
      <p:sp>
        <p:nvSpPr>
          <p:cNvPr id="78" name="Shape 76"/>
          <p:cNvSpPr/>
          <p:nvPr/>
        </p:nvSpPr>
        <p:spPr>
          <a:xfrm>
            <a:off x="5989320" y="3886200"/>
            <a:ext cx="0" cy="137160"/>
          </a:xfrm>
          <a:prstGeom prst="line">
            <a:avLst/>
          </a:prstGeom>
          <a:noFill/>
          <a:ln w="22860">
            <a:solidFill>
              <a:srgbClr val="BDBDBD"/>
            </a:solidFill>
            <a:prstDash val="solid"/>
            <a:tailEnd type="arrow"/>
          </a:ln>
        </p:spPr>
      </p:sp>
      <p:sp>
        <p:nvSpPr>
          <p:cNvPr id="79" name="Shape 77"/>
          <p:cNvSpPr/>
          <p:nvPr/>
        </p:nvSpPr>
        <p:spPr>
          <a:xfrm>
            <a:off x="5989320" y="4800600"/>
            <a:ext cx="0" cy="182880"/>
          </a:xfrm>
          <a:prstGeom prst="line">
            <a:avLst/>
          </a:prstGeom>
          <a:noFill/>
          <a:ln w="22860">
            <a:solidFill>
              <a:srgbClr val="BDBDBD"/>
            </a:solidFill>
            <a:prstDash val="solid"/>
            <a:tailEnd type="arrow"/>
          </a:ln>
        </p:spPr>
      </p:sp>
      <p:sp>
        <p:nvSpPr>
          <p:cNvPr id="80" name="Shape 78"/>
          <p:cNvSpPr/>
          <p:nvPr/>
        </p:nvSpPr>
        <p:spPr>
          <a:xfrm>
            <a:off x="6812280" y="5120640"/>
            <a:ext cx="2103120" cy="-3474720"/>
          </a:xfrm>
          <a:prstGeom prst="line">
            <a:avLst/>
          </a:prstGeom>
          <a:noFill/>
          <a:ln w="22860">
            <a:solidFill>
              <a:srgbClr val="15803D"/>
            </a:solidFill>
            <a:prstDash val="solid"/>
            <a:tailEnd type="arrow"/>
          </a:ln>
        </p:spPr>
      </p:sp>
      <p:sp>
        <p:nvSpPr>
          <p:cNvPr id="81" name="Text 79"/>
          <p:cNvSpPr/>
          <p:nvPr/>
        </p:nvSpPr>
        <p:spPr>
          <a:xfrm>
            <a:off x="7269480" y="32644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Demanda</a:t>
            </a:r>
            <a:endParaRPr lang="en-US" sz="800" dirty="0"/>
          </a:p>
        </p:txBody>
      </p:sp>
      <p:sp>
        <p:nvSpPr>
          <p:cNvPr id="82" name="Shape 80"/>
          <p:cNvSpPr/>
          <p:nvPr/>
        </p:nvSpPr>
        <p:spPr>
          <a:xfrm>
            <a:off x="6812280" y="5212080"/>
            <a:ext cx="2103120" cy="-2651760"/>
          </a:xfrm>
          <a:prstGeom prst="line">
            <a:avLst/>
          </a:prstGeom>
          <a:noFill/>
          <a:ln w="22860">
            <a:solidFill>
              <a:srgbClr val="15803D"/>
            </a:solidFill>
            <a:prstDash val="solid"/>
            <a:tailEnd type="arrow"/>
          </a:ln>
        </p:spPr>
      </p:sp>
      <p:sp>
        <p:nvSpPr>
          <p:cNvPr id="83" name="Text 81"/>
          <p:cNvSpPr/>
          <p:nvPr/>
        </p:nvSpPr>
        <p:spPr>
          <a:xfrm>
            <a:off x="7269480" y="37673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Oferta</a:t>
            </a:r>
            <a:endParaRPr lang="en-US" sz="800" dirty="0"/>
          </a:p>
        </p:txBody>
      </p:sp>
      <p:sp>
        <p:nvSpPr>
          <p:cNvPr id="84" name="Shape 82"/>
          <p:cNvSpPr/>
          <p:nvPr/>
        </p:nvSpPr>
        <p:spPr>
          <a:xfrm>
            <a:off x="6812280" y="5257800"/>
            <a:ext cx="2103120" cy="-1783080"/>
          </a:xfrm>
          <a:prstGeom prst="line">
            <a:avLst/>
          </a:prstGeom>
          <a:noFill/>
          <a:ln w="22860">
            <a:solidFill>
              <a:srgbClr val="1E40AF"/>
            </a:solidFill>
            <a:prstDash val="solid"/>
            <a:tailEnd type="arrow"/>
          </a:ln>
        </p:spPr>
      </p:sp>
      <p:sp>
        <p:nvSpPr>
          <p:cNvPr id="85" name="Text 83"/>
          <p:cNvSpPr/>
          <p:nvPr/>
        </p:nvSpPr>
        <p:spPr>
          <a:xfrm>
            <a:off x="7269480" y="424738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Servicio</a:t>
            </a:r>
            <a:endParaRPr lang="en-US" sz="800" dirty="0"/>
          </a:p>
        </p:txBody>
      </p:sp>
      <p:sp>
        <p:nvSpPr>
          <p:cNvPr id="86" name="Shape 84"/>
          <p:cNvSpPr/>
          <p:nvPr/>
        </p:nvSpPr>
        <p:spPr>
          <a:xfrm>
            <a:off x="6812280" y="5303520"/>
            <a:ext cx="2103120" cy="-640080"/>
          </a:xfrm>
          <a:prstGeom prst="line">
            <a:avLst/>
          </a:prstGeom>
          <a:noFill/>
          <a:ln w="22860">
            <a:solidFill>
              <a:srgbClr val="DC2626"/>
            </a:solidFill>
            <a:prstDash val="dash"/>
            <a:tailEnd type="arrow"/>
          </a:ln>
        </p:spPr>
      </p:sp>
      <p:sp>
        <p:nvSpPr>
          <p:cNvPr id="87" name="Text 85"/>
          <p:cNvSpPr/>
          <p:nvPr/>
        </p:nvSpPr>
        <p:spPr>
          <a:xfrm>
            <a:off x="7269480" y="48646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no válido</a:t>
            </a:r>
            <a:endParaRPr lang="en-US" sz="800" dirty="0"/>
          </a:p>
        </p:txBody>
      </p:sp>
      <p:sp>
        <p:nvSpPr>
          <p:cNvPr id="88" name="Shape 86"/>
          <p:cNvSpPr/>
          <p:nvPr/>
        </p:nvSpPr>
        <p:spPr>
          <a:xfrm>
            <a:off x="274320" y="5760720"/>
            <a:ext cx="11640312" cy="868680"/>
          </a:xfrm>
          <a:prstGeom prst="rect">
            <a:avLst/>
          </a:prstGeom>
          <a:solidFill>
            <a:srgbClr val="FFFFFF"/>
          </a:solidFill>
          <a:ln w="12700">
            <a:solidFill>
              <a:srgbClr val="E0E0E0"/>
            </a:solidFill>
            <a:prstDash val="solid"/>
          </a:ln>
        </p:spPr>
      </p:sp>
      <p:sp>
        <p:nvSpPr>
          <p:cNvPr id="89" name="Text 87"/>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módulo LEADS es el verdadero origen del funnel comercial. La captura es automática desde 5 grupos de canales (web, portales, LinkedIn, formularios, recomendaciones) registrando anuncio, campaña, URL y canal de origen (6). Se clasifica por tipo (7), se cualifica con actividades (8) y se vincula obligatoriamente a Cuenta o Contacto (9) — sin esta vinculación NO se puede transformar. Tras la decisión (10), el destino depende del tipo: Demanda/Oferta crean su entidad + Oportunidad Dynamics (11a/b), Servicio va directo a Oportunidad sin activo/oferta/demanda (11c), o se cierra como Lead Nulo con uno de 15 motivos predefinidos (11d).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Ciclo comercial completo (end-to-end)</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LEAD → Cuenta → Activo + Oferta + Demanda → Match → Oportunidad WIP → Negociación → Instrucción → Transacción</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691640" cy="4572000"/>
          </a:xfrm>
          <a:prstGeom prst="rect">
            <a:avLst/>
          </a:prstGeom>
          <a:solidFill>
            <a:srgbClr val="92400E">
              <a:alpha val="12000"/>
            </a:srgbClr>
          </a:solidFill>
          <a:ln w="12700">
            <a:solidFill>
              <a:srgbClr val="92400E"/>
            </a:solidFill>
            <a:prstDash val="dash"/>
          </a:ln>
        </p:spPr>
      </p:sp>
      <p:sp>
        <p:nvSpPr>
          <p:cNvPr id="12" name="Text 10"/>
          <p:cNvSpPr/>
          <p:nvPr/>
        </p:nvSpPr>
        <p:spPr>
          <a:xfrm>
            <a:off x="347472" y="950976"/>
            <a:ext cx="1545336" cy="219456"/>
          </a:xfrm>
          <a:prstGeom prst="rect">
            <a:avLst/>
          </a:prstGeom>
          <a:noFill/>
          <a:ln/>
        </p:spPr>
        <p:txBody>
          <a:bodyPr wrap="square" rtlCol="0" anchor="t"/>
          <a:lstStyle/>
          <a:p>
            <a:pPr indent="0" marL="0">
              <a:buNone/>
            </a:pPr>
            <a:r>
              <a:rPr lang="en-US" sz="900" b="1" dirty="0">
                <a:solidFill>
                  <a:srgbClr val="92400E"/>
                </a:solidFill>
                <a:latin typeface="Calibri" pitchFamily="34" charset="0"/>
                <a:ea typeface="Calibri" pitchFamily="34" charset="-122"/>
                <a:cs typeface="Calibri" pitchFamily="34" charset="-120"/>
              </a:rPr>
              <a:t>🟡  LEAD</a:t>
            </a:r>
            <a:endParaRPr lang="en-US" sz="900" dirty="0"/>
          </a:p>
        </p:txBody>
      </p:sp>
      <p:sp>
        <p:nvSpPr>
          <p:cNvPr id="13" name="Shape 11"/>
          <p:cNvSpPr/>
          <p:nvPr/>
        </p:nvSpPr>
        <p:spPr>
          <a:xfrm>
            <a:off x="2194560" y="914400"/>
            <a:ext cx="9720072" cy="1691640"/>
          </a:xfrm>
          <a:prstGeom prst="rect">
            <a:avLst/>
          </a:prstGeom>
          <a:solidFill>
            <a:srgbClr val="0078D4">
              <a:alpha val="12000"/>
            </a:srgbClr>
          </a:solidFill>
          <a:ln w="12700">
            <a:solidFill>
              <a:srgbClr val="0078D4"/>
            </a:solidFill>
            <a:prstDash val="dash"/>
          </a:ln>
        </p:spPr>
      </p:sp>
      <p:sp>
        <p:nvSpPr>
          <p:cNvPr id="14" name="Text 12"/>
          <p:cNvSpPr/>
          <p:nvPr/>
        </p:nvSpPr>
        <p:spPr>
          <a:xfrm>
            <a:off x="2267712" y="950976"/>
            <a:ext cx="957376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 · Sistema maestro</a:t>
            </a:r>
            <a:endParaRPr lang="en-US" sz="900" dirty="0"/>
          </a:p>
        </p:txBody>
      </p:sp>
      <p:sp>
        <p:nvSpPr>
          <p:cNvPr id="15" name="Shape 13"/>
          <p:cNvSpPr/>
          <p:nvPr/>
        </p:nvSpPr>
        <p:spPr>
          <a:xfrm>
            <a:off x="2194560" y="3154680"/>
            <a:ext cx="9720072" cy="2331720"/>
          </a:xfrm>
          <a:prstGeom prst="rect">
            <a:avLst/>
          </a:prstGeom>
          <a:solidFill>
            <a:srgbClr val="2E7D32">
              <a:alpha val="12000"/>
            </a:srgbClr>
          </a:solidFill>
          <a:ln w="12700">
            <a:solidFill>
              <a:srgbClr val="2E7D32"/>
            </a:solidFill>
            <a:prstDash val="dash"/>
          </a:ln>
        </p:spPr>
      </p:sp>
      <p:sp>
        <p:nvSpPr>
          <p:cNvPr id="16" name="Text 14"/>
          <p:cNvSpPr/>
          <p:nvPr/>
        </p:nvSpPr>
        <p:spPr>
          <a:xfrm>
            <a:off x="2267712" y="3191256"/>
            <a:ext cx="957376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Sistema operativo</a:t>
            </a:r>
            <a:endParaRPr lang="en-US" sz="900" dirty="0"/>
          </a:p>
        </p:txBody>
      </p:sp>
      <p:sp>
        <p:nvSpPr>
          <p:cNvPr id="17" name="Shape 15"/>
          <p:cNvSpPr/>
          <p:nvPr/>
        </p:nvSpPr>
        <p:spPr>
          <a:xfrm>
            <a:off x="411480" y="2468880"/>
            <a:ext cx="1417320" cy="1463040"/>
          </a:xfrm>
          <a:prstGeom prst="roundRect">
            <a:avLst>
              <a:gd name="adj" fmla="val 6452"/>
            </a:avLst>
          </a:prstGeom>
          <a:solidFill>
            <a:srgbClr val="FEF3C7"/>
          </a:solidFill>
          <a:ln w="25400">
            <a:solidFill>
              <a:srgbClr val="D97706"/>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411480" y="2606040"/>
            <a:ext cx="1417320" cy="365760"/>
          </a:xfrm>
          <a:prstGeom prst="rect">
            <a:avLst/>
          </a:prstGeom>
          <a:noFill/>
          <a:ln/>
        </p:spPr>
        <p:txBody>
          <a:bodyPr wrap="square" rtlCol="0" anchor="ctr"/>
          <a:lstStyle/>
          <a:p>
            <a:pPr algn="ctr" indent="0" marL="0">
              <a:buNone/>
            </a:pPr>
            <a:r>
              <a:rPr lang="en-US" sz="1400" b="1" dirty="0">
                <a:solidFill>
                  <a:srgbClr val="7C2D12"/>
                </a:solidFill>
                <a:latin typeface="Calibri" pitchFamily="34" charset="0"/>
                <a:ea typeface="Calibri" pitchFamily="34" charset="-122"/>
                <a:cs typeface="Calibri" pitchFamily="34" charset="-120"/>
              </a:rPr>
              <a:t>LEAD</a:t>
            </a:r>
            <a:endParaRPr lang="en-US" sz="1400" dirty="0"/>
          </a:p>
        </p:txBody>
      </p:sp>
      <p:sp>
        <p:nvSpPr>
          <p:cNvPr id="19" name="Text 17"/>
          <p:cNvSpPr/>
          <p:nvPr/>
        </p:nvSpPr>
        <p:spPr>
          <a:xfrm>
            <a:off x="411480" y="2971800"/>
            <a:ext cx="1417320" cy="914400"/>
          </a:xfrm>
          <a:prstGeom prst="rect">
            <a:avLst/>
          </a:prstGeom>
          <a:noFill/>
          <a:ln/>
        </p:spPr>
        <p:txBody>
          <a:bodyPr wrap="square" rtlCol="0" anchor="t"/>
          <a:lstStyle/>
          <a:p>
            <a:pPr algn="ctr" indent="0" marL="0">
              <a:buNone/>
            </a:pPr>
            <a:r>
              <a:rPr lang="en-US" sz="900" dirty="0">
                <a:solidFill>
                  <a:srgbClr val="7C2D12"/>
                </a:solidFill>
                <a:latin typeface="Calibri" pitchFamily="34" charset="0"/>
                <a:ea typeface="Calibri" pitchFamily="34" charset="-122"/>
                <a:cs typeface="Calibri" pitchFamily="34" charset="-120"/>
              </a:rPr>
              <a:t>captura</a:t>
            </a:r>
            <a:endParaRPr lang="en-US" sz="900" dirty="0"/>
          </a:p>
          <a:p>
            <a:pPr algn="ctr" indent="0" marL="0">
              <a:buNone/>
            </a:pPr>
            <a:r>
              <a:rPr lang="en-US" sz="900" dirty="0">
                <a:solidFill>
                  <a:srgbClr val="7C2D12"/>
                </a:solidFill>
                <a:latin typeface="Calibri" pitchFamily="34" charset="0"/>
                <a:ea typeface="Calibri" pitchFamily="34" charset="-122"/>
                <a:cs typeface="Calibri" pitchFamily="34" charset="-120"/>
              </a:rPr>
              <a:t>automática</a:t>
            </a:r>
            <a:endParaRPr lang="en-US" sz="900" dirty="0"/>
          </a:p>
          <a:p>
            <a:pPr algn="ctr" indent="0" marL="0">
              <a:buNone/>
            </a:pPr>
            <a:r>
              <a:rPr lang="en-US" sz="900" dirty="0">
                <a:solidFill>
                  <a:srgbClr val="7C2D12"/>
                </a:solidFill>
                <a:latin typeface="Calibri" pitchFamily="34" charset="0"/>
                <a:ea typeface="Calibri" pitchFamily="34" charset="-122"/>
                <a:cs typeface="Calibri" pitchFamily="34" charset="-120"/>
              </a:rPr>
              <a:t>web · portales</a:t>
            </a:r>
            <a:endParaRPr lang="en-US" sz="900" dirty="0"/>
          </a:p>
          <a:p>
            <a:pPr algn="ctr" indent="0" marL="0">
              <a:buNone/>
            </a:pPr>
            <a:r>
              <a:rPr lang="en-US" sz="900" dirty="0">
                <a:solidFill>
                  <a:srgbClr val="7C2D12"/>
                </a:solidFill>
                <a:latin typeface="Calibri" pitchFamily="34" charset="0"/>
                <a:ea typeface="Calibri" pitchFamily="34" charset="-122"/>
                <a:cs typeface="Calibri" pitchFamily="34" charset="-120"/>
              </a:rPr>
              <a:t>campañas</a:t>
            </a:r>
            <a:endParaRPr lang="en-US" sz="900" dirty="0"/>
          </a:p>
        </p:txBody>
      </p:sp>
      <p:sp>
        <p:nvSpPr>
          <p:cNvPr id="20" name="Shape 18"/>
          <p:cNvSpPr/>
          <p:nvPr/>
        </p:nvSpPr>
        <p:spPr>
          <a:xfrm>
            <a:off x="320040" y="2359152"/>
            <a:ext cx="329184" cy="329184"/>
          </a:xfrm>
          <a:prstGeom prst="ellipse">
            <a:avLst/>
          </a:prstGeom>
          <a:solidFill>
            <a:srgbClr val="92400E"/>
          </a:solidFill>
          <a:ln w="25400">
            <a:solidFill>
              <a:srgbClr val="FFFFFF"/>
            </a:solidFill>
            <a:prstDash val="solid"/>
          </a:ln>
        </p:spPr>
      </p:sp>
      <p:sp>
        <p:nvSpPr>
          <p:cNvPr id="21" name="Text 19"/>
          <p:cNvSpPr/>
          <p:nvPr/>
        </p:nvSpPr>
        <p:spPr>
          <a:xfrm>
            <a:off x="320040"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a:t>
            </a:r>
            <a:endParaRPr lang="en-US" sz="1000" dirty="0"/>
          </a:p>
        </p:txBody>
      </p:sp>
      <p:sp>
        <p:nvSpPr>
          <p:cNvPr id="22" name="Shape 20"/>
          <p:cNvSpPr/>
          <p:nvPr/>
        </p:nvSpPr>
        <p:spPr>
          <a:xfrm>
            <a:off x="237744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3" name="Text 21"/>
          <p:cNvSpPr/>
          <p:nvPr/>
        </p:nvSpPr>
        <p:spPr>
          <a:xfrm>
            <a:off x="237744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fuente de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verdad</a:t>
            </a:r>
            <a:endParaRPr lang="en-US" sz="1000" dirty="0"/>
          </a:p>
        </p:txBody>
      </p:sp>
      <p:sp>
        <p:nvSpPr>
          <p:cNvPr id="24" name="Shape 22"/>
          <p:cNvSpPr/>
          <p:nvPr/>
        </p:nvSpPr>
        <p:spPr>
          <a:xfrm>
            <a:off x="2267712" y="1216152"/>
            <a:ext cx="329184" cy="329184"/>
          </a:xfrm>
          <a:prstGeom prst="ellipse">
            <a:avLst/>
          </a:prstGeom>
          <a:solidFill>
            <a:srgbClr val="1A237E"/>
          </a:solidFill>
          <a:ln w="25400">
            <a:solidFill>
              <a:srgbClr val="FFFFFF"/>
            </a:solidFill>
            <a:prstDash val="solid"/>
          </a:ln>
        </p:spPr>
      </p:sp>
      <p:sp>
        <p:nvSpPr>
          <p:cNvPr id="25" name="Text 23"/>
          <p:cNvSpPr/>
          <p:nvPr/>
        </p:nvSpPr>
        <p:spPr>
          <a:xfrm>
            <a:off x="226771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6" name="Shape 24"/>
          <p:cNvSpPr/>
          <p:nvPr/>
        </p:nvSpPr>
        <p:spPr>
          <a:xfrm>
            <a:off x="704088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7" name="Text 25"/>
          <p:cNvSpPr/>
          <p:nvPr/>
        </p:nvSpPr>
        <p:spPr>
          <a:xfrm>
            <a:off x="7040880" y="1325880"/>
            <a:ext cx="1691640" cy="1097280"/>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Oportunidad</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WIP</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handoff #1</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registro maestro</a:t>
            </a:r>
            <a:endParaRPr lang="en-US" sz="900" dirty="0"/>
          </a:p>
        </p:txBody>
      </p:sp>
      <p:sp>
        <p:nvSpPr>
          <p:cNvPr id="28" name="Shape 26"/>
          <p:cNvSpPr/>
          <p:nvPr/>
        </p:nvSpPr>
        <p:spPr>
          <a:xfrm>
            <a:off x="6931152" y="1216152"/>
            <a:ext cx="329184" cy="329184"/>
          </a:xfrm>
          <a:prstGeom prst="ellipse">
            <a:avLst/>
          </a:prstGeom>
          <a:solidFill>
            <a:srgbClr val="1A237E"/>
          </a:solidFill>
          <a:ln w="25400">
            <a:solidFill>
              <a:srgbClr val="FFFFFF"/>
            </a:solidFill>
            <a:prstDash val="solid"/>
          </a:ln>
        </p:spPr>
      </p:sp>
      <p:sp>
        <p:nvSpPr>
          <p:cNvPr id="29" name="Text 27"/>
          <p:cNvSpPr/>
          <p:nvPr/>
        </p:nvSpPr>
        <p:spPr>
          <a:xfrm>
            <a:off x="693115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0" name="Shape 28"/>
          <p:cNvSpPr/>
          <p:nvPr/>
        </p:nvSpPr>
        <p:spPr>
          <a:xfrm>
            <a:off x="1010412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1" name="Text 29"/>
          <p:cNvSpPr/>
          <p:nvPr/>
        </p:nvSpPr>
        <p:spPr>
          <a:xfrm>
            <a:off x="1010412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handoff #2</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a:t>
            </a:r>
            <a:endParaRPr lang="en-US" sz="1000" dirty="0"/>
          </a:p>
        </p:txBody>
      </p:sp>
      <p:sp>
        <p:nvSpPr>
          <p:cNvPr id="32" name="Shape 30"/>
          <p:cNvSpPr/>
          <p:nvPr/>
        </p:nvSpPr>
        <p:spPr>
          <a:xfrm>
            <a:off x="9994392" y="1216152"/>
            <a:ext cx="329184" cy="329184"/>
          </a:xfrm>
          <a:prstGeom prst="ellipse">
            <a:avLst/>
          </a:prstGeom>
          <a:solidFill>
            <a:srgbClr val="1A237E"/>
          </a:solidFill>
          <a:ln w="25400">
            <a:solidFill>
              <a:srgbClr val="FFFFFF"/>
            </a:solidFill>
            <a:prstDash val="solid"/>
          </a:ln>
        </p:spPr>
      </p:sp>
      <p:sp>
        <p:nvSpPr>
          <p:cNvPr id="33" name="Text 31"/>
          <p:cNvSpPr/>
          <p:nvPr/>
        </p:nvSpPr>
        <p:spPr>
          <a:xfrm>
            <a:off x="999439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4" name="Shape 32"/>
          <p:cNvSpPr/>
          <p:nvPr/>
        </p:nvSpPr>
        <p:spPr>
          <a:xfrm>
            <a:off x="2377440" y="3611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5" name="Text 33"/>
          <p:cNvSpPr/>
          <p:nvPr/>
        </p:nvSpPr>
        <p:spPr>
          <a:xfrm>
            <a:off x="2377440" y="3611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alta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p:txBody>
      </p:sp>
      <p:sp>
        <p:nvSpPr>
          <p:cNvPr id="36" name="Shape 34"/>
          <p:cNvSpPr/>
          <p:nvPr/>
        </p:nvSpPr>
        <p:spPr>
          <a:xfrm>
            <a:off x="2267712" y="3502152"/>
            <a:ext cx="329184" cy="329184"/>
          </a:xfrm>
          <a:prstGeom prst="ellipse">
            <a:avLst/>
          </a:prstGeom>
          <a:solidFill>
            <a:srgbClr val="1A237E"/>
          </a:solidFill>
          <a:ln w="25400">
            <a:solidFill>
              <a:srgbClr val="FFFFFF"/>
            </a:solidFill>
            <a:prstDash val="solid"/>
          </a:ln>
        </p:spPr>
      </p:sp>
      <p:sp>
        <p:nvSpPr>
          <p:cNvPr id="37" name="Text 35"/>
          <p:cNvSpPr/>
          <p:nvPr/>
        </p:nvSpPr>
        <p:spPr>
          <a:xfrm>
            <a:off x="226771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8" name="Shape 36"/>
          <p:cNvSpPr/>
          <p:nvPr/>
        </p:nvSpPr>
        <p:spPr>
          <a:xfrm>
            <a:off x="4023360" y="3611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9" name="Text 37"/>
          <p:cNvSpPr/>
          <p:nvPr/>
        </p:nvSpPr>
        <p:spPr>
          <a:xfrm>
            <a:off x="4023360" y="3611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producto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 mercado</a:t>
            </a:r>
            <a:endParaRPr lang="en-US" sz="1000" dirty="0"/>
          </a:p>
        </p:txBody>
      </p:sp>
      <p:sp>
        <p:nvSpPr>
          <p:cNvPr id="40" name="Shape 38"/>
          <p:cNvSpPr/>
          <p:nvPr/>
        </p:nvSpPr>
        <p:spPr>
          <a:xfrm>
            <a:off x="3913632" y="3502152"/>
            <a:ext cx="329184" cy="329184"/>
          </a:xfrm>
          <a:prstGeom prst="ellipse">
            <a:avLst/>
          </a:prstGeom>
          <a:solidFill>
            <a:srgbClr val="1A237E"/>
          </a:solidFill>
          <a:ln w="25400">
            <a:solidFill>
              <a:srgbClr val="FFFFFF"/>
            </a:solidFill>
            <a:prstDash val="solid"/>
          </a:ln>
        </p:spPr>
      </p:sp>
      <p:sp>
        <p:nvSpPr>
          <p:cNvPr id="41" name="Text 39"/>
          <p:cNvSpPr/>
          <p:nvPr/>
        </p:nvSpPr>
        <p:spPr>
          <a:xfrm>
            <a:off x="391363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42" name="Shape 40"/>
          <p:cNvSpPr/>
          <p:nvPr/>
        </p:nvSpPr>
        <p:spPr>
          <a:xfrm>
            <a:off x="5669280" y="3611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3" name="Text 41"/>
          <p:cNvSpPr/>
          <p:nvPr/>
        </p:nvSpPr>
        <p:spPr>
          <a:xfrm>
            <a:off x="5669280" y="3611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perfil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búsqueda</a:t>
            </a:r>
            <a:endParaRPr lang="en-US" sz="1000" dirty="0"/>
          </a:p>
        </p:txBody>
      </p:sp>
      <p:sp>
        <p:nvSpPr>
          <p:cNvPr id="44" name="Shape 42"/>
          <p:cNvSpPr/>
          <p:nvPr/>
        </p:nvSpPr>
        <p:spPr>
          <a:xfrm>
            <a:off x="5559552" y="3502152"/>
            <a:ext cx="329184" cy="329184"/>
          </a:xfrm>
          <a:prstGeom prst="ellipse">
            <a:avLst/>
          </a:prstGeom>
          <a:solidFill>
            <a:srgbClr val="1A237E"/>
          </a:solidFill>
          <a:ln w="25400">
            <a:solidFill>
              <a:srgbClr val="FFFFFF"/>
            </a:solidFill>
            <a:prstDash val="solid"/>
          </a:ln>
        </p:spPr>
      </p:sp>
      <p:sp>
        <p:nvSpPr>
          <p:cNvPr id="45" name="Text 43"/>
          <p:cNvSpPr/>
          <p:nvPr/>
        </p:nvSpPr>
        <p:spPr>
          <a:xfrm>
            <a:off x="555955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6" name="Shape 44"/>
          <p:cNvSpPr/>
          <p:nvPr/>
        </p:nvSpPr>
        <p:spPr>
          <a:xfrm>
            <a:off x="7315200" y="3611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7" name="Text 45"/>
          <p:cNvSpPr/>
          <p:nvPr/>
        </p:nvSpPr>
        <p:spPr>
          <a:xfrm>
            <a:off x="7315200" y="3611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a:t>
            </a:r>
            <a:endParaRPr lang="en-US" sz="1000" dirty="0"/>
          </a:p>
        </p:txBody>
      </p:sp>
      <p:sp>
        <p:nvSpPr>
          <p:cNvPr id="48" name="Shape 46"/>
          <p:cNvSpPr/>
          <p:nvPr/>
        </p:nvSpPr>
        <p:spPr>
          <a:xfrm>
            <a:off x="7205472" y="3502152"/>
            <a:ext cx="329184" cy="329184"/>
          </a:xfrm>
          <a:prstGeom prst="ellipse">
            <a:avLst/>
          </a:prstGeom>
          <a:solidFill>
            <a:srgbClr val="1A237E"/>
          </a:solidFill>
          <a:ln w="25400">
            <a:solidFill>
              <a:srgbClr val="FFFFFF"/>
            </a:solidFill>
            <a:prstDash val="solid"/>
          </a:ln>
        </p:spPr>
      </p:sp>
      <p:sp>
        <p:nvSpPr>
          <p:cNvPr id="49" name="Text 47"/>
          <p:cNvSpPr/>
          <p:nvPr/>
        </p:nvSpPr>
        <p:spPr>
          <a:xfrm>
            <a:off x="72054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50" name="Shape 48"/>
          <p:cNvSpPr/>
          <p:nvPr/>
        </p:nvSpPr>
        <p:spPr>
          <a:xfrm>
            <a:off x="8869680" y="3611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51" name="Text 49"/>
          <p:cNvSpPr/>
          <p:nvPr/>
        </p:nvSpPr>
        <p:spPr>
          <a:xfrm>
            <a:off x="8869680" y="3611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hilo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52" name="Shape 50"/>
          <p:cNvSpPr/>
          <p:nvPr/>
        </p:nvSpPr>
        <p:spPr>
          <a:xfrm>
            <a:off x="8759952" y="3502152"/>
            <a:ext cx="329184" cy="329184"/>
          </a:xfrm>
          <a:prstGeom prst="ellipse">
            <a:avLst/>
          </a:prstGeom>
          <a:solidFill>
            <a:srgbClr val="1A237E"/>
          </a:solidFill>
          <a:ln w="25400">
            <a:solidFill>
              <a:srgbClr val="FFFFFF"/>
            </a:solidFill>
            <a:prstDash val="solid"/>
          </a:ln>
        </p:spPr>
      </p:sp>
      <p:sp>
        <p:nvSpPr>
          <p:cNvPr id="53" name="Text 51"/>
          <p:cNvSpPr/>
          <p:nvPr/>
        </p:nvSpPr>
        <p:spPr>
          <a:xfrm>
            <a:off x="875995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54" name="Shape 52"/>
          <p:cNvSpPr/>
          <p:nvPr/>
        </p:nvSpPr>
        <p:spPr>
          <a:xfrm>
            <a:off x="10424160" y="3611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55" name="Text 53"/>
          <p:cNvSpPr/>
          <p:nvPr/>
        </p:nvSpPr>
        <p:spPr>
          <a:xfrm>
            <a:off x="10424160" y="3611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Transacción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cierre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honorarios</a:t>
            </a:r>
            <a:endParaRPr lang="en-US" sz="1000" dirty="0"/>
          </a:p>
        </p:txBody>
      </p:sp>
      <p:sp>
        <p:nvSpPr>
          <p:cNvPr id="56" name="Shape 54"/>
          <p:cNvSpPr/>
          <p:nvPr/>
        </p:nvSpPr>
        <p:spPr>
          <a:xfrm>
            <a:off x="10314432" y="3502152"/>
            <a:ext cx="329184" cy="329184"/>
          </a:xfrm>
          <a:prstGeom prst="ellipse">
            <a:avLst/>
          </a:prstGeom>
          <a:solidFill>
            <a:srgbClr val="1A237E"/>
          </a:solidFill>
          <a:ln w="25400">
            <a:solidFill>
              <a:srgbClr val="FFFFFF"/>
            </a:solidFill>
            <a:prstDash val="solid"/>
          </a:ln>
        </p:spPr>
      </p:sp>
      <p:sp>
        <p:nvSpPr>
          <p:cNvPr id="57" name="Text 55"/>
          <p:cNvSpPr/>
          <p:nvPr/>
        </p:nvSpPr>
        <p:spPr>
          <a:xfrm>
            <a:off x="1031443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58" name="Shape 56"/>
          <p:cNvSpPr/>
          <p:nvPr/>
        </p:nvSpPr>
        <p:spPr>
          <a:xfrm>
            <a:off x="1828800" y="2926080"/>
            <a:ext cx="548640" cy="-1051560"/>
          </a:xfrm>
          <a:prstGeom prst="line">
            <a:avLst/>
          </a:prstGeom>
          <a:noFill/>
          <a:ln w="25400">
            <a:solidFill>
              <a:srgbClr val="D97706"/>
            </a:solidFill>
            <a:prstDash val="solid"/>
            <a:tailEnd type="arrow"/>
          </a:ln>
        </p:spPr>
      </p:sp>
      <p:sp>
        <p:nvSpPr>
          <p:cNvPr id="59" name="Text 57"/>
          <p:cNvSpPr/>
          <p:nvPr/>
        </p:nvSpPr>
        <p:spPr>
          <a:xfrm>
            <a:off x="1508760" y="22814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cualificación</a:t>
            </a:r>
            <a:endParaRPr lang="en-US" sz="800" dirty="0"/>
          </a:p>
          <a:p>
            <a:pPr algn="ctr" indent="0" marL="0">
              <a:buNone/>
            </a:pPr>
            <a:r>
              <a:rPr lang="en-US" sz="800" i="1" dirty="0">
                <a:solidFill>
                  <a:srgbClr val="555555"/>
                </a:solidFill>
                <a:latin typeface="Calibri" pitchFamily="34" charset="0"/>
                <a:ea typeface="Calibri" pitchFamily="34" charset="-122"/>
                <a:cs typeface="Calibri" pitchFamily="34" charset="-120"/>
              </a:rPr>
              <a:t>+ vinculación</a:t>
            </a:r>
            <a:endParaRPr lang="en-US" sz="800" dirty="0"/>
          </a:p>
        </p:txBody>
      </p:sp>
      <p:sp>
        <p:nvSpPr>
          <p:cNvPr id="60" name="Shape 58"/>
          <p:cNvSpPr/>
          <p:nvPr/>
        </p:nvSpPr>
        <p:spPr>
          <a:xfrm>
            <a:off x="1828800" y="3200400"/>
            <a:ext cx="5212080" cy="-1325880"/>
          </a:xfrm>
          <a:prstGeom prst="line">
            <a:avLst/>
          </a:prstGeom>
          <a:noFill/>
          <a:ln w="19050">
            <a:solidFill>
              <a:srgbClr val="1E40AF"/>
            </a:solidFill>
            <a:prstDash val="dash"/>
            <a:tailEnd type="arrow"/>
          </a:ln>
        </p:spPr>
      </p:sp>
      <p:sp>
        <p:nvSpPr>
          <p:cNvPr id="61" name="Text 59"/>
          <p:cNvSpPr/>
          <p:nvPr/>
        </p:nvSpPr>
        <p:spPr>
          <a:xfrm>
            <a:off x="3200400" y="1828800"/>
            <a:ext cx="1828800" cy="201168"/>
          </a:xfrm>
          <a:prstGeom prst="rect">
            <a:avLst/>
          </a:prstGeom>
          <a:noFill/>
          <a:ln/>
        </p:spPr>
        <p:txBody>
          <a:bodyPr wrap="square" rtlCol="0" anchor="ctr"/>
          <a:lstStyle/>
          <a:p>
            <a:pPr algn="ctr" indent="0" marL="0">
              <a:buNone/>
            </a:pPr>
            <a:r>
              <a:rPr lang="en-US" sz="800" i="1" dirty="0">
                <a:solidFill>
                  <a:srgbClr val="1E40AF"/>
                </a:solidFill>
                <a:latin typeface="Calibri" pitchFamily="34" charset="0"/>
                <a:ea typeface="Calibri" pitchFamily="34" charset="-122"/>
                <a:cs typeface="Calibri" pitchFamily="34" charset="-120"/>
              </a:rPr>
              <a:t>servicio · directo</a:t>
            </a:r>
            <a:endParaRPr lang="en-US" sz="800" dirty="0"/>
          </a:p>
        </p:txBody>
      </p:sp>
      <p:sp>
        <p:nvSpPr>
          <p:cNvPr id="62" name="Shape 60"/>
          <p:cNvSpPr/>
          <p:nvPr/>
        </p:nvSpPr>
        <p:spPr>
          <a:xfrm>
            <a:off x="3200400" y="2423160"/>
            <a:ext cx="0" cy="1188720"/>
          </a:xfrm>
          <a:prstGeom prst="line">
            <a:avLst/>
          </a:prstGeom>
          <a:noFill/>
          <a:ln w="44450">
            <a:solidFill>
              <a:srgbClr val="DC2626"/>
            </a:solidFill>
            <a:prstDash val="solid"/>
            <a:tailEnd type="arrow"/>
          </a:ln>
        </p:spPr>
      </p:sp>
      <p:sp>
        <p:nvSpPr>
          <p:cNvPr id="63" name="Shape 61"/>
          <p:cNvSpPr/>
          <p:nvPr/>
        </p:nvSpPr>
        <p:spPr>
          <a:xfrm>
            <a:off x="2331720" y="2788920"/>
            <a:ext cx="1783080" cy="292608"/>
          </a:xfrm>
          <a:prstGeom prst="roundRect">
            <a:avLst>
              <a:gd name="adj" fmla="val 18750"/>
            </a:avLst>
          </a:prstGeom>
          <a:solidFill>
            <a:srgbClr val="FEE2E2"/>
          </a:solidFill>
          <a:ln w="19050">
            <a:solidFill>
              <a:srgbClr val="DC2626"/>
            </a:solidFill>
            <a:prstDash val="solid"/>
          </a:ln>
        </p:spPr>
      </p:sp>
      <p:sp>
        <p:nvSpPr>
          <p:cNvPr id="64" name="Text 62"/>
          <p:cNvSpPr/>
          <p:nvPr/>
        </p:nvSpPr>
        <p:spPr>
          <a:xfrm>
            <a:off x="2331720" y="2788920"/>
            <a:ext cx="1783080" cy="292608"/>
          </a:xfrm>
          <a:prstGeom prst="rect">
            <a:avLst/>
          </a:prstGeom>
          <a:noFill/>
          <a:ln/>
        </p:spPr>
        <p:txBody>
          <a:bodyPr wrap="square" rtlCol="0" anchor="ctr"/>
          <a:lstStyle/>
          <a:p>
            <a:pPr algn="ctr" indent="0" marL="0">
              <a:buNone/>
            </a:pPr>
            <a:r>
              <a:rPr lang="en-US" sz="900" b="1" dirty="0">
                <a:solidFill>
                  <a:srgbClr val="991B1B"/>
                </a:solidFill>
                <a:latin typeface="Calibri" pitchFamily="34" charset="0"/>
                <a:ea typeface="Calibri" pitchFamily="34" charset="-122"/>
                <a:cs typeface="Calibri" pitchFamily="34" charset="-120"/>
              </a:rPr>
              <a:t>🔗 FK · CRÍTICO</a:t>
            </a:r>
            <a:endParaRPr lang="en-US" sz="900" dirty="0"/>
          </a:p>
        </p:txBody>
      </p:sp>
      <p:sp>
        <p:nvSpPr>
          <p:cNvPr id="65" name="Shape 63"/>
          <p:cNvSpPr/>
          <p:nvPr/>
        </p:nvSpPr>
        <p:spPr>
          <a:xfrm>
            <a:off x="3200400" y="2423160"/>
            <a:ext cx="3200400" cy="1188720"/>
          </a:xfrm>
          <a:prstGeom prst="line">
            <a:avLst/>
          </a:prstGeom>
          <a:noFill/>
          <a:ln w="22860">
            <a:solidFill>
              <a:srgbClr val="1E40AF"/>
            </a:solidFill>
            <a:prstDash val="dash"/>
            <a:tailEnd type="arrow"/>
          </a:ln>
        </p:spPr>
      </p:sp>
      <p:sp>
        <p:nvSpPr>
          <p:cNvPr id="66" name="Text 64"/>
          <p:cNvSpPr/>
          <p:nvPr/>
        </p:nvSpPr>
        <p:spPr>
          <a:xfrm>
            <a:off x="420624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FK Arr.</a:t>
            </a:r>
            <a:endParaRPr lang="en-US" sz="800" dirty="0"/>
          </a:p>
        </p:txBody>
      </p:sp>
      <p:sp>
        <p:nvSpPr>
          <p:cNvPr id="67" name="Shape 65"/>
          <p:cNvSpPr/>
          <p:nvPr/>
        </p:nvSpPr>
        <p:spPr>
          <a:xfrm>
            <a:off x="3840480" y="4160520"/>
            <a:ext cx="182880" cy="0"/>
          </a:xfrm>
          <a:prstGeom prst="line">
            <a:avLst/>
          </a:prstGeom>
          <a:noFill/>
          <a:ln w="22860">
            <a:solidFill>
              <a:srgbClr val="BDBDBD"/>
            </a:solidFill>
            <a:prstDash val="solid"/>
            <a:tailEnd type="arrow"/>
          </a:ln>
        </p:spPr>
      </p:sp>
      <p:sp>
        <p:nvSpPr>
          <p:cNvPr id="68" name="Shape 66"/>
          <p:cNvSpPr/>
          <p:nvPr/>
        </p:nvSpPr>
        <p:spPr>
          <a:xfrm>
            <a:off x="5486400" y="4160520"/>
            <a:ext cx="1828800" cy="-91440"/>
          </a:xfrm>
          <a:prstGeom prst="line">
            <a:avLst/>
          </a:prstGeom>
          <a:noFill/>
          <a:ln w="22860">
            <a:solidFill>
              <a:srgbClr val="BDBDBD"/>
            </a:solidFill>
            <a:prstDash val="solid"/>
            <a:tailEnd type="arrow"/>
          </a:ln>
        </p:spPr>
      </p:sp>
      <p:sp>
        <p:nvSpPr>
          <p:cNvPr id="69" name="Shape 67"/>
          <p:cNvSpPr/>
          <p:nvPr/>
        </p:nvSpPr>
        <p:spPr>
          <a:xfrm>
            <a:off x="7132320" y="4160520"/>
            <a:ext cx="182880" cy="91440"/>
          </a:xfrm>
          <a:prstGeom prst="line">
            <a:avLst/>
          </a:prstGeom>
          <a:noFill/>
          <a:ln w="22860">
            <a:solidFill>
              <a:srgbClr val="BDBDBD"/>
            </a:solidFill>
            <a:prstDash val="solid"/>
            <a:tailEnd type="arrow"/>
          </a:ln>
        </p:spPr>
      </p:sp>
      <p:sp>
        <p:nvSpPr>
          <p:cNvPr id="70" name="Shape 68"/>
          <p:cNvSpPr/>
          <p:nvPr/>
        </p:nvSpPr>
        <p:spPr>
          <a:xfrm>
            <a:off x="8503920" y="3611880"/>
            <a:ext cx="-640080" cy="-1188720"/>
          </a:xfrm>
          <a:prstGeom prst="line">
            <a:avLst/>
          </a:prstGeom>
          <a:noFill/>
          <a:ln w="22860">
            <a:solidFill>
              <a:srgbClr val="7C3AED"/>
            </a:solidFill>
            <a:prstDash val="solid"/>
            <a:tailEnd type="arrow"/>
          </a:ln>
        </p:spPr>
      </p:sp>
      <p:sp>
        <p:nvSpPr>
          <p:cNvPr id="71" name="Text 69"/>
          <p:cNvSpPr/>
          <p:nvPr/>
        </p:nvSpPr>
        <p:spPr>
          <a:xfrm>
            <a:off x="758952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 #1</a:t>
            </a:r>
            <a:endParaRPr lang="en-US" sz="800" dirty="0"/>
          </a:p>
        </p:txBody>
      </p:sp>
      <p:sp>
        <p:nvSpPr>
          <p:cNvPr id="72" name="Shape 70"/>
          <p:cNvSpPr/>
          <p:nvPr/>
        </p:nvSpPr>
        <p:spPr>
          <a:xfrm>
            <a:off x="7863840" y="2423160"/>
            <a:ext cx="1737360" cy="1188720"/>
          </a:xfrm>
          <a:prstGeom prst="line">
            <a:avLst/>
          </a:prstGeom>
          <a:noFill/>
          <a:ln w="22860">
            <a:solidFill>
              <a:srgbClr val="0078D4"/>
            </a:solidFill>
            <a:prstDash val="solid"/>
            <a:tailEnd type="arrow"/>
          </a:ln>
        </p:spPr>
      </p:sp>
      <p:sp>
        <p:nvSpPr>
          <p:cNvPr id="73" name="Text 71"/>
          <p:cNvSpPr/>
          <p:nvPr/>
        </p:nvSpPr>
        <p:spPr>
          <a:xfrm>
            <a:off x="813816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74" name="Shape 72"/>
          <p:cNvSpPr/>
          <p:nvPr/>
        </p:nvSpPr>
        <p:spPr>
          <a:xfrm>
            <a:off x="10332720" y="3611880"/>
            <a:ext cx="594360" cy="-1188720"/>
          </a:xfrm>
          <a:prstGeom prst="line">
            <a:avLst/>
          </a:prstGeom>
          <a:noFill/>
          <a:ln w="22860">
            <a:solidFill>
              <a:srgbClr val="7C3AED"/>
            </a:solidFill>
            <a:prstDash val="solid"/>
            <a:tailEnd type="arrow"/>
          </a:ln>
        </p:spPr>
      </p:sp>
      <p:sp>
        <p:nvSpPr>
          <p:cNvPr id="75" name="Text 73"/>
          <p:cNvSpPr/>
          <p:nvPr/>
        </p:nvSpPr>
        <p:spPr>
          <a:xfrm>
            <a:off x="1003554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 #2</a:t>
            </a:r>
            <a:endParaRPr lang="en-US" sz="800" dirty="0"/>
          </a:p>
        </p:txBody>
      </p:sp>
      <p:sp>
        <p:nvSpPr>
          <p:cNvPr id="76" name="Shape 74"/>
          <p:cNvSpPr/>
          <p:nvPr/>
        </p:nvSpPr>
        <p:spPr>
          <a:xfrm>
            <a:off x="10927080" y="2423160"/>
            <a:ext cx="228600" cy="1188720"/>
          </a:xfrm>
          <a:prstGeom prst="line">
            <a:avLst/>
          </a:prstGeom>
          <a:noFill/>
          <a:ln w="22860">
            <a:solidFill>
              <a:srgbClr val="0078D4"/>
            </a:solidFill>
            <a:prstDash val="solid"/>
            <a:tailEnd type="arrow"/>
          </a:ln>
        </p:spPr>
      </p:sp>
      <p:sp>
        <p:nvSpPr>
          <p:cNvPr id="77" name="Text 75"/>
          <p:cNvSpPr/>
          <p:nvPr/>
        </p:nvSpPr>
        <p:spPr>
          <a:xfrm>
            <a:off x="1044702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78" name="Shape 76"/>
          <p:cNvSpPr/>
          <p:nvPr/>
        </p:nvSpPr>
        <p:spPr>
          <a:xfrm>
            <a:off x="274320" y="5760720"/>
            <a:ext cx="11640312" cy="868680"/>
          </a:xfrm>
          <a:prstGeom prst="rect">
            <a:avLst/>
          </a:prstGeom>
          <a:solidFill>
            <a:srgbClr val="FFFFFF"/>
          </a:solidFill>
          <a:ln w="12700">
            <a:solidFill>
              <a:srgbClr val="E0E0E0"/>
            </a:solidFill>
            <a:prstDash val="solid"/>
          </a:ln>
        </p:spPr>
      </p:sp>
      <p:sp>
        <p:nvSpPr>
          <p:cNvPr id="79" name="Text 77"/>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ciclo arranca con el LEAD (0), capturado automáticamente desde web, portales (Idealista, Habitaclia, Belbex), LinkedIn, formularios y campañas. Tras cualificarlo y vincularlo OBLIGATORIAMENTE a una Cuenta o Contacto en Dynamics (1), el flujo se bifurca: leads de Demanda/Oferta alimentan Activo (2), Oferta (3), Demanda (5), Match (6) y Oportunidad WIP (7); leads de Servicio van directos a Oportunidad sin activo/oferta/demanda. Tras Negociación (8), Instrucción (9) y Transacción (10) se cierra la operación. El LEAD es el verdadero origen del funnel: ningún proceso comercial debería empezar sin él.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Cuentas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Alta en Dynamics → sync PDB → enriquecimiento → vista 360º · Tres roles posibles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37744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23113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2880360" y="914400"/>
            <a:ext cx="903427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2953512" y="950976"/>
            <a:ext cx="888796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0116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011680" cy="137160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Alta Cuenta</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Datos fiscales</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 contacto</a:t>
            </a:r>
            <a:endParaRPr lang="en-US" sz="11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108960" y="182880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108960" y="182880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PDB</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Replicación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lectura</a:t>
            </a:r>
            <a:endParaRPr lang="en-US" sz="1000" dirty="0"/>
          </a:p>
        </p:txBody>
      </p:sp>
      <p:sp>
        <p:nvSpPr>
          <p:cNvPr id="21" name="Shape 19"/>
          <p:cNvSpPr/>
          <p:nvPr/>
        </p:nvSpPr>
        <p:spPr>
          <a:xfrm>
            <a:off x="2999232" y="1719072"/>
            <a:ext cx="329184" cy="329184"/>
          </a:xfrm>
          <a:prstGeom prst="ellipse">
            <a:avLst/>
          </a:prstGeom>
          <a:solidFill>
            <a:srgbClr val="1A237E"/>
          </a:solidFill>
          <a:ln w="25400">
            <a:solidFill>
              <a:srgbClr val="FFFFFF"/>
            </a:solidFill>
            <a:prstDash val="solid"/>
          </a:ln>
        </p:spPr>
      </p:sp>
      <p:sp>
        <p:nvSpPr>
          <p:cNvPr id="22" name="Text 20"/>
          <p:cNvSpPr/>
          <p:nvPr/>
        </p:nvSpPr>
        <p:spPr>
          <a:xfrm>
            <a:off x="2999232" y="17190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3108960" y="310896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3108960" y="310896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Enriquecimiento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Contactos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actividades</a:t>
            </a:r>
            <a:endParaRPr lang="en-US" sz="1000" dirty="0"/>
          </a:p>
        </p:txBody>
      </p:sp>
      <p:sp>
        <p:nvSpPr>
          <p:cNvPr id="25" name="Shape 23"/>
          <p:cNvSpPr/>
          <p:nvPr/>
        </p:nvSpPr>
        <p:spPr>
          <a:xfrm>
            <a:off x="2999232" y="2999232"/>
            <a:ext cx="329184" cy="329184"/>
          </a:xfrm>
          <a:prstGeom prst="ellipse">
            <a:avLst/>
          </a:prstGeom>
          <a:solidFill>
            <a:srgbClr val="1A237E"/>
          </a:solidFill>
          <a:ln w="25400">
            <a:solidFill>
              <a:srgbClr val="FFFFFF"/>
            </a:solidFill>
            <a:prstDash val="solid"/>
          </a:ln>
        </p:spPr>
      </p:sp>
      <p:sp>
        <p:nvSpPr>
          <p:cNvPr id="26" name="Text 24"/>
          <p:cNvSpPr/>
          <p:nvPr/>
        </p:nvSpPr>
        <p:spPr>
          <a:xfrm>
            <a:off x="2999232" y="29992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3108960" y="438912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3108960" y="438912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Vista 360º</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Activos · 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histórico</a:t>
            </a:r>
            <a:endParaRPr lang="en-US" sz="1000" dirty="0"/>
          </a:p>
        </p:txBody>
      </p:sp>
      <p:sp>
        <p:nvSpPr>
          <p:cNvPr id="29" name="Shape 27"/>
          <p:cNvSpPr/>
          <p:nvPr/>
        </p:nvSpPr>
        <p:spPr>
          <a:xfrm>
            <a:off x="2999232" y="4279392"/>
            <a:ext cx="329184" cy="329184"/>
          </a:xfrm>
          <a:prstGeom prst="ellipse">
            <a:avLst/>
          </a:prstGeom>
          <a:solidFill>
            <a:srgbClr val="1A237E"/>
          </a:solidFill>
          <a:ln w="25400">
            <a:solidFill>
              <a:srgbClr val="FFFFFF"/>
            </a:solidFill>
            <a:prstDash val="solid"/>
          </a:ln>
        </p:spPr>
      </p:sp>
      <p:sp>
        <p:nvSpPr>
          <p:cNvPr id="30" name="Text 28"/>
          <p:cNvSpPr/>
          <p:nvPr/>
        </p:nvSpPr>
        <p:spPr>
          <a:xfrm>
            <a:off x="2999232" y="42793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5943600" y="146304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5943600" y="146304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Activos en cartera</a:t>
            </a:r>
            <a:endParaRPr lang="en-US" sz="1000" dirty="0"/>
          </a:p>
        </p:txBody>
      </p:sp>
      <p:sp>
        <p:nvSpPr>
          <p:cNvPr id="33" name="Shape 31"/>
          <p:cNvSpPr/>
          <p:nvPr/>
        </p:nvSpPr>
        <p:spPr>
          <a:xfrm>
            <a:off x="583387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583387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a:t>
            </a:r>
            <a:endParaRPr lang="en-US" sz="1000" dirty="0"/>
          </a:p>
        </p:txBody>
      </p:sp>
      <p:sp>
        <p:nvSpPr>
          <p:cNvPr id="35" name="Shape 33"/>
          <p:cNvSpPr/>
          <p:nvPr/>
        </p:nvSpPr>
        <p:spPr>
          <a:xfrm>
            <a:off x="5943600" y="292608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5943600" y="292608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Cuenta-Arrendatario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 + contratos</a:t>
            </a:r>
            <a:endParaRPr lang="en-US" sz="1000" dirty="0"/>
          </a:p>
        </p:txBody>
      </p:sp>
      <p:sp>
        <p:nvSpPr>
          <p:cNvPr id="37" name="Shape 35"/>
          <p:cNvSpPr/>
          <p:nvPr/>
        </p:nvSpPr>
        <p:spPr>
          <a:xfrm>
            <a:off x="5833872" y="2816352"/>
            <a:ext cx="329184" cy="329184"/>
          </a:xfrm>
          <a:prstGeom prst="ellipse">
            <a:avLst/>
          </a:prstGeom>
          <a:solidFill>
            <a:srgbClr val="1A237E"/>
          </a:solidFill>
          <a:ln w="25400">
            <a:solidFill>
              <a:srgbClr val="FFFFFF"/>
            </a:solidFill>
            <a:prstDash val="solid"/>
          </a:ln>
        </p:spPr>
      </p:sp>
      <p:sp>
        <p:nvSpPr>
          <p:cNvPr id="38" name="Text 36"/>
          <p:cNvSpPr/>
          <p:nvPr/>
        </p:nvSpPr>
        <p:spPr>
          <a:xfrm>
            <a:off x="5833872" y="28163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5b</a:t>
            </a:r>
            <a:endParaRPr lang="en-US" sz="1000" dirty="0"/>
          </a:p>
        </p:txBody>
      </p:sp>
      <p:sp>
        <p:nvSpPr>
          <p:cNvPr id="39" name="Shape 37"/>
          <p:cNvSpPr/>
          <p:nvPr/>
        </p:nvSpPr>
        <p:spPr>
          <a:xfrm>
            <a:off x="5943600" y="438912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5943600" y="438912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Cuenta-Inversor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Apetito + transacciones</a:t>
            </a:r>
            <a:endParaRPr lang="en-US" sz="1000" dirty="0"/>
          </a:p>
        </p:txBody>
      </p:sp>
      <p:sp>
        <p:nvSpPr>
          <p:cNvPr id="41" name="Shape 39"/>
          <p:cNvSpPr/>
          <p:nvPr/>
        </p:nvSpPr>
        <p:spPr>
          <a:xfrm>
            <a:off x="5833872" y="4279392"/>
            <a:ext cx="329184" cy="329184"/>
          </a:xfrm>
          <a:prstGeom prst="ellipse">
            <a:avLst/>
          </a:prstGeom>
          <a:solidFill>
            <a:srgbClr val="1A237E"/>
          </a:solidFill>
          <a:ln w="25400">
            <a:solidFill>
              <a:srgbClr val="FFFFFF"/>
            </a:solidFill>
            <a:prstDash val="solid"/>
          </a:ln>
        </p:spPr>
      </p:sp>
      <p:sp>
        <p:nvSpPr>
          <p:cNvPr id="42" name="Text 40"/>
          <p:cNvSpPr/>
          <p:nvPr/>
        </p:nvSpPr>
        <p:spPr>
          <a:xfrm>
            <a:off x="5833872" y="42793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5c</a:t>
            </a:r>
            <a:endParaRPr lang="en-US" sz="1000" dirty="0"/>
          </a:p>
        </p:txBody>
      </p:sp>
      <p:sp>
        <p:nvSpPr>
          <p:cNvPr id="43" name="Shape 41"/>
          <p:cNvSpPr/>
          <p:nvPr/>
        </p:nvSpPr>
        <p:spPr>
          <a:xfrm>
            <a:off x="9418320" y="146304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9418320" y="146304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Activos vinculados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matriz 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ref activos</a:t>
            </a:r>
            <a:endParaRPr lang="en-US" sz="1000" dirty="0"/>
          </a:p>
        </p:txBody>
      </p:sp>
      <p:sp>
        <p:nvSpPr>
          <p:cNvPr id="45" name="Shape 43"/>
          <p:cNvSpPr/>
          <p:nvPr/>
        </p:nvSpPr>
        <p:spPr>
          <a:xfrm>
            <a:off x="9418320" y="292608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6" name="Text 44"/>
          <p:cNvSpPr/>
          <p:nvPr/>
        </p:nvSpPr>
        <p:spPr>
          <a:xfrm>
            <a:off x="9418320" y="292608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Pipeline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matching automático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 activos</a:t>
            </a:r>
            <a:endParaRPr lang="en-US" sz="1000" dirty="0"/>
          </a:p>
        </p:txBody>
      </p:sp>
      <p:sp>
        <p:nvSpPr>
          <p:cNvPr id="47" name="Shape 45"/>
          <p:cNvSpPr/>
          <p:nvPr/>
        </p:nvSpPr>
        <p:spPr>
          <a:xfrm>
            <a:off x="9418320" y="438912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8" name="Text 46"/>
          <p:cNvSpPr/>
          <p:nvPr/>
        </p:nvSpPr>
        <p:spPr>
          <a:xfrm>
            <a:off x="9418320" y="438912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Capital Markets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 a inversor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producto encajable</a:t>
            </a:r>
            <a:endParaRPr lang="en-US" sz="1000" dirty="0"/>
          </a:p>
        </p:txBody>
      </p:sp>
      <p:sp>
        <p:nvSpPr>
          <p:cNvPr id="49" name="Shape 47"/>
          <p:cNvSpPr/>
          <p:nvPr/>
        </p:nvSpPr>
        <p:spPr>
          <a:xfrm>
            <a:off x="2468880" y="2971800"/>
            <a:ext cx="640080" cy="-685800"/>
          </a:xfrm>
          <a:prstGeom prst="line">
            <a:avLst/>
          </a:prstGeom>
          <a:noFill/>
          <a:ln w="22860">
            <a:solidFill>
              <a:srgbClr val="0078D4"/>
            </a:solidFill>
            <a:prstDash val="solid"/>
            <a:tailEnd type="arrow"/>
          </a:ln>
        </p:spPr>
      </p:sp>
      <p:sp>
        <p:nvSpPr>
          <p:cNvPr id="50" name="Text 48"/>
          <p:cNvSpPr/>
          <p:nvPr/>
        </p:nvSpPr>
        <p:spPr>
          <a:xfrm>
            <a:off x="2194560" y="25100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auto</a:t>
            </a:r>
            <a:endParaRPr lang="en-US" sz="800" dirty="0"/>
          </a:p>
        </p:txBody>
      </p:sp>
      <p:sp>
        <p:nvSpPr>
          <p:cNvPr id="51" name="Shape 49"/>
          <p:cNvSpPr/>
          <p:nvPr/>
        </p:nvSpPr>
        <p:spPr>
          <a:xfrm>
            <a:off x="4023360" y="2743200"/>
            <a:ext cx="0" cy="365760"/>
          </a:xfrm>
          <a:prstGeom prst="line">
            <a:avLst/>
          </a:prstGeom>
          <a:noFill/>
          <a:ln w="22860">
            <a:solidFill>
              <a:srgbClr val="BDBDBD"/>
            </a:solidFill>
            <a:prstDash val="solid"/>
            <a:tailEnd type="arrow"/>
          </a:ln>
        </p:spPr>
      </p:sp>
      <p:sp>
        <p:nvSpPr>
          <p:cNvPr id="52" name="Shape 50"/>
          <p:cNvSpPr/>
          <p:nvPr/>
        </p:nvSpPr>
        <p:spPr>
          <a:xfrm>
            <a:off x="4023360" y="4023360"/>
            <a:ext cx="0" cy="365760"/>
          </a:xfrm>
          <a:prstGeom prst="line">
            <a:avLst/>
          </a:prstGeom>
          <a:noFill/>
          <a:ln w="22860">
            <a:solidFill>
              <a:srgbClr val="BDBDBD"/>
            </a:solidFill>
            <a:prstDash val="solid"/>
            <a:tailEnd type="arrow"/>
          </a:ln>
        </p:spPr>
      </p:sp>
      <p:sp>
        <p:nvSpPr>
          <p:cNvPr id="53" name="Shape 51"/>
          <p:cNvSpPr/>
          <p:nvPr/>
        </p:nvSpPr>
        <p:spPr>
          <a:xfrm>
            <a:off x="4937760" y="4846320"/>
            <a:ext cx="1005840" cy="-2834640"/>
          </a:xfrm>
          <a:prstGeom prst="line">
            <a:avLst/>
          </a:prstGeom>
          <a:noFill/>
          <a:ln w="22860">
            <a:solidFill>
              <a:srgbClr val="BDBDBD"/>
            </a:solidFill>
            <a:prstDash val="solid"/>
            <a:tailEnd type="arrow"/>
          </a:ln>
        </p:spPr>
      </p:sp>
      <p:sp>
        <p:nvSpPr>
          <p:cNvPr id="54" name="Shape 52"/>
          <p:cNvSpPr/>
          <p:nvPr/>
        </p:nvSpPr>
        <p:spPr>
          <a:xfrm>
            <a:off x="4937760" y="4846320"/>
            <a:ext cx="1005840" cy="-1371600"/>
          </a:xfrm>
          <a:prstGeom prst="line">
            <a:avLst/>
          </a:prstGeom>
          <a:noFill/>
          <a:ln w="22860">
            <a:solidFill>
              <a:srgbClr val="BDBDBD"/>
            </a:solidFill>
            <a:prstDash val="solid"/>
            <a:tailEnd type="arrow"/>
          </a:ln>
        </p:spPr>
      </p:sp>
      <p:sp>
        <p:nvSpPr>
          <p:cNvPr id="55" name="Shape 53"/>
          <p:cNvSpPr/>
          <p:nvPr/>
        </p:nvSpPr>
        <p:spPr>
          <a:xfrm>
            <a:off x="4937760" y="4846320"/>
            <a:ext cx="1005840" cy="91440"/>
          </a:xfrm>
          <a:prstGeom prst="line">
            <a:avLst/>
          </a:prstGeom>
          <a:noFill/>
          <a:ln w="22860">
            <a:solidFill>
              <a:srgbClr val="BDBDBD"/>
            </a:solidFill>
            <a:prstDash val="solid"/>
            <a:tailEnd type="arrow"/>
          </a:ln>
        </p:spPr>
      </p:sp>
      <p:sp>
        <p:nvSpPr>
          <p:cNvPr id="56" name="Shape 54"/>
          <p:cNvSpPr/>
          <p:nvPr/>
        </p:nvSpPr>
        <p:spPr>
          <a:xfrm>
            <a:off x="8138160" y="2011680"/>
            <a:ext cx="1280160" cy="0"/>
          </a:xfrm>
          <a:prstGeom prst="line">
            <a:avLst/>
          </a:prstGeom>
          <a:noFill/>
          <a:ln w="22860">
            <a:solidFill>
              <a:srgbClr val="BDBDBD"/>
            </a:solidFill>
            <a:prstDash val="solid"/>
            <a:tailEnd type="arrow"/>
          </a:ln>
        </p:spPr>
      </p:sp>
      <p:sp>
        <p:nvSpPr>
          <p:cNvPr id="57" name="Shape 55"/>
          <p:cNvSpPr/>
          <p:nvPr/>
        </p:nvSpPr>
        <p:spPr>
          <a:xfrm>
            <a:off x="8138160" y="3474720"/>
            <a:ext cx="1280160" cy="0"/>
          </a:xfrm>
          <a:prstGeom prst="line">
            <a:avLst/>
          </a:prstGeom>
          <a:noFill/>
          <a:ln w="22860">
            <a:solidFill>
              <a:srgbClr val="BDBDBD"/>
            </a:solidFill>
            <a:prstDash val="solid"/>
            <a:tailEnd type="arrow"/>
          </a:ln>
        </p:spPr>
      </p:sp>
      <p:sp>
        <p:nvSpPr>
          <p:cNvPr id="58" name="Shape 56"/>
          <p:cNvSpPr/>
          <p:nvPr/>
        </p:nvSpPr>
        <p:spPr>
          <a:xfrm>
            <a:off x="8138160" y="4937760"/>
            <a:ext cx="1280160" cy="0"/>
          </a:xfrm>
          <a:prstGeom prst="line">
            <a:avLst/>
          </a:prstGeom>
          <a:noFill/>
          <a:ln w="22860">
            <a:solidFill>
              <a:srgbClr val="BDBDBD"/>
            </a:solidFill>
            <a:prstDash val="solid"/>
            <a:tailEnd type="arrow"/>
          </a:ln>
        </p:spPr>
      </p:sp>
      <p:sp>
        <p:nvSpPr>
          <p:cNvPr id="59" name="Shape 57"/>
          <p:cNvSpPr/>
          <p:nvPr/>
        </p:nvSpPr>
        <p:spPr>
          <a:xfrm>
            <a:off x="274320" y="5760720"/>
            <a:ext cx="11640312" cy="868680"/>
          </a:xfrm>
          <a:prstGeom prst="rect">
            <a:avLst/>
          </a:prstGeom>
          <a:solidFill>
            <a:srgbClr val="FFFFFF"/>
          </a:solidFill>
          <a:ln w="12700">
            <a:solidFill>
              <a:srgbClr val="E0E0E0"/>
            </a:solidFill>
            <a:prstDash val="solid"/>
          </a:ln>
        </p:spPr>
      </p:sp>
      <p:sp>
        <p:nvSpPr>
          <p:cNvPr id="60" name="Text 58"/>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cuenta se da de alta siempre en Dynamics (1), porque es el sistema maestro fiscal y de gobierno. El PDB recibe la sincronización (2), enriquece la cuenta con contactos y actividades (3) y construye una vista 360º (4). A partir de ahí, la cuenta toma uno de tres roles: Propietario de activos (5a), Arrendatario que ocupa espacios (5b) o Inversor que adquiere producto (5c). Una misma cuenta puede tener varios roles simultáneamente.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Oportunidades (WIP)</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Match Oferta↔Demanda → handoff Dynamics → seguimiento WIP en PDB → avanza a Negociación o cierre Perdida</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Sistema operativo (origen y seguimiento)</a:t>
            </a:r>
            <a:endParaRPr lang="en-US" sz="900" dirty="0"/>
          </a:p>
        </p:txBody>
      </p:sp>
      <p:sp>
        <p:nvSpPr>
          <p:cNvPr id="13" name="Shape 11"/>
          <p:cNvSpPr/>
          <p:nvPr/>
        </p:nvSpPr>
        <p:spPr>
          <a:xfrm>
            <a:off x="274320" y="3154680"/>
            <a:ext cx="11640312" cy="2331720"/>
          </a:xfrm>
          <a:prstGeom prst="rect">
            <a:avLst/>
          </a:prstGeom>
          <a:solidFill>
            <a:srgbClr val="0078D4">
              <a:alpha val="12000"/>
            </a:srgbClr>
          </a:solidFill>
          <a:ln w="12700">
            <a:solidFill>
              <a:srgbClr val="0078D4"/>
            </a:solidFill>
            <a:prstDash val="dash"/>
          </a:ln>
        </p:spPr>
      </p:sp>
      <p:sp>
        <p:nvSpPr>
          <p:cNvPr id="14" name="Text 12"/>
          <p:cNvSpPr/>
          <p:nvPr/>
        </p:nvSpPr>
        <p:spPr>
          <a:xfrm>
            <a:off x="347472" y="319125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 · Sistema maestro (handoff #1)</a:t>
            </a:r>
            <a:endParaRPr lang="en-US" sz="900" dirty="0"/>
          </a:p>
        </p:txBody>
      </p:sp>
      <p:sp>
        <p:nvSpPr>
          <p:cNvPr id="15" name="Shape 13"/>
          <p:cNvSpPr/>
          <p:nvPr/>
        </p:nvSpPr>
        <p:spPr>
          <a:xfrm>
            <a:off x="45720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1325880"/>
            <a:ext cx="1691640" cy="109728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Oferta ↔</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Demanda</a:t>
            </a:r>
            <a:endParaRPr lang="en-US" sz="1000" dirty="0"/>
          </a:p>
        </p:txBody>
      </p:sp>
      <p:sp>
        <p:nvSpPr>
          <p:cNvPr id="17" name="Shape 15"/>
          <p:cNvSpPr/>
          <p:nvPr/>
        </p:nvSpPr>
        <p:spPr>
          <a:xfrm>
            <a:off x="34747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4231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4231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Click</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Transformar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en Oportunidad</a:t>
            </a:r>
            <a:endParaRPr lang="en-US" sz="1000" dirty="0"/>
          </a:p>
        </p:txBody>
      </p:sp>
      <p:sp>
        <p:nvSpPr>
          <p:cNvPr id="21" name="Shape 19"/>
          <p:cNvSpPr/>
          <p:nvPr/>
        </p:nvSpPr>
        <p:spPr>
          <a:xfrm>
            <a:off x="231343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23134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681228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681228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vuelta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WIP visible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en lectura</a:t>
            </a:r>
            <a:endParaRPr lang="en-US" sz="1000" dirty="0"/>
          </a:p>
        </p:txBody>
      </p:sp>
      <p:sp>
        <p:nvSpPr>
          <p:cNvPr id="25" name="Shape 23"/>
          <p:cNvSpPr/>
          <p:nvPr/>
        </p:nvSpPr>
        <p:spPr>
          <a:xfrm>
            <a:off x="670255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670255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7" name="Shape 25"/>
          <p:cNvSpPr/>
          <p:nvPr/>
        </p:nvSpPr>
        <p:spPr>
          <a:xfrm>
            <a:off x="868680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868680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Seguimiento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WIP</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actividades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visitas</a:t>
            </a:r>
            <a:endParaRPr lang="en-US" sz="1000" dirty="0"/>
          </a:p>
        </p:txBody>
      </p:sp>
      <p:sp>
        <p:nvSpPr>
          <p:cNvPr id="29" name="Shape 27"/>
          <p:cNvSpPr/>
          <p:nvPr/>
        </p:nvSpPr>
        <p:spPr>
          <a:xfrm>
            <a:off x="8577072" y="1216152"/>
            <a:ext cx="329184" cy="329184"/>
          </a:xfrm>
          <a:prstGeom prst="ellipse">
            <a:avLst/>
          </a:prstGeom>
          <a:solidFill>
            <a:srgbClr val="1A237E"/>
          </a:solidFill>
          <a:ln w="25400">
            <a:solidFill>
              <a:srgbClr val="FFFFFF"/>
            </a:solidFill>
            <a:prstDash val="solid"/>
          </a:ln>
        </p:spPr>
      </p:sp>
      <p:sp>
        <p:nvSpPr>
          <p:cNvPr id="30" name="Text 28"/>
          <p:cNvSpPr/>
          <p:nvPr/>
        </p:nvSpPr>
        <p:spPr>
          <a:xfrm>
            <a:off x="857707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Shape 29"/>
          <p:cNvSpPr/>
          <p:nvPr/>
        </p:nvSpPr>
        <p:spPr>
          <a:xfrm>
            <a:off x="10561320" y="1325880"/>
            <a:ext cx="128016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10561320" y="1325880"/>
            <a:ext cx="12801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Avanza 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p:txBody>
      </p:sp>
      <p:sp>
        <p:nvSpPr>
          <p:cNvPr id="33" name="Shape 31"/>
          <p:cNvSpPr/>
          <p:nvPr/>
        </p:nvSpPr>
        <p:spPr>
          <a:xfrm>
            <a:off x="10451592" y="1216152"/>
            <a:ext cx="329184" cy="329184"/>
          </a:xfrm>
          <a:prstGeom prst="ellipse">
            <a:avLst/>
          </a:prstGeom>
          <a:solidFill>
            <a:srgbClr val="1A237E"/>
          </a:solidFill>
          <a:ln w="25400">
            <a:solidFill>
              <a:srgbClr val="FFFFFF"/>
            </a:solidFill>
            <a:prstDash val="solid"/>
          </a:ln>
        </p:spPr>
      </p:sp>
      <p:sp>
        <p:nvSpPr>
          <p:cNvPr id="34" name="Text 32"/>
          <p:cNvSpPr/>
          <p:nvPr/>
        </p:nvSpPr>
        <p:spPr>
          <a:xfrm>
            <a:off x="1045159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a:t>
            </a:r>
            <a:endParaRPr lang="en-US" sz="1000" dirty="0"/>
          </a:p>
        </p:txBody>
      </p:sp>
      <p:sp>
        <p:nvSpPr>
          <p:cNvPr id="35" name="Shape 33"/>
          <p:cNvSpPr/>
          <p:nvPr/>
        </p:nvSpPr>
        <p:spPr>
          <a:xfrm>
            <a:off x="2743200" y="3657600"/>
            <a:ext cx="17830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2743200" y="3657600"/>
            <a:ext cx="178308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Apertura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Dynamics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datos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preasignados</a:t>
            </a:r>
            <a:endParaRPr lang="en-US" sz="1000" dirty="0"/>
          </a:p>
        </p:txBody>
      </p:sp>
      <p:sp>
        <p:nvSpPr>
          <p:cNvPr id="37" name="Shape 35"/>
          <p:cNvSpPr/>
          <p:nvPr/>
        </p:nvSpPr>
        <p:spPr>
          <a:xfrm>
            <a:off x="2633472" y="3547872"/>
            <a:ext cx="329184" cy="329184"/>
          </a:xfrm>
          <a:prstGeom prst="ellipse">
            <a:avLst/>
          </a:prstGeom>
          <a:solidFill>
            <a:srgbClr val="1A237E"/>
          </a:solidFill>
          <a:ln w="25400">
            <a:solidFill>
              <a:srgbClr val="FFFFFF"/>
            </a:solidFill>
            <a:prstDash val="solid"/>
          </a:ln>
        </p:spPr>
      </p:sp>
      <p:sp>
        <p:nvSpPr>
          <p:cNvPr id="38" name="Text 36"/>
          <p:cNvSpPr/>
          <p:nvPr/>
        </p:nvSpPr>
        <p:spPr>
          <a:xfrm>
            <a:off x="2633472" y="35478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Shape 37"/>
          <p:cNvSpPr/>
          <p:nvPr/>
        </p:nvSpPr>
        <p:spPr>
          <a:xfrm>
            <a:off x="4709160" y="3657600"/>
            <a:ext cx="17830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4709160" y="3657600"/>
            <a:ext cx="1783080" cy="137160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maestro WIP</a:t>
            </a:r>
            <a:endParaRPr lang="en-US" sz="1000" dirty="0"/>
          </a:p>
        </p:txBody>
      </p:sp>
      <p:sp>
        <p:nvSpPr>
          <p:cNvPr id="41" name="Shape 39"/>
          <p:cNvSpPr/>
          <p:nvPr/>
        </p:nvSpPr>
        <p:spPr>
          <a:xfrm>
            <a:off x="4599432" y="3547872"/>
            <a:ext cx="329184" cy="329184"/>
          </a:xfrm>
          <a:prstGeom prst="ellipse">
            <a:avLst/>
          </a:prstGeom>
          <a:solidFill>
            <a:srgbClr val="1A237E"/>
          </a:solidFill>
          <a:ln w="25400">
            <a:solidFill>
              <a:srgbClr val="FFFFFF"/>
            </a:solidFill>
            <a:prstDash val="solid"/>
          </a:ln>
        </p:spPr>
      </p:sp>
      <p:sp>
        <p:nvSpPr>
          <p:cNvPr id="42" name="Text 40"/>
          <p:cNvSpPr/>
          <p:nvPr/>
        </p:nvSpPr>
        <p:spPr>
          <a:xfrm>
            <a:off x="4599432" y="35478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Shape 41"/>
          <p:cNvSpPr/>
          <p:nvPr/>
        </p:nvSpPr>
        <p:spPr>
          <a:xfrm>
            <a:off x="8686800" y="3657600"/>
            <a:ext cx="1783080" cy="1371600"/>
          </a:xfrm>
          <a:prstGeom prst="roundRect">
            <a:avLst>
              <a:gd name="adj" fmla="val 5333"/>
            </a:avLst>
          </a:prstGeom>
          <a:solidFill>
            <a:srgbClr val="DC2626"/>
          </a:solidFill>
          <a:ln w="31750">
            <a:solidFill>
              <a:srgbClr val="991B1B"/>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8686800" y="3657600"/>
            <a:ext cx="178308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Perdida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motivo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lecciones</a:t>
            </a:r>
            <a:endParaRPr lang="en-US" sz="1000" dirty="0"/>
          </a:p>
        </p:txBody>
      </p:sp>
      <p:sp>
        <p:nvSpPr>
          <p:cNvPr id="45" name="Shape 43"/>
          <p:cNvSpPr/>
          <p:nvPr/>
        </p:nvSpPr>
        <p:spPr>
          <a:xfrm>
            <a:off x="8577072" y="3547872"/>
            <a:ext cx="329184" cy="329184"/>
          </a:xfrm>
          <a:prstGeom prst="ellipse">
            <a:avLst/>
          </a:prstGeom>
          <a:solidFill>
            <a:srgbClr val="1A237E"/>
          </a:solidFill>
          <a:ln w="25400">
            <a:solidFill>
              <a:srgbClr val="FFFFFF"/>
            </a:solidFill>
            <a:prstDash val="solid"/>
          </a:ln>
        </p:spPr>
      </p:sp>
      <p:sp>
        <p:nvSpPr>
          <p:cNvPr id="46" name="Text 44"/>
          <p:cNvSpPr/>
          <p:nvPr/>
        </p:nvSpPr>
        <p:spPr>
          <a:xfrm>
            <a:off x="8577072" y="35478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7b</a:t>
            </a:r>
            <a:endParaRPr lang="en-US" sz="1000" dirty="0"/>
          </a:p>
        </p:txBody>
      </p:sp>
      <p:sp>
        <p:nvSpPr>
          <p:cNvPr id="47" name="Shape 45"/>
          <p:cNvSpPr/>
          <p:nvPr/>
        </p:nvSpPr>
        <p:spPr>
          <a:xfrm>
            <a:off x="2148840" y="1874520"/>
            <a:ext cx="274320" cy="0"/>
          </a:xfrm>
          <a:prstGeom prst="line">
            <a:avLst/>
          </a:prstGeom>
          <a:noFill/>
          <a:ln w="22860">
            <a:solidFill>
              <a:srgbClr val="BDBDBD"/>
            </a:solidFill>
            <a:prstDash val="solid"/>
            <a:tailEnd type="arrow"/>
          </a:ln>
        </p:spPr>
      </p:sp>
      <p:sp>
        <p:nvSpPr>
          <p:cNvPr id="48" name="Shape 46"/>
          <p:cNvSpPr/>
          <p:nvPr/>
        </p:nvSpPr>
        <p:spPr>
          <a:xfrm>
            <a:off x="3291840" y="2423160"/>
            <a:ext cx="320040" cy="1234440"/>
          </a:xfrm>
          <a:prstGeom prst="line">
            <a:avLst/>
          </a:prstGeom>
          <a:noFill/>
          <a:ln w="22860">
            <a:solidFill>
              <a:srgbClr val="7C3AED"/>
            </a:solidFill>
            <a:prstDash val="solid"/>
            <a:tailEnd type="arrow"/>
          </a:ln>
        </p:spPr>
      </p:sp>
      <p:sp>
        <p:nvSpPr>
          <p:cNvPr id="49" name="Text 47"/>
          <p:cNvSpPr/>
          <p:nvPr/>
        </p:nvSpPr>
        <p:spPr>
          <a:xfrm>
            <a:off x="2857500" y="29215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abre</a:t>
            </a:r>
            <a:endParaRPr lang="en-US" sz="800" dirty="0"/>
          </a:p>
        </p:txBody>
      </p:sp>
      <p:sp>
        <p:nvSpPr>
          <p:cNvPr id="50" name="Shape 48"/>
          <p:cNvSpPr/>
          <p:nvPr/>
        </p:nvSpPr>
        <p:spPr>
          <a:xfrm>
            <a:off x="4526280" y="4343400"/>
            <a:ext cx="182880" cy="0"/>
          </a:xfrm>
          <a:prstGeom prst="line">
            <a:avLst/>
          </a:prstGeom>
          <a:noFill/>
          <a:ln w="22860">
            <a:solidFill>
              <a:srgbClr val="BDBDBD"/>
            </a:solidFill>
            <a:prstDash val="solid"/>
            <a:tailEnd type="arrow"/>
          </a:ln>
        </p:spPr>
      </p:sp>
      <p:sp>
        <p:nvSpPr>
          <p:cNvPr id="51" name="Shape 49"/>
          <p:cNvSpPr/>
          <p:nvPr/>
        </p:nvSpPr>
        <p:spPr>
          <a:xfrm>
            <a:off x="5577840" y="3657600"/>
            <a:ext cx="2103120" cy="-1234440"/>
          </a:xfrm>
          <a:prstGeom prst="line">
            <a:avLst/>
          </a:prstGeom>
          <a:noFill/>
          <a:ln w="22860">
            <a:solidFill>
              <a:srgbClr val="0078D4"/>
            </a:solidFill>
            <a:prstDash val="solid"/>
            <a:tailEnd type="arrow"/>
          </a:ln>
        </p:spPr>
      </p:sp>
      <p:sp>
        <p:nvSpPr>
          <p:cNvPr id="52" name="Text 50"/>
          <p:cNvSpPr/>
          <p:nvPr/>
        </p:nvSpPr>
        <p:spPr>
          <a:xfrm>
            <a:off x="6035040" y="29215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auto</a:t>
            </a:r>
            <a:endParaRPr lang="en-US" sz="800" dirty="0"/>
          </a:p>
        </p:txBody>
      </p:sp>
      <p:sp>
        <p:nvSpPr>
          <p:cNvPr id="53" name="Shape 51"/>
          <p:cNvSpPr/>
          <p:nvPr/>
        </p:nvSpPr>
        <p:spPr>
          <a:xfrm>
            <a:off x="8503920" y="1874520"/>
            <a:ext cx="182880" cy="0"/>
          </a:xfrm>
          <a:prstGeom prst="line">
            <a:avLst/>
          </a:prstGeom>
          <a:noFill/>
          <a:ln w="22860">
            <a:solidFill>
              <a:srgbClr val="BDBDBD"/>
            </a:solidFill>
            <a:prstDash val="solid"/>
            <a:tailEnd type="arrow"/>
          </a:ln>
        </p:spPr>
      </p:sp>
      <p:sp>
        <p:nvSpPr>
          <p:cNvPr id="54" name="Shape 52"/>
          <p:cNvSpPr/>
          <p:nvPr/>
        </p:nvSpPr>
        <p:spPr>
          <a:xfrm>
            <a:off x="10378440" y="1874520"/>
            <a:ext cx="182880" cy="0"/>
          </a:xfrm>
          <a:prstGeom prst="line">
            <a:avLst/>
          </a:prstGeom>
          <a:noFill/>
          <a:ln w="22860">
            <a:solidFill>
              <a:srgbClr val="BDBDBD"/>
            </a:solidFill>
            <a:prstDash val="solid"/>
            <a:tailEnd type="arrow"/>
          </a:ln>
        </p:spPr>
      </p:sp>
      <p:sp>
        <p:nvSpPr>
          <p:cNvPr id="55" name="Shape 53"/>
          <p:cNvSpPr/>
          <p:nvPr/>
        </p:nvSpPr>
        <p:spPr>
          <a:xfrm>
            <a:off x="9509760" y="2423160"/>
            <a:ext cx="0" cy="1234440"/>
          </a:xfrm>
          <a:prstGeom prst="line">
            <a:avLst/>
          </a:prstGeom>
          <a:noFill/>
          <a:ln w="22860">
            <a:solidFill>
              <a:srgbClr val="DC2626"/>
            </a:solidFill>
            <a:prstDash val="dash"/>
            <a:tailEnd type="arrow"/>
          </a:ln>
        </p:spPr>
      </p:sp>
      <p:sp>
        <p:nvSpPr>
          <p:cNvPr id="56" name="Text 54"/>
          <p:cNvSpPr/>
          <p:nvPr/>
        </p:nvSpPr>
        <p:spPr>
          <a:xfrm>
            <a:off x="8915400" y="29215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outcome</a:t>
            </a:r>
            <a:endParaRPr lang="en-US" sz="800" dirty="0"/>
          </a:p>
        </p:txBody>
      </p:sp>
      <p:sp>
        <p:nvSpPr>
          <p:cNvPr id="57" name="Shape 55"/>
          <p:cNvSpPr/>
          <p:nvPr/>
        </p:nvSpPr>
        <p:spPr>
          <a:xfrm>
            <a:off x="274320" y="5760720"/>
            <a:ext cx="11640312" cy="868680"/>
          </a:xfrm>
          <a:prstGeom prst="rect">
            <a:avLst/>
          </a:prstGeom>
          <a:solidFill>
            <a:srgbClr val="FFFFFF"/>
          </a:solidFill>
          <a:ln w="12700">
            <a:solidFill>
              <a:srgbClr val="E0E0E0"/>
            </a:solidFill>
            <a:prstDash val="solid"/>
          </a:ln>
        </p:spPr>
      </p:sp>
      <p:sp>
        <p:nvSpPr>
          <p:cNvPr id="58" name="Text 56"/>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Oportunidad NO es el origen del ciclo, es WIP intermedio. Nace cuando hay un match Oferta ↔ Demanda (1) con tracción real en el PDB. El broker pulsa Transformar en Oportunidad (2), abriendo Dynamics con datos preasignados (3) para que el usuario complete y cree el registro maestro (4). Dynamics sincroniza la oportunidad de vuelta al PDB en modo lectura (5), donde el broker continúa el seguimiento WIP (6). El estado avanza a Negociación (7a) si hay tracción, o se cierra como Perdida en Dynamics (7b). Es el primer cruce a Dynamics del ciclo comercial.</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Gestión de Activo</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Alta → vinculación Cuenta-Propietario (CRÍTICO) → publicación → demandas → visitas → ofertas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74320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59689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3246120" y="914400"/>
            <a:ext cx="866851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3319272" y="950976"/>
            <a:ext cx="85222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377440" cy="1828800"/>
          </a:xfrm>
          <a:prstGeom prst="roundRect">
            <a:avLst>
              <a:gd name="adj" fmla="val 4000"/>
            </a:avLst>
          </a:prstGeom>
          <a:solidFill>
            <a:srgbClr val="DC2626"/>
          </a:solidFill>
          <a:ln w="31750">
            <a:solidFill>
              <a:srgbClr val="991B1B"/>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377440" cy="18288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Cuenta-Propietario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vínculo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CRÍTICO</a:t>
            </a:r>
            <a:endParaRPr lang="en-US" sz="12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9" name="Shape 17"/>
          <p:cNvSpPr/>
          <p:nvPr/>
        </p:nvSpPr>
        <p:spPr>
          <a:xfrm>
            <a:off x="352044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52044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Alta 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Ref + dirección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uso</a:t>
            </a:r>
            <a:endParaRPr lang="en-US" sz="1000" dirty="0"/>
          </a:p>
        </p:txBody>
      </p:sp>
      <p:sp>
        <p:nvSpPr>
          <p:cNvPr id="21" name="Shape 19"/>
          <p:cNvSpPr/>
          <p:nvPr/>
        </p:nvSpPr>
        <p:spPr>
          <a:xfrm>
            <a:off x="3410712" y="1353312"/>
            <a:ext cx="329184" cy="329184"/>
          </a:xfrm>
          <a:prstGeom prst="ellipse">
            <a:avLst/>
          </a:prstGeom>
          <a:solidFill>
            <a:srgbClr val="1A237E"/>
          </a:solidFill>
          <a:ln w="25400">
            <a:solidFill>
              <a:srgbClr val="FFFFFF"/>
            </a:solidFill>
            <a:prstDash val="solid"/>
          </a:ln>
        </p:spPr>
      </p:sp>
      <p:sp>
        <p:nvSpPr>
          <p:cNvPr id="22" name="Text 20"/>
          <p:cNvSpPr/>
          <p:nvPr/>
        </p:nvSpPr>
        <p:spPr>
          <a:xfrm>
            <a:off x="34107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Shape 21"/>
          <p:cNvSpPr/>
          <p:nvPr/>
        </p:nvSpPr>
        <p:spPr>
          <a:xfrm>
            <a:off x="544068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544068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Disponibilidad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fotos</a:t>
            </a:r>
            <a:endParaRPr lang="en-US" sz="1000" dirty="0"/>
          </a:p>
        </p:txBody>
      </p:sp>
      <p:sp>
        <p:nvSpPr>
          <p:cNvPr id="25" name="Shape 23"/>
          <p:cNvSpPr/>
          <p:nvPr/>
        </p:nvSpPr>
        <p:spPr>
          <a:xfrm>
            <a:off x="5330952" y="1353312"/>
            <a:ext cx="329184" cy="329184"/>
          </a:xfrm>
          <a:prstGeom prst="ellipse">
            <a:avLst/>
          </a:prstGeom>
          <a:solidFill>
            <a:srgbClr val="1A237E"/>
          </a:solidFill>
          <a:ln w="25400">
            <a:solidFill>
              <a:srgbClr val="FFFFFF"/>
            </a:solidFill>
            <a:prstDash val="solid"/>
          </a:ln>
        </p:spPr>
      </p:sp>
      <p:sp>
        <p:nvSpPr>
          <p:cNvPr id="26" name="Text 24"/>
          <p:cNvSpPr/>
          <p:nvPr/>
        </p:nvSpPr>
        <p:spPr>
          <a:xfrm>
            <a:off x="533095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736092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736092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Recepción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Matching entrante</a:t>
            </a:r>
            <a:endParaRPr lang="en-US" sz="1000" dirty="0"/>
          </a:p>
        </p:txBody>
      </p:sp>
      <p:sp>
        <p:nvSpPr>
          <p:cNvPr id="29" name="Shape 27"/>
          <p:cNvSpPr/>
          <p:nvPr/>
        </p:nvSpPr>
        <p:spPr>
          <a:xfrm>
            <a:off x="7251192" y="1353312"/>
            <a:ext cx="329184" cy="329184"/>
          </a:xfrm>
          <a:prstGeom prst="ellipse">
            <a:avLst/>
          </a:prstGeom>
          <a:solidFill>
            <a:srgbClr val="1A237E"/>
          </a:solidFill>
          <a:ln w="25400">
            <a:solidFill>
              <a:srgbClr val="FFFFFF"/>
            </a:solidFill>
            <a:prstDash val="solid"/>
          </a:ln>
        </p:spPr>
      </p:sp>
      <p:sp>
        <p:nvSpPr>
          <p:cNvPr id="30" name="Text 28"/>
          <p:cNvSpPr/>
          <p:nvPr/>
        </p:nvSpPr>
        <p:spPr>
          <a:xfrm>
            <a:off x="725119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928116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28116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Agenda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reporting</a:t>
            </a:r>
            <a:endParaRPr lang="en-US" sz="1000" dirty="0"/>
          </a:p>
        </p:txBody>
      </p:sp>
      <p:sp>
        <p:nvSpPr>
          <p:cNvPr id="33" name="Shape 31"/>
          <p:cNvSpPr/>
          <p:nvPr/>
        </p:nvSpPr>
        <p:spPr>
          <a:xfrm>
            <a:off x="917143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917143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7360920" y="402336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7360920" y="402336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Vinculadas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 activo</a:t>
            </a:r>
            <a:endParaRPr lang="en-US" sz="1000" dirty="0"/>
          </a:p>
        </p:txBody>
      </p:sp>
      <p:sp>
        <p:nvSpPr>
          <p:cNvPr id="37" name="Shape 35"/>
          <p:cNvSpPr/>
          <p:nvPr/>
        </p:nvSpPr>
        <p:spPr>
          <a:xfrm>
            <a:off x="7251192" y="3913632"/>
            <a:ext cx="329184" cy="329184"/>
          </a:xfrm>
          <a:prstGeom prst="ellipse">
            <a:avLst/>
          </a:prstGeom>
          <a:solidFill>
            <a:srgbClr val="1A237E"/>
          </a:solidFill>
          <a:ln w="25400">
            <a:solidFill>
              <a:srgbClr val="FFFFFF"/>
            </a:solidFill>
            <a:prstDash val="solid"/>
          </a:ln>
        </p:spPr>
      </p:sp>
      <p:sp>
        <p:nvSpPr>
          <p:cNvPr id="38" name="Text 36"/>
          <p:cNvSpPr/>
          <p:nvPr/>
        </p:nvSpPr>
        <p:spPr>
          <a:xfrm>
            <a:off x="7251192" y="39136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Shape 37"/>
          <p:cNvSpPr/>
          <p:nvPr/>
        </p:nvSpPr>
        <p:spPr>
          <a:xfrm>
            <a:off x="5257800" y="1920240"/>
            <a:ext cx="182880" cy="0"/>
          </a:xfrm>
          <a:prstGeom prst="line">
            <a:avLst/>
          </a:prstGeom>
          <a:noFill/>
          <a:ln w="22860">
            <a:solidFill>
              <a:srgbClr val="BDBDBD"/>
            </a:solidFill>
            <a:prstDash val="solid"/>
            <a:tailEnd type="arrow"/>
          </a:ln>
        </p:spPr>
      </p:sp>
      <p:sp>
        <p:nvSpPr>
          <p:cNvPr id="40" name="Shape 38"/>
          <p:cNvSpPr/>
          <p:nvPr/>
        </p:nvSpPr>
        <p:spPr>
          <a:xfrm>
            <a:off x="7178040" y="1920240"/>
            <a:ext cx="182880" cy="0"/>
          </a:xfrm>
          <a:prstGeom prst="line">
            <a:avLst/>
          </a:prstGeom>
          <a:noFill/>
          <a:ln w="22860">
            <a:solidFill>
              <a:srgbClr val="BDBDBD"/>
            </a:solidFill>
            <a:prstDash val="solid"/>
            <a:tailEnd type="arrow"/>
          </a:ln>
        </p:spPr>
      </p:sp>
      <p:sp>
        <p:nvSpPr>
          <p:cNvPr id="41" name="Shape 39"/>
          <p:cNvSpPr/>
          <p:nvPr/>
        </p:nvSpPr>
        <p:spPr>
          <a:xfrm>
            <a:off x="9098280" y="1920240"/>
            <a:ext cx="182880" cy="0"/>
          </a:xfrm>
          <a:prstGeom prst="line">
            <a:avLst/>
          </a:prstGeom>
          <a:noFill/>
          <a:ln w="22860">
            <a:solidFill>
              <a:srgbClr val="BDBDBD"/>
            </a:solidFill>
            <a:prstDash val="solid"/>
            <a:tailEnd type="arrow"/>
          </a:ln>
        </p:spPr>
      </p:sp>
      <p:sp>
        <p:nvSpPr>
          <p:cNvPr id="42" name="Shape 40"/>
          <p:cNvSpPr/>
          <p:nvPr/>
        </p:nvSpPr>
        <p:spPr>
          <a:xfrm>
            <a:off x="10149840" y="2377440"/>
            <a:ext cx="-1920240" cy="1645920"/>
          </a:xfrm>
          <a:prstGeom prst="line">
            <a:avLst/>
          </a:prstGeom>
          <a:noFill/>
          <a:ln w="22860">
            <a:solidFill>
              <a:srgbClr val="BDBDBD"/>
            </a:solidFill>
            <a:prstDash val="solid"/>
            <a:tailEnd type="arrow"/>
          </a:ln>
        </p:spPr>
      </p:sp>
      <p:sp>
        <p:nvSpPr>
          <p:cNvPr id="43" name="Shape 41"/>
          <p:cNvSpPr/>
          <p:nvPr/>
        </p:nvSpPr>
        <p:spPr>
          <a:xfrm>
            <a:off x="2834640" y="2286000"/>
            <a:ext cx="685800" cy="-365760"/>
          </a:xfrm>
          <a:prstGeom prst="line">
            <a:avLst/>
          </a:prstGeom>
          <a:noFill/>
          <a:ln w="38100">
            <a:solidFill>
              <a:srgbClr val="DC2626"/>
            </a:solidFill>
            <a:prstDash val="solid"/>
            <a:headEnd type="arrow"/>
            <a:tailEnd type="arrow"/>
          </a:ln>
        </p:spPr>
      </p:sp>
      <p:sp>
        <p:nvSpPr>
          <p:cNvPr id="44" name="Text 42"/>
          <p:cNvSpPr/>
          <p:nvPr/>
        </p:nvSpPr>
        <p:spPr>
          <a:xfrm>
            <a:off x="2651760" y="1783080"/>
            <a:ext cx="1097280" cy="201168"/>
          </a:xfrm>
          <a:prstGeom prst="rect">
            <a:avLst/>
          </a:prstGeom>
          <a:noFill/>
          <a:ln/>
        </p:spPr>
        <p:txBody>
          <a:bodyPr wrap="square" rtlCol="0" anchor="ctr"/>
          <a:lstStyle/>
          <a:p>
            <a:pPr algn="ctr" indent="0" marL="0">
              <a:buNone/>
            </a:pPr>
            <a:r>
              <a:rPr lang="en-US" sz="800" b="1" dirty="0">
                <a:solidFill>
                  <a:srgbClr val="DC2626"/>
                </a:solidFill>
                <a:latin typeface="Calibri" pitchFamily="34" charset="0"/>
                <a:ea typeface="Calibri" pitchFamily="34" charset="-122"/>
                <a:cs typeface="Calibri" pitchFamily="34" charset="-120"/>
              </a:rPr>
              <a:t>FK obligatorio</a:t>
            </a:r>
            <a:endParaRPr lang="en-US" sz="800" dirty="0"/>
          </a:p>
        </p:txBody>
      </p:sp>
      <p:sp>
        <p:nvSpPr>
          <p:cNvPr id="45" name="Shape 43"/>
          <p:cNvSpPr/>
          <p:nvPr/>
        </p:nvSpPr>
        <p:spPr>
          <a:xfrm>
            <a:off x="2834640" y="3200400"/>
            <a:ext cx="685800" cy="-1371600"/>
          </a:xfrm>
          <a:prstGeom prst="line">
            <a:avLst/>
          </a:prstGeom>
          <a:noFill/>
          <a:ln w="22860">
            <a:solidFill>
              <a:srgbClr val="0078D4"/>
            </a:solidFill>
            <a:prstDash val="dash"/>
            <a:tailEnd type="arrow"/>
          </a:ln>
        </p:spPr>
      </p:sp>
      <p:sp>
        <p:nvSpPr>
          <p:cNvPr id="46" name="Text 44"/>
          <p:cNvSpPr/>
          <p:nvPr/>
        </p:nvSpPr>
        <p:spPr>
          <a:xfrm>
            <a:off x="2583180" y="23957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datos</a:t>
            </a:r>
            <a:endParaRPr lang="en-US" sz="800" dirty="0"/>
          </a:p>
        </p:txBody>
      </p:sp>
      <p:sp>
        <p:nvSpPr>
          <p:cNvPr id="47" name="Shape 45"/>
          <p:cNvSpPr/>
          <p:nvPr/>
        </p:nvSpPr>
        <p:spPr>
          <a:xfrm>
            <a:off x="274320" y="5760720"/>
            <a:ext cx="11640312" cy="868680"/>
          </a:xfrm>
          <a:prstGeom prst="rect">
            <a:avLst/>
          </a:prstGeom>
          <a:solidFill>
            <a:srgbClr val="FFFFFF"/>
          </a:solidFill>
          <a:ln w="12700">
            <a:solidFill>
              <a:srgbClr val="E0E0E0"/>
            </a:solidFill>
            <a:prstDash val="solid"/>
          </a:ln>
        </p:spPr>
      </p:sp>
      <p:sp>
        <p:nvSpPr>
          <p:cNvPr id="48" name="Text 46"/>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alta del activo (1) es la primera operación que el broker realiza en el PDB. Antes de cualquier publicación, el activo debe vincularse a una Cuenta-Propietario en Dynamics (2): este FK es obligatorio y bloqueante. Una vez vinculado, el activo se publica con disponibilidad y fotos (3), recibe demandas entrantes (4), genera visitas (5) y, en su caso, ofertas (6). Toda la información heredable (titular, fiscal, contactos) se sincroniza desde la cuenta.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Gestión de Demanda</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Cuenta-Arrendatario → alta demanda → matching contra Ofertas → visitas → shortlist → match definitivo</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46888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32257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2971800" y="914400"/>
            <a:ext cx="894283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3044952" y="950976"/>
            <a:ext cx="879652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103120" cy="1645920"/>
          </a:xfrm>
          <a:prstGeom prst="roundRect">
            <a:avLst>
              <a:gd name="adj" fmla="val 444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103120" cy="1645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Cuenta-</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Arrendatario</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origen demanda</a:t>
            </a:r>
            <a:endParaRPr lang="en-US" sz="11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20040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20040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Alta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uso + sup</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renta máx</a:t>
            </a:r>
            <a:endParaRPr lang="en-US" sz="1000" dirty="0"/>
          </a:p>
        </p:txBody>
      </p:sp>
      <p:sp>
        <p:nvSpPr>
          <p:cNvPr id="21" name="Shape 19"/>
          <p:cNvSpPr/>
          <p:nvPr/>
        </p:nvSpPr>
        <p:spPr>
          <a:xfrm>
            <a:off x="3090672" y="2359152"/>
            <a:ext cx="329184" cy="329184"/>
          </a:xfrm>
          <a:prstGeom prst="ellipse">
            <a:avLst/>
          </a:prstGeom>
          <a:solidFill>
            <a:srgbClr val="1A237E"/>
          </a:solidFill>
          <a:ln w="25400">
            <a:solidFill>
              <a:srgbClr val="FFFFFF"/>
            </a:solidFill>
            <a:prstDash val="solid"/>
          </a:ln>
        </p:spPr>
      </p:sp>
      <p:sp>
        <p:nvSpPr>
          <p:cNvPr id="22" name="Text 20"/>
          <p:cNvSpPr/>
          <p:nvPr/>
        </p:nvSpPr>
        <p:spPr>
          <a:xfrm>
            <a:off x="309067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93776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93776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Matching 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cruce automático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(no contra activos)</a:t>
            </a:r>
            <a:endParaRPr lang="en-US" sz="1000" dirty="0"/>
          </a:p>
        </p:txBody>
      </p:sp>
      <p:sp>
        <p:nvSpPr>
          <p:cNvPr id="25" name="Shape 23"/>
          <p:cNvSpPr/>
          <p:nvPr/>
        </p:nvSpPr>
        <p:spPr>
          <a:xfrm>
            <a:off x="4828032" y="2359152"/>
            <a:ext cx="329184" cy="329184"/>
          </a:xfrm>
          <a:prstGeom prst="ellipse">
            <a:avLst/>
          </a:prstGeom>
          <a:solidFill>
            <a:srgbClr val="1A237E"/>
          </a:solidFill>
          <a:ln w="25400">
            <a:solidFill>
              <a:srgbClr val="FFFFFF"/>
            </a:solidFill>
            <a:prstDash val="solid"/>
          </a:ln>
        </p:spPr>
      </p:sp>
      <p:sp>
        <p:nvSpPr>
          <p:cNvPr id="26" name="Text 24"/>
          <p:cNvSpPr/>
          <p:nvPr/>
        </p:nvSpPr>
        <p:spPr>
          <a:xfrm>
            <a:off x="48280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67512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67512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presencial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 virtual</a:t>
            </a:r>
            <a:endParaRPr lang="en-US" sz="1000" dirty="0"/>
          </a:p>
        </p:txBody>
      </p:sp>
      <p:sp>
        <p:nvSpPr>
          <p:cNvPr id="29" name="Shape 27"/>
          <p:cNvSpPr/>
          <p:nvPr/>
        </p:nvSpPr>
        <p:spPr>
          <a:xfrm>
            <a:off x="6565392" y="2359152"/>
            <a:ext cx="329184" cy="329184"/>
          </a:xfrm>
          <a:prstGeom prst="ellipse">
            <a:avLst/>
          </a:prstGeom>
          <a:solidFill>
            <a:srgbClr val="1A237E"/>
          </a:solidFill>
          <a:ln w="25400">
            <a:solidFill>
              <a:srgbClr val="FFFFFF"/>
            </a:solidFill>
            <a:prstDash val="solid"/>
          </a:ln>
        </p:spPr>
      </p:sp>
      <p:sp>
        <p:nvSpPr>
          <p:cNvPr id="30" name="Text 28"/>
          <p:cNvSpPr/>
          <p:nvPr/>
        </p:nvSpPr>
        <p:spPr>
          <a:xfrm>
            <a:off x="65653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841248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841248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Shortlist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preselección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 Ofertas</a:t>
            </a:r>
            <a:endParaRPr lang="en-US" sz="1000" dirty="0"/>
          </a:p>
        </p:txBody>
      </p:sp>
      <p:sp>
        <p:nvSpPr>
          <p:cNvPr id="33" name="Shape 31"/>
          <p:cNvSpPr/>
          <p:nvPr/>
        </p:nvSpPr>
        <p:spPr>
          <a:xfrm>
            <a:off x="8302752" y="2359152"/>
            <a:ext cx="329184" cy="329184"/>
          </a:xfrm>
          <a:prstGeom prst="ellipse">
            <a:avLst/>
          </a:prstGeom>
          <a:solidFill>
            <a:srgbClr val="1A237E"/>
          </a:solidFill>
          <a:ln w="25400">
            <a:solidFill>
              <a:srgbClr val="FFFFFF"/>
            </a:solidFill>
            <a:prstDash val="solid"/>
          </a:ln>
        </p:spPr>
      </p:sp>
      <p:sp>
        <p:nvSpPr>
          <p:cNvPr id="34" name="Text 32"/>
          <p:cNvSpPr/>
          <p:nvPr/>
        </p:nvSpPr>
        <p:spPr>
          <a:xfrm>
            <a:off x="83027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1014984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1014984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definitivo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handoff 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p:txBody>
      </p:sp>
      <p:sp>
        <p:nvSpPr>
          <p:cNvPr id="37" name="Shape 35"/>
          <p:cNvSpPr/>
          <p:nvPr/>
        </p:nvSpPr>
        <p:spPr>
          <a:xfrm>
            <a:off x="10040112" y="2359152"/>
            <a:ext cx="329184" cy="329184"/>
          </a:xfrm>
          <a:prstGeom prst="ellipse">
            <a:avLst/>
          </a:prstGeom>
          <a:solidFill>
            <a:srgbClr val="1A237E"/>
          </a:solidFill>
          <a:ln w="25400">
            <a:solidFill>
              <a:srgbClr val="FFFFFF"/>
            </a:solidFill>
            <a:prstDash val="solid"/>
          </a:ln>
        </p:spPr>
      </p:sp>
      <p:sp>
        <p:nvSpPr>
          <p:cNvPr id="38" name="Text 36"/>
          <p:cNvSpPr/>
          <p:nvPr/>
        </p:nvSpPr>
        <p:spPr>
          <a:xfrm>
            <a:off x="100401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Shape 37"/>
          <p:cNvSpPr/>
          <p:nvPr/>
        </p:nvSpPr>
        <p:spPr>
          <a:xfrm>
            <a:off x="2560320" y="3108960"/>
            <a:ext cx="640080" cy="0"/>
          </a:xfrm>
          <a:prstGeom prst="line">
            <a:avLst/>
          </a:prstGeom>
          <a:noFill/>
          <a:ln w="22860">
            <a:solidFill>
              <a:srgbClr val="DC2626"/>
            </a:solidFill>
            <a:prstDash val="solid"/>
            <a:tailEnd type="arrow"/>
          </a:ln>
        </p:spPr>
      </p:sp>
      <p:sp>
        <p:nvSpPr>
          <p:cNvPr id="40" name="Text 38"/>
          <p:cNvSpPr/>
          <p:nvPr/>
        </p:nvSpPr>
        <p:spPr>
          <a:xfrm>
            <a:off x="2286000" y="299008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FK obligatorio</a:t>
            </a:r>
            <a:endParaRPr lang="en-US" sz="800" dirty="0"/>
          </a:p>
        </p:txBody>
      </p:sp>
      <p:sp>
        <p:nvSpPr>
          <p:cNvPr id="41" name="Shape 39"/>
          <p:cNvSpPr/>
          <p:nvPr/>
        </p:nvSpPr>
        <p:spPr>
          <a:xfrm>
            <a:off x="4754880" y="3108960"/>
            <a:ext cx="182880" cy="0"/>
          </a:xfrm>
          <a:prstGeom prst="line">
            <a:avLst/>
          </a:prstGeom>
          <a:noFill/>
          <a:ln w="22860">
            <a:solidFill>
              <a:srgbClr val="BDBDBD"/>
            </a:solidFill>
            <a:prstDash val="solid"/>
            <a:tailEnd type="arrow"/>
          </a:ln>
        </p:spPr>
      </p:sp>
      <p:sp>
        <p:nvSpPr>
          <p:cNvPr id="42" name="Shape 40"/>
          <p:cNvSpPr/>
          <p:nvPr/>
        </p:nvSpPr>
        <p:spPr>
          <a:xfrm>
            <a:off x="6492240" y="3108960"/>
            <a:ext cx="182880" cy="0"/>
          </a:xfrm>
          <a:prstGeom prst="line">
            <a:avLst/>
          </a:prstGeom>
          <a:noFill/>
          <a:ln w="22860">
            <a:solidFill>
              <a:srgbClr val="BDBDBD"/>
            </a:solidFill>
            <a:prstDash val="solid"/>
            <a:tailEnd type="arrow"/>
          </a:ln>
        </p:spPr>
      </p:sp>
      <p:sp>
        <p:nvSpPr>
          <p:cNvPr id="43" name="Shape 41"/>
          <p:cNvSpPr/>
          <p:nvPr/>
        </p:nvSpPr>
        <p:spPr>
          <a:xfrm>
            <a:off x="8229600" y="3108960"/>
            <a:ext cx="182880" cy="0"/>
          </a:xfrm>
          <a:prstGeom prst="line">
            <a:avLst/>
          </a:prstGeom>
          <a:noFill/>
          <a:ln w="22860">
            <a:solidFill>
              <a:srgbClr val="BDBDBD"/>
            </a:solidFill>
            <a:prstDash val="solid"/>
            <a:tailEnd type="arrow"/>
          </a:ln>
        </p:spPr>
      </p:sp>
      <p:sp>
        <p:nvSpPr>
          <p:cNvPr id="44" name="Shape 42"/>
          <p:cNvSpPr/>
          <p:nvPr/>
        </p:nvSpPr>
        <p:spPr>
          <a:xfrm>
            <a:off x="9966960" y="3108960"/>
            <a:ext cx="182880" cy="0"/>
          </a:xfrm>
          <a:prstGeom prst="line">
            <a:avLst/>
          </a:prstGeom>
          <a:noFill/>
          <a:ln w="22860">
            <a:solidFill>
              <a:srgbClr val="BDBDBD"/>
            </a:solidFill>
            <a:prstDash val="solid"/>
            <a:tailEnd type="arrow"/>
          </a:ln>
        </p:spPr>
      </p:sp>
      <p:sp>
        <p:nvSpPr>
          <p:cNvPr id="45" name="Shape 43"/>
          <p:cNvSpPr/>
          <p:nvPr/>
        </p:nvSpPr>
        <p:spPr>
          <a:xfrm>
            <a:off x="274320" y="5760720"/>
            <a:ext cx="11640312" cy="868680"/>
          </a:xfrm>
          <a:prstGeom prst="rect">
            <a:avLst/>
          </a:prstGeom>
          <a:solidFill>
            <a:srgbClr val="FFFFFF"/>
          </a:solidFill>
          <a:ln w="12700">
            <a:solidFill>
              <a:srgbClr val="E0E0E0"/>
            </a:solidFill>
            <a:prstDash val="solid"/>
          </a:ln>
        </p:spPr>
      </p:sp>
      <p:sp>
        <p:nvSpPr>
          <p:cNvPr id="46" name="Text 44"/>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Toda demanda parte de una Cuenta-Arrendatario en Dynamics (1). El broker da de alta la demanda en el PDB (2) con el perfil de búsqueda. El sistema realiza un matching automático contra las Ofertas publicadas (3) — no contra activos sueltos: el activo está detrás de cada oferta, pero el cruce comercial es Demanda↔Oferta. Se ejecutan visitas (4) y se construye una shortlist de ofertas (5) hasta llegar al match definitivo (6) que dispara el handoff a Oportunidad WIP.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Flujo de Oferta</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Producto al mercado: creación sobre Activo → publicación → match con demanda → handoff a Oportunidad WIP → cierre</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54864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4" name="Text 12"/>
          <p:cNvSpPr/>
          <p:nvPr/>
        </p:nvSpPr>
        <p:spPr>
          <a:xfrm>
            <a:off x="54864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cuelga del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a:t>
            </a:r>
            <a:endParaRPr lang="en-US" sz="1000" dirty="0"/>
          </a:p>
        </p:txBody>
      </p:sp>
      <p:sp>
        <p:nvSpPr>
          <p:cNvPr id="15" name="Shape 13"/>
          <p:cNvSpPr/>
          <p:nvPr/>
        </p:nvSpPr>
        <p:spPr>
          <a:xfrm>
            <a:off x="438912" y="2359152"/>
            <a:ext cx="329184" cy="329184"/>
          </a:xfrm>
          <a:prstGeom prst="ellipse">
            <a:avLst/>
          </a:prstGeom>
          <a:solidFill>
            <a:srgbClr val="1A237E"/>
          </a:solidFill>
          <a:ln w="25400">
            <a:solidFill>
              <a:srgbClr val="FFFFFF"/>
            </a:solidFill>
            <a:prstDash val="solid"/>
          </a:ln>
        </p:spPr>
      </p:sp>
      <p:sp>
        <p:nvSpPr>
          <p:cNvPr id="16" name="Text 14"/>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Shape 15"/>
          <p:cNvSpPr/>
          <p:nvPr/>
        </p:nvSpPr>
        <p:spPr>
          <a:xfrm>
            <a:off x="242316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242316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activa 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mercado</a:t>
            </a:r>
            <a:endParaRPr lang="en-US" sz="1000" dirty="0"/>
          </a:p>
        </p:txBody>
      </p:sp>
      <p:sp>
        <p:nvSpPr>
          <p:cNvPr id="19" name="Shape 17"/>
          <p:cNvSpPr/>
          <p:nvPr/>
        </p:nvSpPr>
        <p:spPr>
          <a:xfrm>
            <a:off x="2313432" y="2359152"/>
            <a:ext cx="329184" cy="329184"/>
          </a:xfrm>
          <a:prstGeom prst="ellipse">
            <a:avLst/>
          </a:prstGeom>
          <a:solidFill>
            <a:srgbClr val="1A237E"/>
          </a:solidFill>
          <a:ln w="25400">
            <a:solidFill>
              <a:srgbClr val="FFFFFF"/>
            </a:solidFill>
            <a:prstDash val="solid"/>
          </a:ln>
        </p:spPr>
      </p:sp>
      <p:sp>
        <p:nvSpPr>
          <p:cNvPr id="20" name="Text 18"/>
          <p:cNvSpPr/>
          <p:nvPr/>
        </p:nvSpPr>
        <p:spPr>
          <a:xfrm>
            <a:off x="23134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1" name="Shape 19"/>
          <p:cNvSpPr/>
          <p:nvPr/>
        </p:nvSpPr>
        <p:spPr>
          <a:xfrm>
            <a:off x="429768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2" name="Text 20"/>
          <p:cNvSpPr/>
          <p:nvPr/>
        </p:nvSpPr>
        <p:spPr>
          <a:xfrm>
            <a:off x="429768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Recepción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interés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 que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machean</a:t>
            </a:r>
            <a:endParaRPr lang="en-US" sz="1000" dirty="0"/>
          </a:p>
        </p:txBody>
      </p:sp>
      <p:sp>
        <p:nvSpPr>
          <p:cNvPr id="23" name="Shape 21"/>
          <p:cNvSpPr/>
          <p:nvPr/>
        </p:nvSpPr>
        <p:spPr>
          <a:xfrm>
            <a:off x="4187952" y="2359152"/>
            <a:ext cx="329184" cy="329184"/>
          </a:xfrm>
          <a:prstGeom prst="ellipse">
            <a:avLst/>
          </a:prstGeom>
          <a:solidFill>
            <a:srgbClr val="1A237E"/>
          </a:solidFill>
          <a:ln w="25400">
            <a:solidFill>
              <a:srgbClr val="FFFFFF"/>
            </a:solidFill>
            <a:prstDash val="solid"/>
          </a:ln>
        </p:spPr>
      </p:sp>
      <p:sp>
        <p:nvSpPr>
          <p:cNvPr id="24" name="Text 22"/>
          <p:cNvSpPr/>
          <p:nvPr/>
        </p:nvSpPr>
        <p:spPr>
          <a:xfrm>
            <a:off x="41879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5" name="Shape 23"/>
          <p:cNvSpPr/>
          <p:nvPr/>
        </p:nvSpPr>
        <p:spPr>
          <a:xfrm>
            <a:off x="617220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6" name="Text 24"/>
          <p:cNvSpPr/>
          <p:nvPr/>
        </p:nvSpPr>
        <p:spPr>
          <a:xfrm>
            <a:off x="617220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concreta</a:t>
            </a:r>
            <a:endParaRPr lang="en-US" sz="1000" dirty="0"/>
          </a:p>
        </p:txBody>
      </p:sp>
      <p:sp>
        <p:nvSpPr>
          <p:cNvPr id="27" name="Shape 25"/>
          <p:cNvSpPr/>
          <p:nvPr/>
        </p:nvSpPr>
        <p:spPr>
          <a:xfrm>
            <a:off x="6062472" y="2359152"/>
            <a:ext cx="329184" cy="329184"/>
          </a:xfrm>
          <a:prstGeom prst="ellipse">
            <a:avLst/>
          </a:prstGeom>
          <a:solidFill>
            <a:srgbClr val="1A237E"/>
          </a:solidFill>
          <a:ln w="25400">
            <a:solidFill>
              <a:srgbClr val="FFFFFF"/>
            </a:solidFill>
            <a:prstDash val="solid"/>
          </a:ln>
        </p:spPr>
      </p:sp>
      <p:sp>
        <p:nvSpPr>
          <p:cNvPr id="28" name="Text 26"/>
          <p:cNvSpPr/>
          <p:nvPr/>
        </p:nvSpPr>
        <p:spPr>
          <a:xfrm>
            <a:off x="606247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9" name="Shape 27"/>
          <p:cNvSpPr/>
          <p:nvPr/>
        </p:nvSpPr>
        <p:spPr>
          <a:xfrm>
            <a:off x="804672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0" name="Text 28"/>
          <p:cNvSpPr/>
          <p:nvPr/>
        </p:nvSpPr>
        <p:spPr>
          <a:xfrm>
            <a:off x="804672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Handoff</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lockeada</a:t>
            </a:r>
            <a:endParaRPr lang="en-US" sz="1000" dirty="0"/>
          </a:p>
        </p:txBody>
      </p:sp>
      <p:sp>
        <p:nvSpPr>
          <p:cNvPr id="31" name="Shape 29"/>
          <p:cNvSpPr/>
          <p:nvPr/>
        </p:nvSpPr>
        <p:spPr>
          <a:xfrm>
            <a:off x="7936992" y="2359152"/>
            <a:ext cx="329184" cy="329184"/>
          </a:xfrm>
          <a:prstGeom prst="ellipse">
            <a:avLst/>
          </a:prstGeom>
          <a:solidFill>
            <a:srgbClr val="1A237E"/>
          </a:solidFill>
          <a:ln w="25400">
            <a:solidFill>
              <a:srgbClr val="FFFFFF"/>
            </a:solidFill>
            <a:prstDash val="solid"/>
          </a:ln>
        </p:spPr>
      </p:sp>
      <p:sp>
        <p:nvSpPr>
          <p:cNvPr id="32" name="Text 30"/>
          <p:cNvSpPr/>
          <p:nvPr/>
        </p:nvSpPr>
        <p:spPr>
          <a:xfrm>
            <a:off x="79369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Shape 31"/>
          <p:cNvSpPr/>
          <p:nvPr/>
        </p:nvSpPr>
        <p:spPr>
          <a:xfrm>
            <a:off x="992124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4" name="Text 32"/>
          <p:cNvSpPr/>
          <p:nvPr/>
        </p:nvSpPr>
        <p:spPr>
          <a:xfrm>
            <a:off x="992124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retirada del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mercado</a:t>
            </a:r>
            <a:endParaRPr lang="en-US" sz="1000" dirty="0"/>
          </a:p>
        </p:txBody>
      </p:sp>
      <p:sp>
        <p:nvSpPr>
          <p:cNvPr id="35" name="Shape 33"/>
          <p:cNvSpPr/>
          <p:nvPr/>
        </p:nvSpPr>
        <p:spPr>
          <a:xfrm>
            <a:off x="9811512" y="2359152"/>
            <a:ext cx="329184" cy="329184"/>
          </a:xfrm>
          <a:prstGeom prst="ellipse">
            <a:avLst/>
          </a:prstGeom>
          <a:solidFill>
            <a:srgbClr val="1A237E"/>
          </a:solidFill>
          <a:ln w="25400">
            <a:solidFill>
              <a:srgbClr val="FFFFFF"/>
            </a:solidFill>
            <a:prstDash val="solid"/>
          </a:ln>
        </p:spPr>
      </p:sp>
      <p:sp>
        <p:nvSpPr>
          <p:cNvPr id="36" name="Text 34"/>
          <p:cNvSpPr/>
          <p:nvPr/>
        </p:nvSpPr>
        <p:spPr>
          <a:xfrm>
            <a:off x="98115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7" name="Shape 35"/>
          <p:cNvSpPr/>
          <p:nvPr/>
        </p:nvSpPr>
        <p:spPr>
          <a:xfrm>
            <a:off x="2240280" y="3246120"/>
            <a:ext cx="182880" cy="0"/>
          </a:xfrm>
          <a:prstGeom prst="line">
            <a:avLst/>
          </a:prstGeom>
          <a:noFill/>
          <a:ln w="22860">
            <a:solidFill>
              <a:srgbClr val="BDBDBD"/>
            </a:solidFill>
            <a:prstDash val="solid"/>
            <a:tailEnd type="arrow"/>
          </a:ln>
        </p:spPr>
      </p:sp>
      <p:sp>
        <p:nvSpPr>
          <p:cNvPr id="38" name="Shape 36"/>
          <p:cNvSpPr/>
          <p:nvPr/>
        </p:nvSpPr>
        <p:spPr>
          <a:xfrm>
            <a:off x="4114800" y="3246120"/>
            <a:ext cx="182880" cy="0"/>
          </a:xfrm>
          <a:prstGeom prst="line">
            <a:avLst/>
          </a:prstGeom>
          <a:noFill/>
          <a:ln w="22860">
            <a:solidFill>
              <a:srgbClr val="BDBDBD"/>
            </a:solidFill>
            <a:prstDash val="solid"/>
            <a:tailEnd type="arrow"/>
          </a:ln>
        </p:spPr>
      </p:sp>
      <p:sp>
        <p:nvSpPr>
          <p:cNvPr id="39" name="Shape 37"/>
          <p:cNvSpPr/>
          <p:nvPr/>
        </p:nvSpPr>
        <p:spPr>
          <a:xfrm>
            <a:off x="5989320" y="3246120"/>
            <a:ext cx="182880" cy="0"/>
          </a:xfrm>
          <a:prstGeom prst="line">
            <a:avLst/>
          </a:prstGeom>
          <a:noFill/>
          <a:ln w="22860">
            <a:solidFill>
              <a:srgbClr val="BDBDBD"/>
            </a:solidFill>
            <a:prstDash val="solid"/>
            <a:tailEnd type="arrow"/>
          </a:ln>
        </p:spPr>
      </p:sp>
      <p:sp>
        <p:nvSpPr>
          <p:cNvPr id="40" name="Shape 38"/>
          <p:cNvSpPr/>
          <p:nvPr/>
        </p:nvSpPr>
        <p:spPr>
          <a:xfrm>
            <a:off x="7863840" y="3246120"/>
            <a:ext cx="182880" cy="0"/>
          </a:xfrm>
          <a:prstGeom prst="line">
            <a:avLst/>
          </a:prstGeom>
          <a:noFill/>
          <a:ln w="22860">
            <a:solidFill>
              <a:srgbClr val="BDBDBD"/>
            </a:solidFill>
            <a:prstDash val="solid"/>
            <a:tailEnd type="arrow"/>
          </a:ln>
        </p:spPr>
      </p:sp>
      <p:sp>
        <p:nvSpPr>
          <p:cNvPr id="41" name="Shape 39"/>
          <p:cNvSpPr/>
          <p:nvPr/>
        </p:nvSpPr>
        <p:spPr>
          <a:xfrm>
            <a:off x="9738360" y="3246120"/>
            <a:ext cx="182880" cy="0"/>
          </a:xfrm>
          <a:prstGeom prst="line">
            <a:avLst/>
          </a:prstGeom>
          <a:noFill/>
          <a:ln w="22860">
            <a:solidFill>
              <a:srgbClr val="BDBDBD"/>
            </a:solidFill>
            <a:prstDash val="solid"/>
            <a:tailEnd type="arrow"/>
          </a:ln>
        </p:spPr>
      </p:sp>
      <p:sp>
        <p:nvSpPr>
          <p:cNvPr id="42" name="Shape 40"/>
          <p:cNvSpPr/>
          <p:nvPr/>
        </p:nvSpPr>
        <p:spPr>
          <a:xfrm>
            <a:off x="274320" y="5760720"/>
            <a:ext cx="11640312" cy="868680"/>
          </a:xfrm>
          <a:prstGeom prst="rect">
            <a:avLst/>
          </a:prstGeom>
          <a:solidFill>
            <a:srgbClr val="FFFFFF"/>
          </a:solidFill>
          <a:ln w="12700">
            <a:solidFill>
              <a:srgbClr val="E0E0E0"/>
            </a:solidFill>
            <a:prstDash val="solid"/>
          </a:ln>
        </p:spPr>
      </p:sp>
      <p:sp>
        <p:nvSpPr>
          <p:cNvPr id="43" name="Text 41"/>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oferta es el producto disponible al mercado: cuelga del Activo y existe antes de que llegue la demanda concreta que la captura. Se crea (1) sobre el activo con las condiciones publicables, se activa al mercado (2) y empieza a recibir interés de demandas que machean (3). Cuando una demanda concreta selecciona la oferta (4), se ejecuta el handoff a Oportunidad WIP (5) y la oferta queda lockeada — ya no admite nuevas demandas. Tras la transacción o si se retira, la oferta se cierra (6). La oferta es el contenedor de mercado, no el contenedor de la transacción.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Negociación</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Apertura desde Oportunidad WIP → intercambio condiciones → tabla evolutiva → acuerdo final → handoff #2 a Instrucción</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8229600"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8083296"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8732520" y="914400"/>
            <a:ext cx="3182112" cy="4572000"/>
          </a:xfrm>
          <a:prstGeom prst="rect">
            <a:avLst/>
          </a:prstGeom>
          <a:solidFill>
            <a:srgbClr val="0078D4">
              <a:alpha val="12000"/>
            </a:srgbClr>
          </a:solidFill>
          <a:ln w="12700">
            <a:solidFill>
              <a:srgbClr val="0078D4"/>
            </a:solidFill>
            <a:prstDash val="dash"/>
          </a:ln>
        </p:spPr>
      </p:sp>
      <p:sp>
        <p:nvSpPr>
          <p:cNvPr id="14" name="Text 12"/>
          <p:cNvSpPr/>
          <p:nvPr/>
        </p:nvSpPr>
        <p:spPr>
          <a:xfrm>
            <a:off x="8805672" y="950976"/>
            <a:ext cx="30358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Apertura hilo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desde 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WIP</a:t>
            </a:r>
            <a:endParaRPr lang="en-US" sz="1000" dirty="0"/>
          </a:p>
        </p:txBody>
      </p:sp>
      <p:sp>
        <p:nvSpPr>
          <p:cNvPr id="17" name="Shape 15"/>
          <p:cNvSpPr/>
          <p:nvPr/>
        </p:nvSpPr>
        <p:spPr>
          <a:xfrm>
            <a:off x="438912" y="2359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46888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46888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Intercambio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chat + adjuntos</a:t>
            </a:r>
            <a:endParaRPr lang="en-US" sz="1000" dirty="0"/>
          </a:p>
        </p:txBody>
      </p:sp>
      <p:sp>
        <p:nvSpPr>
          <p:cNvPr id="21" name="Shape 19"/>
          <p:cNvSpPr/>
          <p:nvPr/>
        </p:nvSpPr>
        <p:spPr>
          <a:xfrm>
            <a:off x="2359152" y="2359152"/>
            <a:ext cx="329184" cy="329184"/>
          </a:xfrm>
          <a:prstGeom prst="ellipse">
            <a:avLst/>
          </a:prstGeom>
          <a:solidFill>
            <a:srgbClr val="1A237E"/>
          </a:solidFill>
          <a:ln w="25400">
            <a:solidFill>
              <a:srgbClr val="FFFFFF"/>
            </a:solidFill>
            <a:prstDash val="solid"/>
          </a:ln>
        </p:spPr>
      </p:sp>
      <p:sp>
        <p:nvSpPr>
          <p:cNvPr id="22" name="Text 20"/>
          <p:cNvSpPr/>
          <p:nvPr/>
        </p:nvSpPr>
        <p:spPr>
          <a:xfrm>
            <a:off x="23591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38912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38912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Tabla evolutiva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versiones lado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lado</a:t>
            </a:r>
            <a:endParaRPr lang="en-US" sz="1000" dirty="0"/>
          </a:p>
        </p:txBody>
      </p:sp>
      <p:sp>
        <p:nvSpPr>
          <p:cNvPr id="25" name="Shape 23"/>
          <p:cNvSpPr/>
          <p:nvPr/>
        </p:nvSpPr>
        <p:spPr>
          <a:xfrm>
            <a:off x="4279392" y="2359152"/>
            <a:ext cx="329184" cy="329184"/>
          </a:xfrm>
          <a:prstGeom prst="ellipse">
            <a:avLst/>
          </a:prstGeom>
          <a:solidFill>
            <a:srgbClr val="1A237E"/>
          </a:solidFill>
          <a:ln w="25400">
            <a:solidFill>
              <a:srgbClr val="FFFFFF"/>
            </a:solidFill>
            <a:prstDash val="solid"/>
          </a:ln>
        </p:spPr>
      </p:sp>
      <p:sp>
        <p:nvSpPr>
          <p:cNvPr id="26" name="Text 24"/>
          <p:cNvSpPr/>
          <p:nvPr/>
        </p:nvSpPr>
        <p:spPr>
          <a:xfrm>
            <a:off x="42793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30936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30936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Acuerdo final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firma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29" name="Shape 27"/>
          <p:cNvSpPr/>
          <p:nvPr/>
        </p:nvSpPr>
        <p:spPr>
          <a:xfrm>
            <a:off x="6199632" y="2359152"/>
            <a:ext cx="329184" cy="329184"/>
          </a:xfrm>
          <a:prstGeom prst="ellipse">
            <a:avLst/>
          </a:prstGeom>
          <a:solidFill>
            <a:srgbClr val="1A237E"/>
          </a:solidFill>
          <a:ln w="25400">
            <a:solidFill>
              <a:srgbClr val="FFFFFF"/>
            </a:solidFill>
            <a:prstDash val="solid"/>
          </a:ln>
        </p:spPr>
      </p:sp>
      <p:sp>
        <p:nvSpPr>
          <p:cNvPr id="30" name="Text 28"/>
          <p:cNvSpPr/>
          <p:nvPr/>
        </p:nvSpPr>
        <p:spPr>
          <a:xfrm>
            <a:off x="61996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9006840" y="2468880"/>
            <a:ext cx="1783080" cy="1554480"/>
          </a:xfrm>
          <a:prstGeom prst="roundRect">
            <a:avLst>
              <a:gd name="adj" fmla="val 4706"/>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00684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Handoff #2</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creación 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maestro</a:t>
            </a:r>
            <a:endParaRPr lang="en-US" sz="1000" dirty="0"/>
          </a:p>
        </p:txBody>
      </p:sp>
      <p:sp>
        <p:nvSpPr>
          <p:cNvPr id="33" name="Shape 31"/>
          <p:cNvSpPr/>
          <p:nvPr/>
        </p:nvSpPr>
        <p:spPr>
          <a:xfrm>
            <a:off x="8897112" y="2359152"/>
            <a:ext cx="329184" cy="329184"/>
          </a:xfrm>
          <a:prstGeom prst="ellipse">
            <a:avLst/>
          </a:prstGeom>
          <a:solidFill>
            <a:srgbClr val="1A237E"/>
          </a:solidFill>
          <a:ln w="25400">
            <a:solidFill>
              <a:srgbClr val="FFFFFF"/>
            </a:solidFill>
            <a:prstDash val="solid"/>
          </a:ln>
        </p:spPr>
      </p:sp>
      <p:sp>
        <p:nvSpPr>
          <p:cNvPr id="34" name="Text 32"/>
          <p:cNvSpPr/>
          <p:nvPr/>
        </p:nvSpPr>
        <p:spPr>
          <a:xfrm>
            <a:off x="88971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331720" y="3246120"/>
            <a:ext cx="137160" cy="0"/>
          </a:xfrm>
          <a:prstGeom prst="line">
            <a:avLst/>
          </a:prstGeom>
          <a:noFill/>
          <a:ln w="22860">
            <a:solidFill>
              <a:srgbClr val="BDBDBD"/>
            </a:solidFill>
            <a:prstDash val="solid"/>
            <a:tailEnd type="arrow"/>
          </a:ln>
        </p:spPr>
      </p:sp>
      <p:sp>
        <p:nvSpPr>
          <p:cNvPr id="36" name="Shape 34"/>
          <p:cNvSpPr/>
          <p:nvPr/>
        </p:nvSpPr>
        <p:spPr>
          <a:xfrm>
            <a:off x="4251960" y="3246120"/>
            <a:ext cx="137160" cy="0"/>
          </a:xfrm>
          <a:prstGeom prst="line">
            <a:avLst/>
          </a:prstGeom>
          <a:noFill/>
          <a:ln w="22860">
            <a:solidFill>
              <a:srgbClr val="BDBDBD"/>
            </a:solidFill>
            <a:prstDash val="solid"/>
            <a:tailEnd type="arrow"/>
          </a:ln>
        </p:spPr>
      </p:sp>
      <p:sp>
        <p:nvSpPr>
          <p:cNvPr id="37" name="Shape 35"/>
          <p:cNvSpPr/>
          <p:nvPr/>
        </p:nvSpPr>
        <p:spPr>
          <a:xfrm>
            <a:off x="6172200" y="3246120"/>
            <a:ext cx="137160" cy="0"/>
          </a:xfrm>
          <a:prstGeom prst="line">
            <a:avLst/>
          </a:prstGeom>
          <a:noFill/>
          <a:ln w="22860">
            <a:solidFill>
              <a:srgbClr val="BDBDBD"/>
            </a:solidFill>
            <a:prstDash val="solid"/>
            <a:tailEnd type="arrow"/>
          </a:ln>
        </p:spPr>
      </p:sp>
      <p:sp>
        <p:nvSpPr>
          <p:cNvPr id="38" name="Shape 36"/>
          <p:cNvSpPr/>
          <p:nvPr/>
        </p:nvSpPr>
        <p:spPr>
          <a:xfrm>
            <a:off x="8092440" y="3246120"/>
            <a:ext cx="914400" cy="0"/>
          </a:xfrm>
          <a:prstGeom prst="line">
            <a:avLst/>
          </a:prstGeom>
          <a:noFill/>
          <a:ln w="22860">
            <a:solidFill>
              <a:srgbClr val="7C3AED"/>
            </a:solidFill>
            <a:prstDash val="solid"/>
            <a:tailEnd type="arrow"/>
          </a:ln>
        </p:spPr>
      </p:sp>
      <p:sp>
        <p:nvSpPr>
          <p:cNvPr id="39" name="Text 37"/>
          <p:cNvSpPr/>
          <p:nvPr/>
        </p:nvSpPr>
        <p:spPr>
          <a:xfrm>
            <a:off x="7955280" y="31272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 #2</a:t>
            </a:r>
            <a:endParaRPr lang="en-US" sz="800" dirty="0"/>
          </a:p>
        </p:txBody>
      </p:sp>
      <p:sp>
        <p:nvSpPr>
          <p:cNvPr id="40" name="Shape 38"/>
          <p:cNvSpPr/>
          <p:nvPr/>
        </p:nvSpPr>
        <p:spPr>
          <a:xfrm>
            <a:off x="274320" y="5760720"/>
            <a:ext cx="11640312" cy="868680"/>
          </a:xfrm>
          <a:prstGeom prst="rect">
            <a:avLst/>
          </a:prstGeom>
          <a:solidFill>
            <a:srgbClr val="FFFFFF"/>
          </a:solidFill>
          <a:ln w="12700">
            <a:solidFill>
              <a:srgbClr val="E0E0E0"/>
            </a:solidFill>
            <a:prstDash val="solid"/>
          </a:ln>
        </p:spPr>
      </p:sp>
      <p:sp>
        <p:nvSpPr>
          <p:cNvPr id="41" name="Text 39"/>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negociación abre un hilo formal a partir de la Oportunidad WIP (1) — no directamente desde la oferta. Las partes intercambian condiciones documentadas en un chat con adjuntos (2), y el PDB mantiene una tabla evolutiva con todas las versiones lado a lado (3) para trazabilidad. Cuando se alcanza el acuerdo final (4), se ejecuta el handoff #2 a Dynamics (5) para crear la Instrucción maestra. No existe contrato sin Instrucción en Dynamics.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Instrucción / Transacción</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Cierre Negociación → Instrucción Dynamics → contrato → sync → Transacción → honorarios → archivo</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274320" y="3108960"/>
            <a:ext cx="11640312" cy="2377440"/>
          </a:xfrm>
          <a:prstGeom prst="rect">
            <a:avLst/>
          </a:prstGeom>
          <a:solidFill>
            <a:srgbClr val="0078D4">
              <a:alpha val="12000"/>
            </a:srgbClr>
          </a:solidFill>
          <a:ln w="12700">
            <a:solidFill>
              <a:srgbClr val="0078D4"/>
            </a:solidFill>
            <a:prstDash val="dash"/>
          </a:ln>
        </p:spPr>
      </p:sp>
      <p:sp>
        <p:nvSpPr>
          <p:cNvPr id="14" name="Text 12"/>
          <p:cNvSpPr/>
          <p:nvPr/>
        </p:nvSpPr>
        <p:spPr>
          <a:xfrm>
            <a:off x="347472" y="314553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acuerdo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alcanzado</a:t>
            </a:r>
            <a:endParaRPr lang="en-US" sz="1000" dirty="0"/>
          </a:p>
        </p:txBody>
      </p:sp>
      <p:sp>
        <p:nvSpPr>
          <p:cNvPr id="17" name="Shape 15"/>
          <p:cNvSpPr/>
          <p:nvPr/>
        </p:nvSpPr>
        <p:spPr>
          <a:xfrm>
            <a:off x="43891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67665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67665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Transacción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vista lectura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PDB</a:t>
            </a:r>
            <a:endParaRPr lang="en-US" sz="1000" dirty="0"/>
          </a:p>
        </p:txBody>
      </p:sp>
      <p:sp>
        <p:nvSpPr>
          <p:cNvPr id="21" name="Shape 19"/>
          <p:cNvSpPr/>
          <p:nvPr/>
        </p:nvSpPr>
        <p:spPr>
          <a:xfrm>
            <a:off x="665683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66568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3" name="Shape 21"/>
          <p:cNvSpPr/>
          <p:nvPr/>
        </p:nvSpPr>
        <p:spPr>
          <a:xfrm>
            <a:off x="85953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85953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Facturación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honorarios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cálculo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emisión</a:t>
            </a:r>
            <a:endParaRPr lang="en-US" sz="1000" dirty="0"/>
          </a:p>
        </p:txBody>
      </p:sp>
      <p:sp>
        <p:nvSpPr>
          <p:cNvPr id="25" name="Shape 23"/>
          <p:cNvSpPr/>
          <p:nvPr/>
        </p:nvSpPr>
        <p:spPr>
          <a:xfrm>
            <a:off x="848563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84856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7" name="Shape 25"/>
          <p:cNvSpPr/>
          <p:nvPr/>
        </p:nvSpPr>
        <p:spPr>
          <a:xfrm>
            <a:off x="10424160" y="1325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10424160" y="1325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Archivo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operación</a:t>
            </a:r>
            <a:endParaRPr lang="en-US" sz="1000" dirty="0"/>
          </a:p>
        </p:txBody>
      </p:sp>
      <p:sp>
        <p:nvSpPr>
          <p:cNvPr id="29" name="Shape 27"/>
          <p:cNvSpPr/>
          <p:nvPr/>
        </p:nvSpPr>
        <p:spPr>
          <a:xfrm>
            <a:off x="10314432" y="1216152"/>
            <a:ext cx="329184" cy="329184"/>
          </a:xfrm>
          <a:prstGeom prst="ellipse">
            <a:avLst/>
          </a:prstGeom>
          <a:solidFill>
            <a:srgbClr val="1A237E"/>
          </a:solidFill>
          <a:ln w="25400">
            <a:solidFill>
              <a:srgbClr val="FFFFFF"/>
            </a:solidFill>
            <a:prstDash val="solid"/>
          </a:ln>
        </p:spPr>
      </p:sp>
      <p:sp>
        <p:nvSpPr>
          <p:cNvPr id="30" name="Text 28"/>
          <p:cNvSpPr/>
          <p:nvPr/>
        </p:nvSpPr>
        <p:spPr>
          <a:xfrm>
            <a:off x="103144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1" name="Shape 29"/>
          <p:cNvSpPr/>
          <p:nvPr/>
        </p:nvSpPr>
        <p:spPr>
          <a:xfrm>
            <a:off x="91440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1440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maestro</a:t>
            </a:r>
            <a:endParaRPr lang="en-US" sz="1000" dirty="0"/>
          </a:p>
        </p:txBody>
      </p:sp>
      <p:sp>
        <p:nvSpPr>
          <p:cNvPr id="33" name="Shape 31"/>
          <p:cNvSpPr/>
          <p:nvPr/>
        </p:nvSpPr>
        <p:spPr>
          <a:xfrm>
            <a:off x="804672" y="3502152"/>
            <a:ext cx="329184" cy="329184"/>
          </a:xfrm>
          <a:prstGeom prst="ellipse">
            <a:avLst/>
          </a:prstGeom>
          <a:solidFill>
            <a:srgbClr val="1A237E"/>
          </a:solidFill>
          <a:ln w="25400">
            <a:solidFill>
              <a:srgbClr val="FFFFFF"/>
            </a:solidFill>
            <a:prstDash val="solid"/>
          </a:ln>
        </p:spPr>
      </p:sp>
      <p:sp>
        <p:nvSpPr>
          <p:cNvPr id="34" name="Text 32"/>
          <p:cNvSpPr/>
          <p:nvPr/>
        </p:nvSpPr>
        <p:spPr>
          <a:xfrm>
            <a:off x="8046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5" name="Shape 33"/>
          <p:cNvSpPr/>
          <p:nvPr/>
        </p:nvSpPr>
        <p:spPr>
          <a:xfrm>
            <a:off x="278892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278892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Formalización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firma + legal</a:t>
            </a:r>
            <a:endParaRPr lang="en-US" sz="1000" dirty="0"/>
          </a:p>
        </p:txBody>
      </p:sp>
      <p:sp>
        <p:nvSpPr>
          <p:cNvPr id="37" name="Shape 35"/>
          <p:cNvSpPr/>
          <p:nvPr/>
        </p:nvSpPr>
        <p:spPr>
          <a:xfrm>
            <a:off x="2679192" y="3502152"/>
            <a:ext cx="329184" cy="329184"/>
          </a:xfrm>
          <a:prstGeom prst="ellipse">
            <a:avLst/>
          </a:prstGeom>
          <a:solidFill>
            <a:srgbClr val="1A237E"/>
          </a:solidFill>
          <a:ln w="25400">
            <a:solidFill>
              <a:srgbClr val="FFFFFF"/>
            </a:solidFill>
            <a:prstDash val="solid"/>
          </a:ln>
        </p:spPr>
      </p:sp>
      <p:sp>
        <p:nvSpPr>
          <p:cNvPr id="38" name="Text 36"/>
          <p:cNvSpPr/>
          <p:nvPr/>
        </p:nvSpPr>
        <p:spPr>
          <a:xfrm>
            <a:off x="26791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Shape 37"/>
          <p:cNvSpPr/>
          <p:nvPr/>
        </p:nvSpPr>
        <p:spPr>
          <a:xfrm>
            <a:off x="466344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466344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vuelta PDB</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auto</a:t>
            </a:r>
            <a:endParaRPr lang="en-US" sz="1000" dirty="0"/>
          </a:p>
        </p:txBody>
      </p:sp>
      <p:sp>
        <p:nvSpPr>
          <p:cNvPr id="41" name="Shape 39"/>
          <p:cNvSpPr/>
          <p:nvPr/>
        </p:nvSpPr>
        <p:spPr>
          <a:xfrm>
            <a:off x="4553712" y="3502152"/>
            <a:ext cx="329184" cy="329184"/>
          </a:xfrm>
          <a:prstGeom prst="ellipse">
            <a:avLst/>
          </a:prstGeom>
          <a:solidFill>
            <a:srgbClr val="1A237E"/>
          </a:solidFill>
          <a:ln w="25400">
            <a:solidFill>
              <a:srgbClr val="FFFFFF"/>
            </a:solidFill>
            <a:prstDash val="solid"/>
          </a:ln>
        </p:spPr>
      </p:sp>
      <p:sp>
        <p:nvSpPr>
          <p:cNvPr id="42" name="Text 40"/>
          <p:cNvSpPr/>
          <p:nvPr/>
        </p:nvSpPr>
        <p:spPr>
          <a:xfrm>
            <a:off x="455371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Shape 41"/>
          <p:cNvSpPr/>
          <p:nvPr/>
        </p:nvSpPr>
        <p:spPr>
          <a:xfrm>
            <a:off x="1371600" y="2423160"/>
            <a:ext cx="365760" cy="1188720"/>
          </a:xfrm>
          <a:prstGeom prst="line">
            <a:avLst/>
          </a:prstGeom>
          <a:noFill/>
          <a:ln w="22860">
            <a:solidFill>
              <a:srgbClr val="7C3AED"/>
            </a:solidFill>
            <a:prstDash val="solid"/>
            <a:tailEnd type="arrow"/>
          </a:ln>
        </p:spPr>
      </p:sp>
      <p:sp>
        <p:nvSpPr>
          <p:cNvPr id="44" name="Text 42"/>
          <p:cNvSpPr/>
          <p:nvPr/>
        </p:nvSpPr>
        <p:spPr>
          <a:xfrm>
            <a:off x="96012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a:t>
            </a:r>
            <a:endParaRPr lang="en-US" sz="800" dirty="0"/>
          </a:p>
        </p:txBody>
      </p:sp>
      <p:sp>
        <p:nvSpPr>
          <p:cNvPr id="45" name="Shape 43"/>
          <p:cNvSpPr/>
          <p:nvPr/>
        </p:nvSpPr>
        <p:spPr>
          <a:xfrm>
            <a:off x="2606040" y="4297680"/>
            <a:ext cx="182880" cy="0"/>
          </a:xfrm>
          <a:prstGeom prst="line">
            <a:avLst/>
          </a:prstGeom>
          <a:noFill/>
          <a:ln w="22860">
            <a:solidFill>
              <a:srgbClr val="BDBDBD"/>
            </a:solidFill>
            <a:prstDash val="solid"/>
            <a:tailEnd type="arrow"/>
          </a:ln>
        </p:spPr>
      </p:sp>
      <p:sp>
        <p:nvSpPr>
          <p:cNvPr id="46" name="Shape 44"/>
          <p:cNvSpPr/>
          <p:nvPr/>
        </p:nvSpPr>
        <p:spPr>
          <a:xfrm>
            <a:off x="4480560" y="4297680"/>
            <a:ext cx="182880" cy="0"/>
          </a:xfrm>
          <a:prstGeom prst="line">
            <a:avLst/>
          </a:prstGeom>
          <a:noFill/>
          <a:ln w="22860">
            <a:solidFill>
              <a:srgbClr val="BDBDBD"/>
            </a:solidFill>
            <a:prstDash val="solid"/>
            <a:tailEnd type="arrow"/>
          </a:ln>
        </p:spPr>
      </p:sp>
      <p:sp>
        <p:nvSpPr>
          <p:cNvPr id="47" name="Shape 45"/>
          <p:cNvSpPr/>
          <p:nvPr/>
        </p:nvSpPr>
        <p:spPr>
          <a:xfrm>
            <a:off x="6355080" y="4297680"/>
            <a:ext cx="960120" cy="-1874520"/>
          </a:xfrm>
          <a:prstGeom prst="line">
            <a:avLst/>
          </a:prstGeom>
          <a:noFill/>
          <a:ln w="22860">
            <a:solidFill>
              <a:srgbClr val="0078D4"/>
            </a:solidFill>
            <a:prstDash val="solid"/>
            <a:tailEnd type="arrow"/>
          </a:ln>
        </p:spPr>
      </p:sp>
      <p:sp>
        <p:nvSpPr>
          <p:cNvPr id="48" name="Text 46"/>
          <p:cNvSpPr/>
          <p:nvPr/>
        </p:nvSpPr>
        <p:spPr>
          <a:xfrm>
            <a:off x="6240780" y="32415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49" name="Shape 47"/>
          <p:cNvSpPr/>
          <p:nvPr/>
        </p:nvSpPr>
        <p:spPr>
          <a:xfrm>
            <a:off x="8458200" y="1874520"/>
            <a:ext cx="137160" cy="0"/>
          </a:xfrm>
          <a:prstGeom prst="line">
            <a:avLst/>
          </a:prstGeom>
          <a:noFill/>
          <a:ln w="22860">
            <a:solidFill>
              <a:srgbClr val="BDBDBD"/>
            </a:solidFill>
            <a:prstDash val="solid"/>
            <a:tailEnd type="arrow"/>
          </a:ln>
        </p:spPr>
      </p:sp>
      <p:sp>
        <p:nvSpPr>
          <p:cNvPr id="50" name="Shape 48"/>
          <p:cNvSpPr/>
          <p:nvPr/>
        </p:nvSpPr>
        <p:spPr>
          <a:xfrm>
            <a:off x="10287000" y="1874520"/>
            <a:ext cx="137160" cy="0"/>
          </a:xfrm>
          <a:prstGeom prst="line">
            <a:avLst/>
          </a:prstGeom>
          <a:noFill/>
          <a:ln w="22860">
            <a:solidFill>
              <a:srgbClr val="BDBDBD"/>
            </a:solidFill>
            <a:prstDash val="solid"/>
            <a:tailEnd type="arrow"/>
          </a:ln>
        </p:spPr>
      </p:sp>
      <p:sp>
        <p:nvSpPr>
          <p:cNvPr id="51" name="Shape 49"/>
          <p:cNvSpPr/>
          <p:nvPr/>
        </p:nvSpPr>
        <p:spPr>
          <a:xfrm>
            <a:off x="274320" y="5760720"/>
            <a:ext cx="11640312" cy="868680"/>
          </a:xfrm>
          <a:prstGeom prst="rect">
            <a:avLst/>
          </a:prstGeom>
          <a:solidFill>
            <a:srgbClr val="FFFFFF"/>
          </a:solidFill>
          <a:ln w="12700">
            <a:solidFill>
              <a:srgbClr val="E0E0E0"/>
            </a:solidFill>
            <a:prstDash val="solid"/>
          </a:ln>
        </p:spPr>
      </p:sp>
      <p:sp>
        <p:nvSpPr>
          <p:cNvPr id="52" name="Text 50"/>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cierre de la negociación (1) lanza la creación de la Instrucción en Dynamics (2), donde se formaliza el contrato con el visto bueno legal (3). Una vez firmado, Dynamics sincroniza el registro de vuelta al PDB (4), que lo muestra como Transacción en modo lectura (5). Sobre esa transacción se calculan y emiten los honorarios (6) y, finalmente, se archiva la operación (7). Este es el único camino válido para registrar ingresos.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9</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Actividades y seguimiento</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Email · Llamada · Reunión → vinculación a entidad (siempre) → Tarea derivada → Cierre</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Transversal a todos los módulos</a:t>
            </a:r>
            <a:endParaRPr lang="en-US" sz="900" dirty="0"/>
          </a:p>
        </p:txBody>
      </p:sp>
      <p:sp>
        <p:nvSpPr>
          <p:cNvPr id="13" name="Shape 11"/>
          <p:cNvSpPr/>
          <p:nvPr/>
        </p:nvSpPr>
        <p:spPr>
          <a:xfrm>
            <a:off x="548640" y="146304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14" name="Text 12"/>
          <p:cNvSpPr/>
          <p:nvPr/>
        </p:nvSpPr>
        <p:spPr>
          <a:xfrm>
            <a:off x="548640" y="146304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Email</a:t>
            </a:r>
            <a:endParaRPr lang="en-US" sz="1100" dirty="0"/>
          </a:p>
        </p:txBody>
      </p:sp>
      <p:sp>
        <p:nvSpPr>
          <p:cNvPr id="15" name="Shape 13"/>
          <p:cNvSpPr/>
          <p:nvPr/>
        </p:nvSpPr>
        <p:spPr>
          <a:xfrm>
            <a:off x="438912" y="1353312"/>
            <a:ext cx="329184" cy="329184"/>
          </a:xfrm>
          <a:prstGeom prst="ellipse">
            <a:avLst/>
          </a:prstGeom>
          <a:solidFill>
            <a:srgbClr val="1A237E"/>
          </a:solidFill>
          <a:ln w="25400">
            <a:solidFill>
              <a:srgbClr val="FFFFFF"/>
            </a:solidFill>
            <a:prstDash val="solid"/>
          </a:ln>
        </p:spPr>
      </p:sp>
      <p:sp>
        <p:nvSpPr>
          <p:cNvPr id="16" name="Text 14"/>
          <p:cNvSpPr/>
          <p:nvPr/>
        </p:nvSpPr>
        <p:spPr>
          <a:xfrm>
            <a:off x="4389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a:t>
            </a:r>
            <a:endParaRPr lang="en-US" sz="1000" dirty="0"/>
          </a:p>
        </p:txBody>
      </p:sp>
      <p:sp>
        <p:nvSpPr>
          <p:cNvPr id="17" name="Shape 15"/>
          <p:cNvSpPr/>
          <p:nvPr/>
        </p:nvSpPr>
        <p:spPr>
          <a:xfrm>
            <a:off x="548640" y="246888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548640" y="246888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Llamada</a:t>
            </a:r>
            <a:endParaRPr lang="en-US" sz="1100" dirty="0"/>
          </a:p>
        </p:txBody>
      </p:sp>
      <p:sp>
        <p:nvSpPr>
          <p:cNvPr id="19" name="Shape 17"/>
          <p:cNvSpPr/>
          <p:nvPr/>
        </p:nvSpPr>
        <p:spPr>
          <a:xfrm>
            <a:off x="438912" y="2359152"/>
            <a:ext cx="329184" cy="329184"/>
          </a:xfrm>
          <a:prstGeom prst="ellipse">
            <a:avLst/>
          </a:prstGeom>
          <a:solidFill>
            <a:srgbClr val="1A237E"/>
          </a:solidFill>
          <a:ln w="25400">
            <a:solidFill>
              <a:srgbClr val="FFFFFF"/>
            </a:solidFill>
            <a:prstDash val="solid"/>
          </a:ln>
        </p:spPr>
      </p:sp>
      <p:sp>
        <p:nvSpPr>
          <p:cNvPr id="20" name="Text 18"/>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1b</a:t>
            </a:r>
            <a:endParaRPr lang="en-US" sz="1000" dirty="0"/>
          </a:p>
        </p:txBody>
      </p:sp>
      <p:sp>
        <p:nvSpPr>
          <p:cNvPr id="21" name="Shape 19"/>
          <p:cNvSpPr/>
          <p:nvPr/>
        </p:nvSpPr>
        <p:spPr>
          <a:xfrm>
            <a:off x="548640" y="347472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22" name="Text 20"/>
          <p:cNvSpPr/>
          <p:nvPr/>
        </p:nvSpPr>
        <p:spPr>
          <a:xfrm>
            <a:off x="548640" y="347472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Reunión</a:t>
            </a:r>
            <a:endParaRPr lang="en-US" sz="1100" dirty="0"/>
          </a:p>
        </p:txBody>
      </p:sp>
      <p:sp>
        <p:nvSpPr>
          <p:cNvPr id="23" name="Shape 21"/>
          <p:cNvSpPr/>
          <p:nvPr/>
        </p:nvSpPr>
        <p:spPr>
          <a:xfrm>
            <a:off x="438912" y="3364992"/>
            <a:ext cx="329184" cy="329184"/>
          </a:xfrm>
          <a:prstGeom prst="ellipse">
            <a:avLst/>
          </a:prstGeom>
          <a:solidFill>
            <a:srgbClr val="1A237E"/>
          </a:solidFill>
          <a:ln w="25400">
            <a:solidFill>
              <a:srgbClr val="FFFFFF"/>
            </a:solidFill>
            <a:prstDash val="solid"/>
          </a:ln>
        </p:spPr>
      </p:sp>
      <p:sp>
        <p:nvSpPr>
          <p:cNvPr id="24" name="Text 22"/>
          <p:cNvSpPr/>
          <p:nvPr/>
        </p:nvSpPr>
        <p:spPr>
          <a:xfrm>
            <a:off x="438912" y="33649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1c</a:t>
            </a:r>
            <a:endParaRPr lang="en-US" sz="1000" dirty="0"/>
          </a:p>
        </p:txBody>
      </p:sp>
      <p:sp>
        <p:nvSpPr>
          <p:cNvPr id="25" name="Shape 23"/>
          <p:cNvSpPr/>
          <p:nvPr/>
        </p:nvSpPr>
        <p:spPr>
          <a:xfrm>
            <a:off x="3200400" y="2194560"/>
            <a:ext cx="274320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6" name="Text 24"/>
          <p:cNvSpPr/>
          <p:nvPr/>
        </p:nvSpPr>
        <p:spPr>
          <a:xfrm>
            <a:off x="3200400" y="2194560"/>
            <a:ext cx="2743200" cy="155448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Vinculación a entidad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Cuenta · Oportunidad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Demanda · Oferta · Activo</a:t>
            </a:r>
            <a:endParaRPr lang="en-US" sz="1000" dirty="0"/>
          </a:p>
        </p:txBody>
      </p:sp>
      <p:sp>
        <p:nvSpPr>
          <p:cNvPr id="27" name="Shape 25"/>
          <p:cNvSpPr/>
          <p:nvPr/>
        </p:nvSpPr>
        <p:spPr>
          <a:xfrm>
            <a:off x="3090672" y="2084832"/>
            <a:ext cx="329184" cy="329184"/>
          </a:xfrm>
          <a:prstGeom prst="ellipse">
            <a:avLst/>
          </a:prstGeom>
          <a:solidFill>
            <a:srgbClr val="1A237E"/>
          </a:solidFill>
          <a:ln w="25400">
            <a:solidFill>
              <a:srgbClr val="FFFFFF"/>
            </a:solidFill>
            <a:prstDash val="solid"/>
          </a:ln>
        </p:spPr>
      </p:sp>
      <p:sp>
        <p:nvSpPr>
          <p:cNvPr id="28" name="Text 26"/>
          <p:cNvSpPr/>
          <p:nvPr/>
        </p:nvSpPr>
        <p:spPr>
          <a:xfrm>
            <a:off x="309067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9" name="Shape 27"/>
          <p:cNvSpPr/>
          <p:nvPr/>
        </p:nvSpPr>
        <p:spPr>
          <a:xfrm>
            <a:off x="6949440" y="2194560"/>
            <a:ext cx="219456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0" name="Text 28"/>
          <p:cNvSpPr/>
          <p:nvPr/>
        </p:nvSpPr>
        <p:spPr>
          <a:xfrm>
            <a:off x="6949440" y="2194560"/>
            <a:ext cx="219456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Tarea derivada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seguimiento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responsable + fecha</a:t>
            </a:r>
            <a:endParaRPr lang="en-US" sz="1000" dirty="0"/>
          </a:p>
        </p:txBody>
      </p:sp>
      <p:sp>
        <p:nvSpPr>
          <p:cNvPr id="31" name="Shape 29"/>
          <p:cNvSpPr/>
          <p:nvPr/>
        </p:nvSpPr>
        <p:spPr>
          <a:xfrm>
            <a:off x="6839712" y="2084832"/>
            <a:ext cx="329184" cy="329184"/>
          </a:xfrm>
          <a:prstGeom prst="ellipse">
            <a:avLst/>
          </a:prstGeom>
          <a:solidFill>
            <a:srgbClr val="1A237E"/>
          </a:solidFill>
          <a:ln w="25400">
            <a:solidFill>
              <a:srgbClr val="FFFFFF"/>
            </a:solidFill>
            <a:prstDash val="solid"/>
          </a:ln>
        </p:spPr>
      </p:sp>
      <p:sp>
        <p:nvSpPr>
          <p:cNvPr id="32" name="Text 30"/>
          <p:cNvSpPr/>
          <p:nvPr/>
        </p:nvSpPr>
        <p:spPr>
          <a:xfrm>
            <a:off x="683971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Shape 31"/>
          <p:cNvSpPr/>
          <p:nvPr/>
        </p:nvSpPr>
        <p:spPr>
          <a:xfrm>
            <a:off x="10058400" y="2194560"/>
            <a:ext cx="173736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4" name="Text 32"/>
          <p:cNvSpPr/>
          <p:nvPr/>
        </p:nvSpPr>
        <p:spPr>
          <a:xfrm>
            <a:off x="10058400" y="2194560"/>
            <a:ext cx="173736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actividad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resultado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notas</a:t>
            </a:r>
            <a:endParaRPr lang="en-US" sz="1000" dirty="0"/>
          </a:p>
        </p:txBody>
      </p:sp>
      <p:sp>
        <p:nvSpPr>
          <p:cNvPr id="35" name="Shape 33"/>
          <p:cNvSpPr/>
          <p:nvPr/>
        </p:nvSpPr>
        <p:spPr>
          <a:xfrm>
            <a:off x="9948672" y="2084832"/>
            <a:ext cx="329184" cy="329184"/>
          </a:xfrm>
          <a:prstGeom prst="ellipse">
            <a:avLst/>
          </a:prstGeom>
          <a:solidFill>
            <a:srgbClr val="1A237E"/>
          </a:solidFill>
          <a:ln w="25400">
            <a:solidFill>
              <a:srgbClr val="FFFFFF"/>
            </a:solidFill>
            <a:prstDash val="solid"/>
          </a:ln>
        </p:spPr>
      </p:sp>
      <p:sp>
        <p:nvSpPr>
          <p:cNvPr id="36" name="Text 34"/>
          <p:cNvSpPr/>
          <p:nvPr/>
        </p:nvSpPr>
        <p:spPr>
          <a:xfrm>
            <a:off x="994867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Shape 35"/>
          <p:cNvSpPr/>
          <p:nvPr/>
        </p:nvSpPr>
        <p:spPr>
          <a:xfrm>
            <a:off x="2194560" y="1828800"/>
            <a:ext cx="1005840" cy="822960"/>
          </a:xfrm>
          <a:prstGeom prst="line">
            <a:avLst/>
          </a:prstGeom>
          <a:noFill/>
          <a:ln w="22860">
            <a:solidFill>
              <a:srgbClr val="BDBDBD"/>
            </a:solidFill>
            <a:prstDash val="solid"/>
            <a:tailEnd type="arrow"/>
          </a:ln>
        </p:spPr>
      </p:sp>
      <p:sp>
        <p:nvSpPr>
          <p:cNvPr id="38" name="Shape 36"/>
          <p:cNvSpPr/>
          <p:nvPr/>
        </p:nvSpPr>
        <p:spPr>
          <a:xfrm>
            <a:off x="2194560" y="2834640"/>
            <a:ext cx="1005840" cy="137160"/>
          </a:xfrm>
          <a:prstGeom prst="line">
            <a:avLst/>
          </a:prstGeom>
          <a:noFill/>
          <a:ln w="22860">
            <a:solidFill>
              <a:srgbClr val="BDBDBD"/>
            </a:solidFill>
            <a:prstDash val="solid"/>
            <a:tailEnd type="arrow"/>
          </a:ln>
        </p:spPr>
      </p:sp>
      <p:sp>
        <p:nvSpPr>
          <p:cNvPr id="39" name="Shape 37"/>
          <p:cNvSpPr/>
          <p:nvPr/>
        </p:nvSpPr>
        <p:spPr>
          <a:xfrm>
            <a:off x="2194560" y="3840480"/>
            <a:ext cx="1005840" cy="-548640"/>
          </a:xfrm>
          <a:prstGeom prst="line">
            <a:avLst/>
          </a:prstGeom>
          <a:noFill/>
          <a:ln w="22860">
            <a:solidFill>
              <a:srgbClr val="BDBDBD"/>
            </a:solidFill>
            <a:prstDash val="solid"/>
            <a:tailEnd type="arrow"/>
          </a:ln>
        </p:spPr>
      </p:sp>
      <p:sp>
        <p:nvSpPr>
          <p:cNvPr id="40" name="Shape 38"/>
          <p:cNvSpPr/>
          <p:nvPr/>
        </p:nvSpPr>
        <p:spPr>
          <a:xfrm>
            <a:off x="5943600" y="2971800"/>
            <a:ext cx="1005840" cy="0"/>
          </a:xfrm>
          <a:prstGeom prst="line">
            <a:avLst/>
          </a:prstGeom>
          <a:noFill/>
          <a:ln w="22860">
            <a:solidFill>
              <a:srgbClr val="BDBDBD"/>
            </a:solidFill>
            <a:prstDash val="solid"/>
            <a:tailEnd type="arrow"/>
          </a:ln>
        </p:spPr>
      </p:sp>
      <p:sp>
        <p:nvSpPr>
          <p:cNvPr id="41" name="Shape 39"/>
          <p:cNvSpPr/>
          <p:nvPr/>
        </p:nvSpPr>
        <p:spPr>
          <a:xfrm>
            <a:off x="9144000" y="2971800"/>
            <a:ext cx="914400" cy="0"/>
          </a:xfrm>
          <a:prstGeom prst="line">
            <a:avLst/>
          </a:prstGeom>
          <a:noFill/>
          <a:ln w="22860">
            <a:solidFill>
              <a:srgbClr val="BDBDBD"/>
            </a:solidFill>
            <a:prstDash val="solid"/>
            <a:tailEnd type="arrow"/>
          </a:ln>
        </p:spPr>
      </p:sp>
      <p:sp>
        <p:nvSpPr>
          <p:cNvPr id="42" name="Shape 40"/>
          <p:cNvSpPr/>
          <p:nvPr/>
        </p:nvSpPr>
        <p:spPr>
          <a:xfrm>
            <a:off x="3200400" y="4023360"/>
            <a:ext cx="5943600" cy="548640"/>
          </a:xfrm>
          <a:prstGeom prst="roundRect">
            <a:avLst>
              <a:gd name="adj" fmla="val 10000"/>
            </a:avLst>
          </a:prstGeom>
          <a:solidFill>
            <a:srgbClr val="FEF3C7"/>
          </a:solidFill>
          <a:ln w="19050">
            <a:solidFill>
              <a:srgbClr val="F59E0B"/>
            </a:solidFill>
            <a:prstDash val="solid"/>
          </a:ln>
        </p:spPr>
      </p:sp>
      <p:sp>
        <p:nvSpPr>
          <p:cNvPr id="43" name="Text 41"/>
          <p:cNvSpPr/>
          <p:nvPr/>
        </p:nvSpPr>
        <p:spPr>
          <a:xfrm>
            <a:off x="3200400" y="4023360"/>
            <a:ext cx="5943600" cy="548640"/>
          </a:xfrm>
          <a:prstGeom prst="rect">
            <a:avLst/>
          </a:prstGeom>
          <a:noFill/>
          <a:ln/>
        </p:spPr>
        <p:txBody>
          <a:bodyPr wrap="square" rtlCol="0" anchor="ctr"/>
          <a:lstStyle/>
          <a:p>
            <a:pPr algn="ctr" indent="0" marL="0">
              <a:buNone/>
            </a:pPr>
            <a:r>
              <a:rPr lang="en-US" sz="1000" b="1" dirty="0">
                <a:solidFill>
                  <a:srgbClr val="92400E"/>
                </a:solidFill>
                <a:latin typeface="Calibri" pitchFamily="34" charset="0"/>
                <a:ea typeface="Calibri" pitchFamily="34" charset="-122"/>
                <a:cs typeface="Calibri" pitchFamily="34" charset="-120"/>
              </a:rPr>
              <a:t>⚠️  Sin vinculación a entidad, la actividad no se persiste — no existen actividades huérfanas</a:t>
            </a:r>
            <a:endParaRPr lang="en-US" sz="1000" dirty="0"/>
          </a:p>
        </p:txBody>
      </p:sp>
      <p:sp>
        <p:nvSpPr>
          <p:cNvPr id="44" name="Shape 42"/>
          <p:cNvSpPr/>
          <p:nvPr/>
        </p:nvSpPr>
        <p:spPr>
          <a:xfrm>
            <a:off x="274320" y="5760720"/>
            <a:ext cx="11640312" cy="868680"/>
          </a:xfrm>
          <a:prstGeom prst="rect">
            <a:avLst/>
          </a:prstGeom>
          <a:solidFill>
            <a:srgbClr val="FFFFFF"/>
          </a:solidFill>
          <a:ln w="12700">
            <a:solidFill>
              <a:srgbClr val="E0E0E0"/>
            </a:solidFill>
            <a:prstDash val="solid"/>
          </a:ln>
        </p:spPr>
      </p:sp>
      <p:sp>
        <p:nvSpPr>
          <p:cNvPr id="45" name="Text 43"/>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Las actividades son transversales: cualquier email (1a), llamada (1b) o reunión (1c) se registra en el PDB y debe vincularse obligatoriamente a una entidad — Cuenta, Oportunidad, Demanda, Oferta o Activo (2). De esa actividad puede derivar una Tarea (3) con responsable y fecha límite, que se cierra al ejecutarse con resultado y notas (4). Sin vinculación a entidad, la actividad no se persiste: no existen actividades huérfanas.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10</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Vencimientos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Detección automática → alerta → acción comercial → renovación o nueva Oportunidad → reflejo en Dynamics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7772400"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7626096"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8275320" y="914400"/>
            <a:ext cx="3639312" cy="4572000"/>
          </a:xfrm>
          <a:prstGeom prst="rect">
            <a:avLst/>
          </a:prstGeom>
          <a:solidFill>
            <a:srgbClr val="0078D4">
              <a:alpha val="12000"/>
            </a:srgbClr>
          </a:solidFill>
          <a:ln w="12700">
            <a:solidFill>
              <a:srgbClr val="0078D4"/>
            </a:solidFill>
            <a:prstDash val="dash"/>
          </a:ln>
        </p:spPr>
      </p:sp>
      <p:sp>
        <p:nvSpPr>
          <p:cNvPr id="14" name="Text 12"/>
          <p:cNvSpPr/>
          <p:nvPr/>
        </p:nvSpPr>
        <p:spPr>
          <a:xfrm>
            <a:off x="8348472" y="950976"/>
            <a:ext cx="3493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2560320"/>
            <a:ext cx="182880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2560320"/>
            <a:ext cx="182880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Detección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vencimiento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 próximo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vencer</a:t>
            </a:r>
            <a:endParaRPr lang="en-US" sz="1000" dirty="0"/>
          </a:p>
        </p:txBody>
      </p:sp>
      <p:sp>
        <p:nvSpPr>
          <p:cNvPr id="17" name="Shape 15"/>
          <p:cNvSpPr/>
          <p:nvPr/>
        </p:nvSpPr>
        <p:spPr>
          <a:xfrm>
            <a:off x="438912" y="245059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606040" y="2560320"/>
            <a:ext cx="1645920" cy="1280160"/>
          </a:xfrm>
          <a:prstGeom prst="roundRect">
            <a:avLst>
              <a:gd name="adj" fmla="val 5714"/>
            </a:avLst>
          </a:prstGeom>
          <a:solidFill>
            <a:srgbClr val="EA580C"/>
          </a:solidFill>
          <a:ln w="19050">
            <a:solidFill>
              <a:srgbClr val="C2410C"/>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606040" y="2560320"/>
            <a:ext cx="164592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Alerta sistema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badge días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restantes</a:t>
            </a:r>
            <a:endParaRPr lang="en-US" sz="1000" dirty="0"/>
          </a:p>
        </p:txBody>
      </p:sp>
      <p:sp>
        <p:nvSpPr>
          <p:cNvPr id="21" name="Shape 19"/>
          <p:cNvSpPr/>
          <p:nvPr/>
        </p:nvSpPr>
        <p:spPr>
          <a:xfrm>
            <a:off x="2496312" y="2450592"/>
            <a:ext cx="329184" cy="329184"/>
          </a:xfrm>
          <a:prstGeom prst="ellipse">
            <a:avLst/>
          </a:prstGeom>
          <a:solidFill>
            <a:srgbClr val="1A237E"/>
          </a:solidFill>
          <a:ln w="25400">
            <a:solidFill>
              <a:srgbClr val="FFFFFF"/>
            </a:solidFill>
            <a:prstDash val="solid"/>
          </a:ln>
        </p:spPr>
      </p:sp>
      <p:sp>
        <p:nvSpPr>
          <p:cNvPr id="22" name="Text 20"/>
          <p:cNvSpPr/>
          <p:nvPr/>
        </p:nvSpPr>
        <p:spPr>
          <a:xfrm>
            <a:off x="249631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480560" y="2560320"/>
            <a:ext cx="169164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480560" y="2560320"/>
            <a:ext cx="169164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Acción comercial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contacto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arrendatario</a:t>
            </a:r>
            <a:endParaRPr lang="en-US" sz="1000" dirty="0"/>
          </a:p>
        </p:txBody>
      </p:sp>
      <p:sp>
        <p:nvSpPr>
          <p:cNvPr id="25" name="Shape 23"/>
          <p:cNvSpPr/>
          <p:nvPr/>
        </p:nvSpPr>
        <p:spPr>
          <a:xfrm>
            <a:off x="4370832" y="2450592"/>
            <a:ext cx="329184" cy="329184"/>
          </a:xfrm>
          <a:prstGeom prst="ellipse">
            <a:avLst/>
          </a:prstGeom>
          <a:solidFill>
            <a:srgbClr val="1A237E"/>
          </a:solidFill>
          <a:ln w="25400">
            <a:solidFill>
              <a:srgbClr val="FFFFFF"/>
            </a:solidFill>
            <a:prstDash val="solid"/>
          </a:ln>
        </p:spPr>
      </p:sp>
      <p:sp>
        <p:nvSpPr>
          <p:cNvPr id="26" name="Text 24"/>
          <p:cNvSpPr/>
          <p:nvPr/>
        </p:nvSpPr>
        <p:spPr>
          <a:xfrm>
            <a:off x="437083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400800" y="128016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400800" y="128016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Renovación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nuevas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29" name="Shape 27"/>
          <p:cNvSpPr/>
          <p:nvPr/>
        </p:nvSpPr>
        <p:spPr>
          <a:xfrm>
            <a:off x="6291072" y="1170432"/>
            <a:ext cx="329184" cy="329184"/>
          </a:xfrm>
          <a:prstGeom prst="ellipse">
            <a:avLst/>
          </a:prstGeom>
          <a:solidFill>
            <a:srgbClr val="1A237E"/>
          </a:solidFill>
          <a:ln w="25400">
            <a:solidFill>
              <a:srgbClr val="FFFFFF"/>
            </a:solidFill>
            <a:prstDash val="solid"/>
          </a:ln>
        </p:spPr>
      </p:sp>
      <p:sp>
        <p:nvSpPr>
          <p:cNvPr id="30" name="Text 28"/>
          <p:cNvSpPr/>
          <p:nvPr/>
        </p:nvSpPr>
        <p:spPr>
          <a:xfrm>
            <a:off x="6291072" y="11704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a:t>
            </a:r>
            <a:endParaRPr lang="en-US" sz="1000" dirty="0"/>
          </a:p>
        </p:txBody>
      </p:sp>
      <p:sp>
        <p:nvSpPr>
          <p:cNvPr id="31" name="Shape 29"/>
          <p:cNvSpPr/>
          <p:nvPr/>
        </p:nvSpPr>
        <p:spPr>
          <a:xfrm>
            <a:off x="6400800" y="38404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6400800" y="38404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Nueva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relocation 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nuevo tenant</a:t>
            </a:r>
            <a:endParaRPr lang="en-US" sz="1000" dirty="0"/>
          </a:p>
        </p:txBody>
      </p:sp>
      <p:sp>
        <p:nvSpPr>
          <p:cNvPr id="33" name="Shape 31"/>
          <p:cNvSpPr/>
          <p:nvPr/>
        </p:nvSpPr>
        <p:spPr>
          <a:xfrm>
            <a:off x="6291072" y="3730752"/>
            <a:ext cx="329184" cy="329184"/>
          </a:xfrm>
          <a:prstGeom prst="ellipse">
            <a:avLst/>
          </a:prstGeom>
          <a:solidFill>
            <a:srgbClr val="1A237E"/>
          </a:solidFill>
          <a:ln w="25400">
            <a:solidFill>
              <a:srgbClr val="FFFFFF"/>
            </a:solidFill>
            <a:prstDash val="solid"/>
          </a:ln>
        </p:spPr>
      </p:sp>
      <p:sp>
        <p:nvSpPr>
          <p:cNvPr id="34" name="Text 32"/>
          <p:cNvSpPr/>
          <p:nvPr/>
        </p:nvSpPr>
        <p:spPr>
          <a:xfrm>
            <a:off x="6291072" y="37307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4b</a:t>
            </a:r>
            <a:endParaRPr lang="en-US" sz="1000" dirty="0"/>
          </a:p>
        </p:txBody>
      </p:sp>
      <p:sp>
        <p:nvSpPr>
          <p:cNvPr id="35" name="Shape 33"/>
          <p:cNvSpPr/>
          <p:nvPr/>
        </p:nvSpPr>
        <p:spPr>
          <a:xfrm>
            <a:off x="8503920" y="1280160"/>
            <a:ext cx="3200400" cy="1280160"/>
          </a:xfrm>
          <a:prstGeom prst="roundRect">
            <a:avLst>
              <a:gd name="adj" fmla="val 571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8503920" y="1280160"/>
            <a:ext cx="3200400" cy="12801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Update contrato</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en Dynamics</a:t>
            </a:r>
            <a:endParaRPr lang="en-US" sz="1100" dirty="0"/>
          </a:p>
        </p:txBody>
      </p:sp>
      <p:sp>
        <p:nvSpPr>
          <p:cNvPr id="37" name="Shape 35"/>
          <p:cNvSpPr/>
          <p:nvPr/>
        </p:nvSpPr>
        <p:spPr>
          <a:xfrm>
            <a:off x="8394192" y="1170432"/>
            <a:ext cx="329184" cy="329184"/>
          </a:xfrm>
          <a:prstGeom prst="ellipse">
            <a:avLst/>
          </a:prstGeom>
          <a:solidFill>
            <a:srgbClr val="1A237E"/>
          </a:solidFill>
          <a:ln w="25400">
            <a:solidFill>
              <a:srgbClr val="FFFFFF"/>
            </a:solidFill>
            <a:prstDash val="solid"/>
          </a:ln>
        </p:spPr>
      </p:sp>
      <p:sp>
        <p:nvSpPr>
          <p:cNvPr id="38" name="Text 36"/>
          <p:cNvSpPr/>
          <p:nvPr/>
        </p:nvSpPr>
        <p:spPr>
          <a:xfrm>
            <a:off x="8394192" y="11704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a:t>
            </a:r>
            <a:endParaRPr lang="en-US" sz="1000" dirty="0"/>
          </a:p>
        </p:txBody>
      </p:sp>
      <p:sp>
        <p:nvSpPr>
          <p:cNvPr id="39" name="Shape 37"/>
          <p:cNvSpPr/>
          <p:nvPr/>
        </p:nvSpPr>
        <p:spPr>
          <a:xfrm>
            <a:off x="8503920" y="3840480"/>
            <a:ext cx="3200400" cy="1280160"/>
          </a:xfrm>
          <a:prstGeom prst="roundRect">
            <a:avLst>
              <a:gd name="adj" fmla="val 571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8503920" y="3840480"/>
            <a:ext cx="3200400" cy="12801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Alta Oportunidad</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en Dynamics</a:t>
            </a:r>
            <a:endParaRPr lang="en-US" sz="1100" dirty="0"/>
          </a:p>
        </p:txBody>
      </p:sp>
      <p:sp>
        <p:nvSpPr>
          <p:cNvPr id="41" name="Shape 39"/>
          <p:cNvSpPr/>
          <p:nvPr/>
        </p:nvSpPr>
        <p:spPr>
          <a:xfrm>
            <a:off x="8394192" y="3730752"/>
            <a:ext cx="329184" cy="329184"/>
          </a:xfrm>
          <a:prstGeom prst="ellipse">
            <a:avLst/>
          </a:prstGeom>
          <a:solidFill>
            <a:srgbClr val="1A237E"/>
          </a:solidFill>
          <a:ln w="25400">
            <a:solidFill>
              <a:srgbClr val="FFFFFF"/>
            </a:solidFill>
            <a:prstDash val="solid"/>
          </a:ln>
        </p:spPr>
      </p:sp>
      <p:sp>
        <p:nvSpPr>
          <p:cNvPr id="42" name="Text 40"/>
          <p:cNvSpPr/>
          <p:nvPr/>
        </p:nvSpPr>
        <p:spPr>
          <a:xfrm>
            <a:off x="8394192" y="37307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5b</a:t>
            </a:r>
            <a:endParaRPr lang="en-US" sz="1000" dirty="0"/>
          </a:p>
        </p:txBody>
      </p:sp>
      <p:sp>
        <p:nvSpPr>
          <p:cNvPr id="43" name="Shape 41"/>
          <p:cNvSpPr/>
          <p:nvPr/>
        </p:nvSpPr>
        <p:spPr>
          <a:xfrm>
            <a:off x="2377440" y="3200400"/>
            <a:ext cx="228600" cy="0"/>
          </a:xfrm>
          <a:prstGeom prst="line">
            <a:avLst/>
          </a:prstGeom>
          <a:noFill/>
          <a:ln w="22860">
            <a:solidFill>
              <a:srgbClr val="BDBDBD"/>
            </a:solidFill>
            <a:prstDash val="solid"/>
            <a:tailEnd type="arrow"/>
          </a:ln>
        </p:spPr>
      </p:sp>
      <p:sp>
        <p:nvSpPr>
          <p:cNvPr id="44" name="Shape 42"/>
          <p:cNvSpPr/>
          <p:nvPr/>
        </p:nvSpPr>
        <p:spPr>
          <a:xfrm>
            <a:off x="4251960" y="3200400"/>
            <a:ext cx="228600" cy="0"/>
          </a:xfrm>
          <a:prstGeom prst="line">
            <a:avLst/>
          </a:prstGeom>
          <a:noFill/>
          <a:ln w="22860">
            <a:solidFill>
              <a:srgbClr val="BDBDBD"/>
            </a:solidFill>
            <a:prstDash val="solid"/>
            <a:tailEnd type="arrow"/>
          </a:ln>
        </p:spPr>
      </p:sp>
      <p:sp>
        <p:nvSpPr>
          <p:cNvPr id="45" name="Shape 43"/>
          <p:cNvSpPr/>
          <p:nvPr/>
        </p:nvSpPr>
        <p:spPr>
          <a:xfrm>
            <a:off x="6172200" y="2926080"/>
            <a:ext cx="228600" cy="-1005840"/>
          </a:xfrm>
          <a:prstGeom prst="line">
            <a:avLst/>
          </a:prstGeom>
          <a:noFill/>
          <a:ln w="22860">
            <a:solidFill>
              <a:srgbClr val="BDBDBD"/>
            </a:solidFill>
            <a:prstDash val="solid"/>
            <a:tailEnd type="arrow"/>
          </a:ln>
        </p:spPr>
      </p:sp>
      <p:sp>
        <p:nvSpPr>
          <p:cNvPr id="46" name="Shape 44"/>
          <p:cNvSpPr/>
          <p:nvPr/>
        </p:nvSpPr>
        <p:spPr>
          <a:xfrm>
            <a:off x="6172200" y="3474720"/>
            <a:ext cx="228600" cy="1005840"/>
          </a:xfrm>
          <a:prstGeom prst="line">
            <a:avLst/>
          </a:prstGeom>
          <a:noFill/>
          <a:ln w="22860">
            <a:solidFill>
              <a:srgbClr val="BDBDBD"/>
            </a:solidFill>
            <a:prstDash val="solid"/>
            <a:tailEnd type="arrow"/>
          </a:ln>
        </p:spPr>
      </p:sp>
      <p:sp>
        <p:nvSpPr>
          <p:cNvPr id="47" name="Shape 45"/>
          <p:cNvSpPr/>
          <p:nvPr/>
        </p:nvSpPr>
        <p:spPr>
          <a:xfrm>
            <a:off x="7955280" y="1920240"/>
            <a:ext cx="548640" cy="0"/>
          </a:xfrm>
          <a:prstGeom prst="line">
            <a:avLst/>
          </a:prstGeom>
          <a:noFill/>
          <a:ln w="22860">
            <a:solidFill>
              <a:srgbClr val="BDBDBD"/>
            </a:solidFill>
            <a:prstDash val="solid"/>
            <a:tailEnd type="arrow"/>
          </a:ln>
        </p:spPr>
      </p:sp>
      <p:sp>
        <p:nvSpPr>
          <p:cNvPr id="48" name="Shape 46"/>
          <p:cNvSpPr/>
          <p:nvPr/>
        </p:nvSpPr>
        <p:spPr>
          <a:xfrm>
            <a:off x="7955280" y="4480560"/>
            <a:ext cx="548640" cy="0"/>
          </a:xfrm>
          <a:prstGeom prst="line">
            <a:avLst/>
          </a:prstGeom>
          <a:noFill/>
          <a:ln w="22860">
            <a:solidFill>
              <a:srgbClr val="BDBDBD"/>
            </a:solidFill>
            <a:prstDash val="solid"/>
            <a:tailEnd type="arrow"/>
          </a:ln>
        </p:spPr>
      </p:sp>
      <p:sp>
        <p:nvSpPr>
          <p:cNvPr id="49" name="Shape 47"/>
          <p:cNvSpPr/>
          <p:nvPr/>
        </p:nvSpPr>
        <p:spPr>
          <a:xfrm>
            <a:off x="274320" y="5760720"/>
            <a:ext cx="11640312" cy="868680"/>
          </a:xfrm>
          <a:prstGeom prst="rect">
            <a:avLst/>
          </a:prstGeom>
          <a:solidFill>
            <a:srgbClr val="FFFFFF"/>
          </a:solidFill>
          <a:ln w="12700">
            <a:solidFill>
              <a:srgbClr val="E0E0E0"/>
            </a:solidFill>
            <a:prstDash val="solid"/>
          </a:ln>
        </p:spPr>
      </p:sp>
      <p:sp>
        <p:nvSpPr>
          <p:cNvPr id="50" name="Text 48"/>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motor de vencimientos del PDB detecta automáticamente los contratos próximos a expirar (1) y genera una alerta visible con badge de días restantes (2). El broker ejecuta la acción comercial sobre el arrendatario (3), que deriva en una renovación con condiciones actualizadas (4a) o en una nueva Oportunidad — relocation, tenant alternativo o salida (4b). Ambos resultados se reflejan en Dynamics (5a/5b) para mantener la fuente de verdad.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DC2626"/>
          </a:solidFill>
          <a:ln w="12700">
            <a:solidFill>
              <a:srgbClr val="DC2626"/>
            </a:solidFill>
            <a:prstDash val="solid"/>
          </a:ln>
        </p:spPr>
      </p:sp>
      <p:sp>
        <p:nvSpPr>
          <p:cNvPr id="3" name="Text 1"/>
          <p:cNvSpPr/>
          <p:nvPr/>
        </p:nvSpPr>
        <p:spPr>
          <a:xfrm>
            <a:off x="274320" y="164592"/>
            <a:ext cx="11640312" cy="457200"/>
          </a:xfrm>
          <a:prstGeom prst="rect">
            <a:avLst/>
          </a:prstGeom>
          <a:noFill/>
          <a:ln/>
        </p:spPr>
        <p:txBody>
          <a:bodyPr wrap="square" rtlCol="0" anchor="ctr"/>
          <a:lstStyle/>
          <a:p>
            <a:pPr indent="0" marL="0">
              <a:buNone/>
            </a:pPr>
            <a:r>
              <a:rPr lang="en-US" sz="2400" b="1" dirty="0">
                <a:solidFill>
                  <a:srgbClr val="DC2626"/>
                </a:solidFill>
                <a:latin typeface="Calibri" pitchFamily="34" charset="0"/>
                <a:ea typeface="Calibri" pitchFamily="34" charset="-122"/>
                <a:cs typeface="Calibri" pitchFamily="34" charset="-120"/>
              </a:rPr>
              <a:t>Por qué vincular Cuentas a Activos es CRÍTICO</a:t>
            </a:r>
            <a:endParaRPr lang="en-US" sz="2400" dirty="0"/>
          </a:p>
        </p:txBody>
      </p:sp>
      <p:sp>
        <p:nvSpPr>
          <p:cNvPr id="4" name="Shape 2"/>
          <p:cNvSpPr/>
          <p:nvPr/>
        </p:nvSpPr>
        <p:spPr>
          <a:xfrm>
            <a:off x="274320" y="713232"/>
            <a:ext cx="11640312" cy="0"/>
          </a:xfrm>
          <a:prstGeom prst="line">
            <a:avLst/>
          </a:prstGeom>
          <a:noFill/>
          <a:ln w="12700">
            <a:solidFill>
              <a:srgbClr val="E0E0E0"/>
            </a:solidFill>
            <a:prstDash val="solid"/>
          </a:ln>
        </p:spPr>
      </p:sp>
      <p:sp>
        <p:nvSpPr>
          <p:cNvPr id="5" name="Shape 3"/>
          <p:cNvSpPr/>
          <p:nvPr/>
        </p:nvSpPr>
        <p:spPr>
          <a:xfrm>
            <a:off x="274320" y="960120"/>
            <a:ext cx="3794760" cy="1508760"/>
          </a:xfrm>
          <a:prstGeom prst="roundRect">
            <a:avLst>
              <a:gd name="adj" fmla="val 6061"/>
            </a:avLst>
          </a:prstGeom>
          <a:solidFill>
            <a:srgbClr val="FFFFFF"/>
          </a:solidFill>
          <a:ln w="25400">
            <a:solidFill>
              <a:srgbClr val="0078D4"/>
            </a:solidFill>
            <a:prstDash val="solid"/>
          </a:ln>
          <a:effectLst>
            <a:outerShdw sx="100000" sy="100000" kx="0" ky="0" algn="bl" rotWithShape="0" blurRad="76200" dist="38100" dir="2700000">
              <a:srgbClr val="00000015">
                <a:alpha val="75000"/>
              </a:srgbClr>
            </a:outerShdw>
          </a:effectLst>
        </p:spPr>
      </p:sp>
      <p:sp>
        <p:nvSpPr>
          <p:cNvPr id="6" name="Shape 4"/>
          <p:cNvSpPr/>
          <p:nvPr/>
        </p:nvSpPr>
        <p:spPr>
          <a:xfrm>
            <a:off x="274320" y="960120"/>
            <a:ext cx="109728" cy="1508760"/>
          </a:xfrm>
          <a:prstGeom prst="rect">
            <a:avLst/>
          </a:prstGeom>
          <a:solidFill>
            <a:srgbClr val="0078D4"/>
          </a:solidFill>
          <a:ln w="12700">
            <a:solidFill>
              <a:srgbClr val="0078D4"/>
            </a:solidFill>
            <a:prstDash val="solid"/>
          </a:ln>
        </p:spPr>
      </p:sp>
      <p:sp>
        <p:nvSpPr>
          <p:cNvPr id="7" name="Text 5"/>
          <p:cNvSpPr/>
          <p:nvPr/>
        </p:nvSpPr>
        <p:spPr>
          <a:xfrm>
            <a:off x="502920" y="1051560"/>
            <a:ext cx="3520440" cy="365760"/>
          </a:xfrm>
          <a:prstGeom prst="rect">
            <a:avLst/>
          </a:prstGeom>
          <a:noFill/>
          <a:ln/>
        </p:spPr>
        <p:txBody>
          <a:bodyPr wrap="square" rtlCol="0" anchor="ctr"/>
          <a:lstStyle/>
          <a:p>
            <a:pPr indent="0" marL="0">
              <a:buNone/>
            </a:pPr>
            <a:r>
              <a:rPr lang="en-US" sz="1200" b="1" dirty="0">
                <a:solidFill>
                  <a:srgbClr val="0078D4"/>
                </a:solidFill>
                <a:latin typeface="Calibri" pitchFamily="34" charset="0"/>
                <a:ea typeface="Calibri" pitchFamily="34" charset="-122"/>
                <a:cs typeface="Calibri" pitchFamily="34" charset="-120"/>
              </a:rPr>
              <a:t>Nexo único con Dynamics</a:t>
            </a:r>
            <a:endParaRPr lang="en-US" sz="1200" dirty="0"/>
          </a:p>
        </p:txBody>
      </p:sp>
      <p:sp>
        <p:nvSpPr>
          <p:cNvPr id="8" name="Text 6"/>
          <p:cNvSpPr/>
          <p:nvPr/>
        </p:nvSpPr>
        <p:spPr>
          <a:xfrm>
            <a:off x="50292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Dynamics es la fuente de verdad fiscal. Activo sin Cuenta = huérfano: no facturable, no contratable, no auditable.</a:t>
            </a:r>
            <a:endParaRPr lang="en-US" sz="1000" dirty="0"/>
          </a:p>
        </p:txBody>
      </p:sp>
      <p:sp>
        <p:nvSpPr>
          <p:cNvPr id="9" name="Shape 7"/>
          <p:cNvSpPr/>
          <p:nvPr/>
        </p:nvSpPr>
        <p:spPr>
          <a:xfrm>
            <a:off x="4251960" y="960120"/>
            <a:ext cx="3794760" cy="1508760"/>
          </a:xfrm>
          <a:prstGeom prst="roundRect">
            <a:avLst>
              <a:gd name="adj" fmla="val 6061"/>
            </a:avLst>
          </a:prstGeom>
          <a:solidFill>
            <a:srgbClr val="FFFFFF"/>
          </a:solidFill>
          <a:ln w="25400">
            <a:solidFill>
              <a:srgbClr val="2E7D32"/>
            </a:solidFill>
            <a:prstDash val="solid"/>
          </a:ln>
          <a:effectLst>
            <a:outerShdw sx="100000" sy="100000" kx="0" ky="0" algn="bl" rotWithShape="0" blurRad="76200" dist="38100" dir="2700000">
              <a:srgbClr val="00000015">
                <a:alpha val="75000"/>
              </a:srgbClr>
            </a:outerShdw>
          </a:effectLst>
        </p:spPr>
      </p:sp>
      <p:sp>
        <p:nvSpPr>
          <p:cNvPr id="10" name="Shape 8"/>
          <p:cNvSpPr/>
          <p:nvPr/>
        </p:nvSpPr>
        <p:spPr>
          <a:xfrm>
            <a:off x="4251960" y="960120"/>
            <a:ext cx="109728" cy="1508760"/>
          </a:xfrm>
          <a:prstGeom prst="rect">
            <a:avLst/>
          </a:prstGeom>
          <a:solidFill>
            <a:srgbClr val="2E7D32"/>
          </a:solidFill>
          <a:ln w="12700">
            <a:solidFill>
              <a:srgbClr val="2E7D32"/>
            </a:solidFill>
            <a:prstDash val="solid"/>
          </a:ln>
        </p:spPr>
      </p:sp>
      <p:sp>
        <p:nvSpPr>
          <p:cNvPr id="11" name="Text 9"/>
          <p:cNvSpPr/>
          <p:nvPr/>
        </p:nvSpPr>
        <p:spPr>
          <a:xfrm>
            <a:off x="4480560" y="1051560"/>
            <a:ext cx="3520440" cy="365760"/>
          </a:xfrm>
          <a:prstGeom prst="rect">
            <a:avLst/>
          </a:prstGeom>
          <a:noFill/>
          <a:ln/>
        </p:spPr>
        <p:txBody>
          <a:bodyPr wrap="square"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Vista 360º del Propietario</a:t>
            </a:r>
            <a:endParaRPr lang="en-US" sz="1200" dirty="0"/>
          </a:p>
        </p:txBody>
      </p:sp>
      <p:sp>
        <p:nvSpPr>
          <p:cNvPr id="12" name="Text 10"/>
          <p:cNvSpPr/>
          <p:nvPr/>
        </p:nvSpPr>
        <p:spPr>
          <a:xfrm>
            <a:off x="448056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Sin vínculo, los activos del mismo propietario aparecen inconexos. Imposible mostrar cartera, vencimientos y ofertas consolidados.</a:t>
            </a:r>
            <a:endParaRPr lang="en-US" sz="1000" dirty="0"/>
          </a:p>
        </p:txBody>
      </p:sp>
      <p:sp>
        <p:nvSpPr>
          <p:cNvPr id="13" name="Shape 11"/>
          <p:cNvSpPr/>
          <p:nvPr/>
        </p:nvSpPr>
        <p:spPr>
          <a:xfrm>
            <a:off x="8229600" y="960120"/>
            <a:ext cx="3794760" cy="1508760"/>
          </a:xfrm>
          <a:prstGeom prst="roundRect">
            <a:avLst>
              <a:gd name="adj" fmla="val 6061"/>
            </a:avLst>
          </a:prstGeom>
          <a:solidFill>
            <a:srgbClr val="FFFFFF"/>
          </a:solidFill>
          <a:ln w="25400">
            <a:solidFill>
              <a:srgbClr val="00838F"/>
            </a:solidFill>
            <a:prstDash val="solid"/>
          </a:ln>
          <a:effectLst>
            <a:outerShdw sx="100000" sy="100000" kx="0" ky="0" algn="bl" rotWithShape="0" blurRad="76200" dist="38100" dir="2700000">
              <a:srgbClr val="00000015">
                <a:alpha val="75000"/>
              </a:srgbClr>
            </a:outerShdw>
          </a:effectLst>
        </p:spPr>
      </p:sp>
      <p:sp>
        <p:nvSpPr>
          <p:cNvPr id="14" name="Shape 12"/>
          <p:cNvSpPr/>
          <p:nvPr/>
        </p:nvSpPr>
        <p:spPr>
          <a:xfrm>
            <a:off x="8229600" y="960120"/>
            <a:ext cx="109728" cy="1508760"/>
          </a:xfrm>
          <a:prstGeom prst="rect">
            <a:avLst/>
          </a:prstGeom>
          <a:solidFill>
            <a:srgbClr val="00838F"/>
          </a:solidFill>
          <a:ln w="12700">
            <a:solidFill>
              <a:srgbClr val="00838F"/>
            </a:solidFill>
            <a:prstDash val="solid"/>
          </a:ln>
        </p:spPr>
      </p:sp>
      <p:sp>
        <p:nvSpPr>
          <p:cNvPr id="15" name="Text 13"/>
          <p:cNvSpPr/>
          <p:nvPr/>
        </p:nvSpPr>
        <p:spPr>
          <a:xfrm>
            <a:off x="8458200" y="1051560"/>
            <a:ext cx="3520440" cy="365760"/>
          </a:xfrm>
          <a:prstGeom prst="rect">
            <a:avLst/>
          </a:prstGeom>
          <a:noFill/>
          <a:ln/>
        </p:spPr>
        <p:txBody>
          <a:bodyPr wrap="square" rtlCol="0" anchor="ctr"/>
          <a:lstStyle/>
          <a:p>
            <a:pPr indent="0" marL="0">
              <a:buNone/>
            </a:pPr>
            <a:r>
              <a:rPr lang="en-US" sz="1200" b="1" dirty="0">
                <a:solidFill>
                  <a:srgbClr val="00838F"/>
                </a:solidFill>
                <a:latin typeface="Calibri" pitchFamily="34" charset="0"/>
                <a:ea typeface="Calibri" pitchFamily="34" charset="-122"/>
                <a:cs typeface="Calibri" pitchFamily="34" charset="-120"/>
              </a:rPr>
              <a:t>Inteligencia comercial · Mapas</a:t>
            </a:r>
            <a:endParaRPr lang="en-US" sz="1200" dirty="0"/>
          </a:p>
        </p:txBody>
      </p:sp>
      <p:sp>
        <p:nvSpPr>
          <p:cNvPr id="16" name="Text 14"/>
          <p:cNvSpPr/>
          <p:nvPr/>
        </p:nvSpPr>
        <p:spPr>
          <a:xfrm>
            <a:off x="845820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Los cruces clave — vencimientos por zona, ofertas por propietario — solo funcionan si cada activo conoce su Cuenta.</a:t>
            </a:r>
            <a:endParaRPr lang="en-US" sz="1000" dirty="0"/>
          </a:p>
        </p:txBody>
      </p:sp>
      <p:sp>
        <p:nvSpPr>
          <p:cNvPr id="17" name="Shape 15"/>
          <p:cNvSpPr/>
          <p:nvPr/>
        </p:nvSpPr>
        <p:spPr>
          <a:xfrm>
            <a:off x="274320" y="2651760"/>
            <a:ext cx="3794760" cy="1508760"/>
          </a:xfrm>
          <a:prstGeom prst="roundRect">
            <a:avLst>
              <a:gd name="adj" fmla="val 6061"/>
            </a:avLst>
          </a:prstGeom>
          <a:solidFill>
            <a:srgbClr val="FFFFFF"/>
          </a:solidFill>
          <a:ln w="25400">
            <a:solidFill>
              <a:srgbClr val="E65100"/>
            </a:solidFill>
            <a:prstDash val="solid"/>
          </a:ln>
          <a:effectLst>
            <a:outerShdw sx="100000" sy="100000" kx="0" ky="0" algn="bl" rotWithShape="0" blurRad="76200" dist="38100" dir="2700000">
              <a:srgbClr val="00000015">
                <a:alpha val="75000"/>
              </a:srgbClr>
            </a:outerShdw>
          </a:effectLst>
        </p:spPr>
      </p:sp>
      <p:sp>
        <p:nvSpPr>
          <p:cNvPr id="18" name="Shape 16"/>
          <p:cNvSpPr/>
          <p:nvPr/>
        </p:nvSpPr>
        <p:spPr>
          <a:xfrm>
            <a:off x="274320" y="2651760"/>
            <a:ext cx="109728" cy="1508760"/>
          </a:xfrm>
          <a:prstGeom prst="rect">
            <a:avLst/>
          </a:prstGeom>
          <a:solidFill>
            <a:srgbClr val="E65100"/>
          </a:solidFill>
          <a:ln w="12700">
            <a:solidFill>
              <a:srgbClr val="E65100"/>
            </a:solidFill>
            <a:prstDash val="solid"/>
          </a:ln>
        </p:spPr>
      </p:sp>
      <p:sp>
        <p:nvSpPr>
          <p:cNvPr id="19" name="Text 17"/>
          <p:cNvSpPr/>
          <p:nvPr/>
        </p:nvSpPr>
        <p:spPr>
          <a:xfrm>
            <a:off x="502920" y="2743200"/>
            <a:ext cx="3520440" cy="36576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Reporting y honorarios</a:t>
            </a:r>
            <a:endParaRPr lang="en-US" sz="1200" dirty="0"/>
          </a:p>
        </p:txBody>
      </p:sp>
      <p:sp>
        <p:nvSpPr>
          <p:cNvPr id="20" name="Text 18"/>
          <p:cNvSpPr/>
          <p:nvPr/>
        </p:nvSpPr>
        <p:spPr>
          <a:xfrm>
            <a:off x="50292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La facturación depende de saber a qué Cuenta pertenece cada operación. Sin Cuenta, no hay liquidación contable.</a:t>
            </a:r>
            <a:endParaRPr lang="en-US" sz="1000" dirty="0"/>
          </a:p>
        </p:txBody>
      </p:sp>
      <p:sp>
        <p:nvSpPr>
          <p:cNvPr id="21" name="Shape 19"/>
          <p:cNvSpPr/>
          <p:nvPr/>
        </p:nvSpPr>
        <p:spPr>
          <a:xfrm>
            <a:off x="4251960" y="2651760"/>
            <a:ext cx="3794760" cy="1508760"/>
          </a:xfrm>
          <a:prstGeom prst="roundRect">
            <a:avLst>
              <a:gd name="adj" fmla="val 6061"/>
            </a:avLst>
          </a:prstGeom>
          <a:solidFill>
            <a:srgbClr val="FFFFFF"/>
          </a:solidFill>
          <a:ln w="25400">
            <a:solidFill>
              <a:srgbClr val="7C3AED"/>
            </a:solidFill>
            <a:prstDash val="solid"/>
          </a:ln>
          <a:effectLst>
            <a:outerShdw sx="100000" sy="100000" kx="0" ky="0" algn="bl" rotWithShape="0" blurRad="76200" dist="38100" dir="2700000">
              <a:srgbClr val="00000015">
                <a:alpha val="75000"/>
              </a:srgbClr>
            </a:outerShdw>
          </a:effectLst>
        </p:spPr>
      </p:sp>
      <p:sp>
        <p:nvSpPr>
          <p:cNvPr id="22" name="Shape 20"/>
          <p:cNvSpPr/>
          <p:nvPr/>
        </p:nvSpPr>
        <p:spPr>
          <a:xfrm>
            <a:off x="4251960" y="2651760"/>
            <a:ext cx="109728" cy="1508760"/>
          </a:xfrm>
          <a:prstGeom prst="rect">
            <a:avLst/>
          </a:prstGeom>
          <a:solidFill>
            <a:srgbClr val="7C3AED"/>
          </a:solidFill>
          <a:ln w="12700">
            <a:solidFill>
              <a:srgbClr val="7C3AED"/>
            </a:solidFill>
            <a:prstDash val="solid"/>
          </a:ln>
        </p:spPr>
      </p:sp>
      <p:sp>
        <p:nvSpPr>
          <p:cNvPr id="23" name="Text 21"/>
          <p:cNvSpPr/>
          <p:nvPr/>
        </p:nvSpPr>
        <p:spPr>
          <a:xfrm>
            <a:off x="4480560" y="2743200"/>
            <a:ext cx="3520440" cy="365760"/>
          </a:xfrm>
          <a:prstGeom prst="rect">
            <a:avLst/>
          </a:prstGeom>
          <a:noFill/>
          <a:ln/>
        </p:spPr>
        <p:txBody>
          <a:bodyPr wrap="square" rtlCol="0" anchor="ctr"/>
          <a:lstStyle/>
          <a:p>
            <a:pPr indent="0" marL="0">
              <a:buNone/>
            </a:pPr>
            <a:r>
              <a:rPr lang="en-US" sz="1200" b="1" dirty="0">
                <a:solidFill>
                  <a:srgbClr val="7C3AED"/>
                </a:solidFill>
                <a:latin typeface="Calibri" pitchFamily="34" charset="0"/>
                <a:ea typeface="Calibri" pitchFamily="34" charset="-122"/>
                <a:cs typeface="Calibri" pitchFamily="34" charset="-120"/>
              </a:rPr>
              <a:t>Cross-selling</a:t>
            </a:r>
            <a:endParaRPr lang="en-US" sz="1200" dirty="0"/>
          </a:p>
        </p:txBody>
      </p:sp>
      <p:sp>
        <p:nvSpPr>
          <p:cNvPr id="24" name="Text 22"/>
          <p:cNvSpPr/>
          <p:nvPr/>
        </p:nvSpPr>
        <p:spPr>
          <a:xfrm>
            <a:off x="448056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El valor del CRM está en detectar que el propietario del activo X también tiene Y y Z. Sin vínculo, el cross-selling es invisible.</a:t>
            </a:r>
            <a:endParaRPr lang="en-US" sz="1000" dirty="0"/>
          </a:p>
        </p:txBody>
      </p:sp>
      <p:sp>
        <p:nvSpPr>
          <p:cNvPr id="25" name="Shape 23"/>
          <p:cNvSpPr/>
          <p:nvPr/>
        </p:nvSpPr>
        <p:spPr>
          <a:xfrm>
            <a:off x="8229600" y="2651760"/>
            <a:ext cx="3794760" cy="1508760"/>
          </a:xfrm>
          <a:prstGeom prst="roundRect">
            <a:avLst>
              <a:gd name="adj" fmla="val 6061"/>
            </a:avLst>
          </a:prstGeom>
          <a:solidFill>
            <a:srgbClr val="FFFFFF"/>
          </a:solidFill>
          <a:ln w="25400">
            <a:solidFill>
              <a:srgbClr val="B71C1C"/>
            </a:solidFill>
            <a:prstDash val="solid"/>
          </a:ln>
          <a:effectLst>
            <a:outerShdw sx="100000" sy="100000" kx="0" ky="0" algn="bl" rotWithShape="0" blurRad="76200" dist="38100" dir="2700000">
              <a:srgbClr val="00000015">
                <a:alpha val="75000"/>
              </a:srgbClr>
            </a:outerShdw>
          </a:effectLst>
        </p:spPr>
      </p:sp>
      <p:sp>
        <p:nvSpPr>
          <p:cNvPr id="26" name="Shape 24"/>
          <p:cNvSpPr/>
          <p:nvPr/>
        </p:nvSpPr>
        <p:spPr>
          <a:xfrm>
            <a:off x="8229600" y="2651760"/>
            <a:ext cx="109728" cy="1508760"/>
          </a:xfrm>
          <a:prstGeom prst="rect">
            <a:avLst/>
          </a:prstGeom>
          <a:solidFill>
            <a:srgbClr val="B71C1C"/>
          </a:solidFill>
          <a:ln w="12700">
            <a:solidFill>
              <a:srgbClr val="B71C1C"/>
            </a:solidFill>
            <a:prstDash val="solid"/>
          </a:ln>
        </p:spPr>
      </p:sp>
      <p:sp>
        <p:nvSpPr>
          <p:cNvPr id="27" name="Text 25"/>
          <p:cNvSpPr/>
          <p:nvPr/>
        </p:nvSpPr>
        <p:spPr>
          <a:xfrm>
            <a:off x="8458200" y="2743200"/>
            <a:ext cx="3520440" cy="365760"/>
          </a:xfrm>
          <a:prstGeom prst="rect">
            <a:avLst/>
          </a:prstGeom>
          <a:noFill/>
          <a:ln/>
        </p:spPr>
        <p:txBody>
          <a:bodyPr wrap="square" rtlCol="0" anchor="ctr"/>
          <a:lstStyle/>
          <a:p>
            <a:pPr indent="0" marL="0">
              <a:buNone/>
            </a:pPr>
            <a:r>
              <a:rPr lang="en-US" sz="1200" b="1" dirty="0">
                <a:solidFill>
                  <a:srgbClr val="B71C1C"/>
                </a:solidFill>
                <a:latin typeface="Calibri" pitchFamily="34" charset="0"/>
                <a:ea typeface="Calibri" pitchFamily="34" charset="-122"/>
                <a:cs typeface="Calibri" pitchFamily="34" charset="-120"/>
              </a:rPr>
              <a:t>Riesgo operativo y calidad de dato</a:t>
            </a:r>
            <a:endParaRPr lang="en-US" sz="1200" dirty="0"/>
          </a:p>
        </p:txBody>
      </p:sp>
      <p:sp>
        <p:nvSpPr>
          <p:cNvPr id="28" name="Text 26"/>
          <p:cNvSpPr/>
          <p:nvPr/>
        </p:nvSpPr>
        <p:spPr>
          <a:xfrm>
            <a:off x="845820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Un activo sin Cuenta contamina matching, falsea KPIs y obliga a limpiezas manuales costosas.</a:t>
            </a:r>
            <a:endParaRPr lang="en-US" sz="1000" dirty="0"/>
          </a:p>
        </p:txBody>
      </p:sp>
      <p:sp>
        <p:nvSpPr>
          <p:cNvPr id="29" name="Shape 27"/>
          <p:cNvSpPr/>
          <p:nvPr/>
        </p:nvSpPr>
        <p:spPr>
          <a:xfrm>
            <a:off x="274320" y="4434840"/>
            <a:ext cx="11640312" cy="2194560"/>
          </a:xfrm>
          <a:prstGeom prst="roundRect">
            <a:avLst>
              <a:gd name="adj" fmla="val 6250"/>
            </a:avLst>
          </a:prstGeom>
          <a:solidFill>
            <a:srgbClr val="1A237E"/>
          </a:solidFill>
          <a:ln w="38100">
            <a:solidFill>
              <a:srgbClr val="FF9800"/>
            </a:solidFill>
            <a:prstDash val="solid"/>
          </a:ln>
          <a:effectLst>
            <a:outerShdw sx="100000" sy="100000" kx="0" ky="0" algn="bl" rotWithShape="0" blurRad="127000" dist="63500" dir="2700000">
              <a:srgbClr val="00000040">
                <a:alpha val="75000"/>
              </a:srgbClr>
            </a:outerShdw>
          </a:effectLst>
        </p:spPr>
      </p:sp>
      <p:sp>
        <p:nvSpPr>
          <p:cNvPr id="30" name="Text 28"/>
          <p:cNvSpPr/>
          <p:nvPr/>
        </p:nvSpPr>
        <p:spPr>
          <a:xfrm>
            <a:off x="274320" y="4572000"/>
            <a:ext cx="11640312" cy="365760"/>
          </a:xfrm>
          <a:prstGeom prst="rect">
            <a:avLst/>
          </a:prstGeom>
          <a:noFill/>
          <a:ln/>
        </p:spPr>
        <p:txBody>
          <a:bodyPr wrap="square" rtlCol="0" anchor="ctr"/>
          <a:lstStyle/>
          <a:p>
            <a:pPr algn="ctr" indent="0" marL="0">
              <a:buNone/>
            </a:pPr>
            <a:r>
              <a:rPr lang="en-US" sz="1400" b="1" dirty="0">
                <a:solidFill>
                  <a:srgbClr val="FF9800"/>
                </a:solidFill>
                <a:latin typeface="Calibri" pitchFamily="34" charset="0"/>
                <a:ea typeface="Calibri" pitchFamily="34" charset="-122"/>
                <a:cs typeface="Calibri" pitchFamily="34" charset="-120"/>
              </a:rPr>
              <a:t>REGLA DE ORO</a:t>
            </a:r>
            <a:endParaRPr lang="en-US" sz="1400" dirty="0"/>
          </a:p>
        </p:txBody>
      </p:sp>
      <p:sp>
        <p:nvSpPr>
          <p:cNvPr id="31" name="Text 29"/>
          <p:cNvSpPr/>
          <p:nvPr/>
        </p:nvSpPr>
        <p:spPr>
          <a:xfrm>
            <a:off x="274320" y="4937760"/>
            <a:ext cx="11640312" cy="1554480"/>
          </a:xfrm>
          <a:prstGeom prst="rect">
            <a:avLst/>
          </a:prstGeom>
          <a:noFill/>
          <a:ln/>
        </p:spPr>
        <p:txBody>
          <a:bodyPr wrap="square" rtlCol="0" anchor="ctr"/>
          <a:lstStyle/>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Ningún Activo sin Cuenta-Propietario.</a:t>
            </a:r>
            <a:endParaRPr lang="en-US" sz="2200" dirty="0"/>
          </a:p>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Ninguna Demanda sin Cuenta-Arrendatario.</a:t>
            </a:r>
            <a:endParaRPr lang="en-US" sz="2200" dirty="0"/>
          </a:p>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Ninguna Oferta sin ambas.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2026-04-27T15:09:44Z</dcterms:created>
  <dcterms:modified xsi:type="dcterms:W3CDTF">2026-04-27T15:09:44Z</dcterms:modified>
</cp:coreProperties>
</file>