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0B1F3F"/>
          </a:solidFill>
          <a:ln w="12700">
            <a:solidFill>
              <a:srgbClr val="0B1F3F"/>
            </a:solidFill>
            <a:prstDash val="solid"/>
          </a:ln>
        </p:spPr>
      </p:sp>
      <p:sp>
        <p:nvSpPr>
          <p:cNvPr id="3" name="Shape 1"/>
          <p:cNvSpPr/>
          <p:nvPr/>
        </p:nvSpPr>
        <p:spPr>
          <a:xfrm>
            <a:off x="3840480" y="0"/>
            <a:ext cx="54864" cy="6858000"/>
          </a:xfrm>
          <a:prstGeom prst="rect">
            <a:avLst/>
          </a:prstGeom>
          <a:solidFill>
            <a:srgbClr val="0EA5E9"/>
          </a:solidFill>
          <a:ln w="12700">
            <a:solidFill>
              <a:srgbClr val="0EA5E9"/>
            </a:solidFill>
            <a:prstDash val="solid"/>
          </a:ln>
        </p:spPr>
      </p:sp>
      <p:sp>
        <p:nvSpPr>
          <p:cNvPr id="4" name="Text 2"/>
          <p:cNvSpPr/>
          <p:nvPr/>
        </p:nvSpPr>
        <p:spPr>
          <a:xfrm>
            <a:off x="548640" y="640080"/>
            <a:ext cx="2743200" cy="640080"/>
          </a:xfrm>
          <a:prstGeom prst="rect">
            <a:avLst/>
          </a:prstGeom>
          <a:noFill/>
          <a:ln/>
        </p:spPr>
        <p:txBody>
          <a:bodyPr wrap="square"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PDB</a:t>
            </a:r>
            <a:endParaRPr lang="en-US" sz="3800" dirty="0"/>
          </a:p>
        </p:txBody>
      </p:sp>
      <p:sp>
        <p:nvSpPr>
          <p:cNvPr id="5" name="Text 3"/>
          <p:cNvSpPr/>
          <p:nvPr/>
        </p:nvSpPr>
        <p:spPr>
          <a:xfrm>
            <a:off x="548640" y="1280160"/>
            <a:ext cx="2743200" cy="365760"/>
          </a:xfrm>
          <a:prstGeom prst="rect">
            <a:avLst/>
          </a:prstGeom>
          <a:noFill/>
          <a:ln/>
        </p:spPr>
        <p:txBody>
          <a:bodyPr wrap="square"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PropDatabase CRM</a:t>
            </a:r>
            <a:endParaRPr lang="en-US" sz="1200" dirty="0"/>
          </a:p>
        </p:txBody>
      </p:sp>
      <p:sp>
        <p:nvSpPr>
          <p:cNvPr id="6" name="Text 4"/>
          <p:cNvSpPr/>
          <p:nvPr/>
        </p:nvSpPr>
        <p:spPr>
          <a:xfrm>
            <a:off x="548640" y="5669280"/>
            <a:ext cx="27432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Savills</a:t>
            </a:r>
            <a:endParaRPr lang="en-US" sz="1300" dirty="0"/>
          </a:p>
        </p:txBody>
      </p:sp>
      <p:sp>
        <p:nvSpPr>
          <p:cNvPr id="7" name="Text 5"/>
          <p:cNvSpPr/>
          <p:nvPr/>
        </p:nvSpPr>
        <p:spPr>
          <a:xfrm>
            <a:off x="548640" y="5989320"/>
            <a:ext cx="2743200" cy="274320"/>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Departamento de Capital Markets</a:t>
            </a:r>
            <a:endParaRPr lang="en-US" sz="1000" dirty="0"/>
          </a:p>
        </p:txBody>
      </p:sp>
      <p:sp>
        <p:nvSpPr>
          <p:cNvPr id="8" name="Text 6"/>
          <p:cNvSpPr/>
          <p:nvPr/>
        </p:nvSpPr>
        <p:spPr>
          <a:xfrm>
            <a:off x="548640" y="6309360"/>
            <a:ext cx="2743200" cy="274320"/>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2026</a:t>
            </a:r>
            <a:endParaRPr lang="en-US" sz="1000" dirty="0"/>
          </a:p>
        </p:txBody>
      </p:sp>
      <p:sp>
        <p:nvSpPr>
          <p:cNvPr id="9" name="Text 7"/>
          <p:cNvSpPr/>
          <p:nvPr/>
        </p:nvSpPr>
        <p:spPr>
          <a:xfrm>
            <a:off x="4297680" y="2011680"/>
            <a:ext cx="7498080" cy="548640"/>
          </a:xfrm>
          <a:prstGeom prst="rect">
            <a:avLst/>
          </a:prstGeom>
          <a:noFill/>
          <a:ln/>
        </p:spPr>
        <p:txBody>
          <a:bodyPr wrap="square" rtlCol="0" anchor="ctr"/>
          <a:lstStyle/>
          <a:p>
            <a:pPr indent="0" marL="0">
              <a:buNone/>
            </a:pPr>
            <a:r>
              <a:rPr lang="en-US" sz="1600" dirty="0">
                <a:solidFill>
                  <a:srgbClr val="64748B"/>
                </a:solidFill>
                <a:latin typeface="Calibri" pitchFamily="34" charset="0"/>
                <a:ea typeface="Calibri" pitchFamily="34" charset="-122"/>
                <a:cs typeface="Calibri" pitchFamily="34" charset="-120"/>
              </a:rPr>
              <a:t>Mapa de Procesos</a:t>
            </a:r>
            <a:endParaRPr lang="en-US" sz="1600" dirty="0"/>
          </a:p>
        </p:txBody>
      </p:sp>
      <p:sp>
        <p:nvSpPr>
          <p:cNvPr id="10" name="Text 8"/>
          <p:cNvSpPr/>
          <p:nvPr/>
        </p:nvSpPr>
        <p:spPr>
          <a:xfrm>
            <a:off x="4297680" y="2468880"/>
            <a:ext cx="7498080" cy="1554480"/>
          </a:xfrm>
          <a:prstGeom prst="rect">
            <a:avLst/>
          </a:prstGeom>
          <a:noFill/>
          <a:ln/>
        </p:spPr>
        <p:txBody>
          <a:bodyPr wrap="square" rtlCol="0" anchor="t"/>
          <a:lstStyle/>
          <a:p>
            <a:pPr indent="0" marL="0">
              <a:buNone/>
            </a:pPr>
            <a:r>
              <a:rPr lang="en-US" sz="3800" b="1" dirty="0">
                <a:solidFill>
                  <a:srgbClr val="0F172A"/>
                </a:solidFill>
                <a:latin typeface="Calibri" pitchFamily="34" charset="0"/>
                <a:ea typeface="Calibri" pitchFamily="34" charset="-122"/>
                <a:cs typeface="Calibri" pitchFamily="34" charset="-120"/>
              </a:rPr>
              <a:t>Cómo se conectan</a:t>
            </a:r>
            <a:endParaRPr lang="en-US" sz="3800" dirty="0"/>
          </a:p>
          <a:p>
            <a:pPr indent="0" marL="0">
              <a:buNone/>
            </a:pPr>
            <a:r>
              <a:rPr lang="en-US" sz="3800" b="1" dirty="0">
                <a:solidFill>
                  <a:srgbClr val="0F172A"/>
                </a:solidFill>
                <a:latin typeface="Calibri" pitchFamily="34" charset="0"/>
                <a:ea typeface="Calibri" pitchFamily="34" charset="-122"/>
                <a:cs typeface="Calibri" pitchFamily="34" charset="-120"/>
              </a:rPr>
              <a:t>los módulos del CRM</a:t>
            </a:r>
            <a:endParaRPr lang="en-US" sz="3800" dirty="0"/>
          </a:p>
        </p:txBody>
      </p:sp>
      <p:sp>
        <p:nvSpPr>
          <p:cNvPr id="11" name="Shape 9"/>
          <p:cNvSpPr/>
          <p:nvPr/>
        </p:nvSpPr>
        <p:spPr>
          <a:xfrm>
            <a:off x="4297680" y="4434840"/>
            <a:ext cx="1097280" cy="0"/>
          </a:xfrm>
          <a:prstGeom prst="line">
            <a:avLst/>
          </a:prstGeom>
          <a:noFill/>
          <a:ln w="31750">
            <a:solidFill>
              <a:srgbClr val="0EA5E9"/>
            </a:solidFill>
            <a:prstDash val="solid"/>
          </a:ln>
        </p:spPr>
      </p:sp>
      <p:sp>
        <p:nvSpPr>
          <p:cNvPr id="12" name="Text 10"/>
          <p:cNvSpPr/>
          <p:nvPr/>
        </p:nvSpPr>
        <p:spPr>
          <a:xfrm>
            <a:off x="4297680" y="4709160"/>
            <a:ext cx="7315200" cy="1188720"/>
          </a:xfrm>
          <a:prstGeom prst="rect">
            <a:avLst/>
          </a:prstGeom>
          <a:noFill/>
          <a:ln/>
        </p:spPr>
        <p:txBody>
          <a:bodyPr wrap="square" rtlCol="0" anchor="t"/>
          <a:lstStyle/>
          <a:p>
            <a:pPr indent="0" marL="0">
              <a:buNone/>
            </a:pPr>
            <a:r>
              <a:rPr lang="en-US" sz="1200" i="1" dirty="0">
                <a:solidFill>
                  <a:srgbClr val="334155"/>
                </a:solidFill>
                <a:latin typeface="Calibri" pitchFamily="34" charset="0"/>
                <a:ea typeface="Calibri" pitchFamily="34" charset="-122"/>
                <a:cs typeface="Calibri" pitchFamily="34" charset="-120"/>
              </a:rPr>
              <a:t>Documento de referencia interno que describe los flujos comerciales del CRM, las dependencias entre módulos y las reglas de gobierno entre PropDatabase y Microsoft Dynamics 365.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Índice</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02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Contenido</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Mapa completo de los procesos del CRM, agrupados por bloque temático.</a:t>
            </a:r>
            <a:endParaRPr lang="en-US" sz="1150" dirty="0"/>
          </a:p>
        </p:txBody>
      </p:sp>
      <p:sp>
        <p:nvSpPr>
          <p:cNvPr id="10" name="Text 8"/>
          <p:cNvSpPr/>
          <p:nvPr/>
        </p:nvSpPr>
        <p:spPr>
          <a:xfrm>
            <a:off x="502920" y="1463040"/>
            <a:ext cx="11183112" cy="201168"/>
          </a:xfrm>
          <a:prstGeom prst="rect">
            <a:avLst/>
          </a:prstGeom>
          <a:noFill/>
          <a:ln/>
        </p:spPr>
        <p:txBody>
          <a:bodyPr wrap="square"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FUNDAMENTOS</a:t>
            </a:r>
            <a:endParaRPr lang="en-US" sz="900" dirty="0"/>
          </a:p>
        </p:txBody>
      </p:sp>
      <p:sp>
        <p:nvSpPr>
          <p:cNvPr id="11" name="Text 9"/>
          <p:cNvSpPr/>
          <p:nvPr/>
        </p:nvSpPr>
        <p:spPr>
          <a:xfrm>
            <a:off x="502920" y="1737360"/>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01</a:t>
            </a:r>
            <a:endParaRPr lang="en-US" sz="1300" dirty="0"/>
          </a:p>
        </p:txBody>
      </p:sp>
      <p:sp>
        <p:nvSpPr>
          <p:cNvPr id="12" name="Text 10"/>
          <p:cNvSpPr/>
          <p:nvPr/>
        </p:nvSpPr>
        <p:spPr>
          <a:xfrm>
            <a:off x="960120" y="1737360"/>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Conceptos clave</a:t>
            </a:r>
            <a:endParaRPr lang="en-US" sz="1150" dirty="0"/>
          </a:p>
        </p:txBody>
      </p:sp>
      <p:sp>
        <p:nvSpPr>
          <p:cNvPr id="13" name="Text 11"/>
          <p:cNvSpPr/>
          <p:nvPr/>
        </p:nvSpPr>
        <p:spPr>
          <a:xfrm>
            <a:off x="4709160" y="1737360"/>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Oportunidad · Instrucción · Cuenta vs Entidad Legal · Activo vs Oferta</a:t>
            </a:r>
            <a:endParaRPr lang="en-US" sz="1000" dirty="0"/>
          </a:p>
        </p:txBody>
      </p:sp>
      <p:sp>
        <p:nvSpPr>
          <p:cNvPr id="14" name="Text 12"/>
          <p:cNvSpPr/>
          <p:nvPr/>
        </p:nvSpPr>
        <p:spPr>
          <a:xfrm>
            <a:off x="502920" y="2029968"/>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02</a:t>
            </a:r>
            <a:endParaRPr lang="en-US" sz="1300" dirty="0"/>
          </a:p>
        </p:txBody>
      </p:sp>
      <p:sp>
        <p:nvSpPr>
          <p:cNvPr id="15" name="Text 13"/>
          <p:cNvSpPr/>
          <p:nvPr/>
        </p:nvSpPr>
        <p:spPr>
          <a:xfrm>
            <a:off x="960120" y="2029968"/>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Mapa de dependencias</a:t>
            </a:r>
            <a:endParaRPr lang="en-US" sz="1150" dirty="0"/>
          </a:p>
        </p:txBody>
      </p:sp>
      <p:sp>
        <p:nvSpPr>
          <p:cNvPr id="16" name="Text 14"/>
          <p:cNvSpPr/>
          <p:nvPr/>
        </p:nvSpPr>
        <p:spPr>
          <a:xfrm>
            <a:off x="4709160" y="2029968"/>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Qué entidad cuelga de qué · FKs obligatorios</a:t>
            </a:r>
            <a:endParaRPr lang="en-US" sz="1000" dirty="0"/>
          </a:p>
        </p:txBody>
      </p:sp>
      <p:sp>
        <p:nvSpPr>
          <p:cNvPr id="17" name="Text 15"/>
          <p:cNvSpPr/>
          <p:nvPr/>
        </p:nvSpPr>
        <p:spPr>
          <a:xfrm>
            <a:off x="502920" y="2322576"/>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03</a:t>
            </a:r>
            <a:endParaRPr lang="en-US" sz="1300" dirty="0"/>
          </a:p>
        </p:txBody>
      </p:sp>
      <p:sp>
        <p:nvSpPr>
          <p:cNvPr id="18" name="Text 16"/>
          <p:cNvSpPr/>
          <p:nvPr/>
        </p:nvSpPr>
        <p:spPr>
          <a:xfrm>
            <a:off x="960120" y="2322576"/>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Ciclo comercial completo</a:t>
            </a:r>
            <a:endParaRPr lang="en-US" sz="1150" dirty="0"/>
          </a:p>
        </p:txBody>
      </p:sp>
      <p:sp>
        <p:nvSpPr>
          <p:cNvPr id="19" name="Text 17"/>
          <p:cNvSpPr/>
          <p:nvPr/>
        </p:nvSpPr>
        <p:spPr>
          <a:xfrm>
            <a:off x="4709160" y="2322576"/>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Lead → Cuenta → Activo/Oferta/Demanda → Negociación → Instrucción</a:t>
            </a:r>
            <a:endParaRPr lang="en-US" sz="1000" dirty="0"/>
          </a:p>
        </p:txBody>
      </p:sp>
      <p:sp>
        <p:nvSpPr>
          <p:cNvPr id="20" name="Text 18"/>
          <p:cNvSpPr/>
          <p:nvPr/>
        </p:nvSpPr>
        <p:spPr>
          <a:xfrm>
            <a:off x="502920" y="2724912"/>
            <a:ext cx="11183112" cy="201168"/>
          </a:xfrm>
          <a:prstGeom prst="rect">
            <a:avLst/>
          </a:prstGeom>
          <a:noFill/>
          <a:ln/>
        </p:spPr>
        <p:txBody>
          <a:bodyPr wrap="square"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ENTRADA Y RELACIÓN</a:t>
            </a:r>
            <a:endParaRPr lang="en-US" sz="900" dirty="0"/>
          </a:p>
        </p:txBody>
      </p:sp>
      <p:sp>
        <p:nvSpPr>
          <p:cNvPr id="21" name="Text 19"/>
          <p:cNvSpPr/>
          <p:nvPr/>
        </p:nvSpPr>
        <p:spPr>
          <a:xfrm>
            <a:off x="502920" y="2999232"/>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960120" y="2999232"/>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Lead — origen del funnel</a:t>
            </a:r>
            <a:endParaRPr lang="en-US" sz="1150" dirty="0"/>
          </a:p>
        </p:txBody>
      </p:sp>
      <p:sp>
        <p:nvSpPr>
          <p:cNvPr id="23" name="Text 21"/>
          <p:cNvSpPr/>
          <p:nvPr/>
        </p:nvSpPr>
        <p:spPr>
          <a:xfrm>
            <a:off x="4709160" y="2999232"/>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Captura automática y cualificación</a:t>
            </a:r>
            <a:endParaRPr lang="en-US" sz="1000" dirty="0"/>
          </a:p>
        </p:txBody>
      </p:sp>
      <p:sp>
        <p:nvSpPr>
          <p:cNvPr id="24" name="Text 22"/>
          <p:cNvSpPr/>
          <p:nvPr/>
        </p:nvSpPr>
        <p:spPr>
          <a:xfrm>
            <a:off x="502920" y="3291840"/>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05</a:t>
            </a:r>
            <a:endParaRPr lang="en-US" sz="1300" dirty="0"/>
          </a:p>
        </p:txBody>
      </p:sp>
      <p:sp>
        <p:nvSpPr>
          <p:cNvPr id="25" name="Text 23"/>
          <p:cNvSpPr/>
          <p:nvPr/>
        </p:nvSpPr>
        <p:spPr>
          <a:xfrm>
            <a:off x="960120" y="3291840"/>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Cuentas y Contactos</a:t>
            </a:r>
            <a:endParaRPr lang="en-US" sz="1150" dirty="0"/>
          </a:p>
        </p:txBody>
      </p:sp>
      <p:sp>
        <p:nvSpPr>
          <p:cNvPr id="26" name="Text 24"/>
          <p:cNvSpPr/>
          <p:nvPr/>
        </p:nvSpPr>
        <p:spPr>
          <a:xfrm>
            <a:off x="4709160" y="3291840"/>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Núcleo relacional · Dynamics como sistema maestro</a:t>
            </a:r>
            <a:endParaRPr lang="en-US" sz="1000" dirty="0"/>
          </a:p>
        </p:txBody>
      </p:sp>
      <p:sp>
        <p:nvSpPr>
          <p:cNvPr id="27" name="Text 25"/>
          <p:cNvSpPr/>
          <p:nvPr/>
        </p:nvSpPr>
        <p:spPr>
          <a:xfrm>
            <a:off x="502920" y="3584448"/>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06</a:t>
            </a:r>
            <a:endParaRPr lang="en-US" sz="1300" dirty="0"/>
          </a:p>
        </p:txBody>
      </p:sp>
      <p:sp>
        <p:nvSpPr>
          <p:cNvPr id="28" name="Text 26"/>
          <p:cNvSpPr/>
          <p:nvPr/>
        </p:nvSpPr>
        <p:spPr>
          <a:xfrm>
            <a:off x="960120" y="3584448"/>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Oportunidades (WIP)</a:t>
            </a:r>
            <a:endParaRPr lang="en-US" sz="1150" dirty="0"/>
          </a:p>
        </p:txBody>
      </p:sp>
      <p:sp>
        <p:nvSpPr>
          <p:cNvPr id="29" name="Text 27"/>
          <p:cNvSpPr/>
          <p:nvPr/>
        </p:nvSpPr>
        <p:spPr>
          <a:xfrm>
            <a:off x="4709160" y="3584448"/>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Paraguas comercial · Dynamics</a:t>
            </a:r>
            <a:endParaRPr lang="en-US" sz="1000" dirty="0"/>
          </a:p>
        </p:txBody>
      </p:sp>
      <p:sp>
        <p:nvSpPr>
          <p:cNvPr id="30" name="Text 28"/>
          <p:cNvSpPr/>
          <p:nvPr/>
        </p:nvSpPr>
        <p:spPr>
          <a:xfrm>
            <a:off x="502920" y="3986784"/>
            <a:ext cx="11183112" cy="201168"/>
          </a:xfrm>
          <a:prstGeom prst="rect">
            <a:avLst/>
          </a:prstGeom>
          <a:noFill/>
          <a:ln/>
        </p:spPr>
        <p:txBody>
          <a:bodyPr wrap="square"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PRODUCTO</a:t>
            </a:r>
            <a:endParaRPr lang="en-US" sz="900" dirty="0"/>
          </a:p>
        </p:txBody>
      </p:sp>
      <p:sp>
        <p:nvSpPr>
          <p:cNvPr id="31" name="Text 29"/>
          <p:cNvSpPr/>
          <p:nvPr/>
        </p:nvSpPr>
        <p:spPr>
          <a:xfrm>
            <a:off x="502920" y="4261104"/>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07</a:t>
            </a:r>
            <a:endParaRPr lang="en-US" sz="1300" dirty="0"/>
          </a:p>
        </p:txBody>
      </p:sp>
      <p:sp>
        <p:nvSpPr>
          <p:cNvPr id="32" name="Text 30"/>
          <p:cNvSpPr/>
          <p:nvPr/>
        </p:nvSpPr>
        <p:spPr>
          <a:xfrm>
            <a:off x="960120" y="4261104"/>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Activo</a:t>
            </a:r>
            <a:endParaRPr lang="en-US" sz="1150" dirty="0"/>
          </a:p>
        </p:txBody>
      </p:sp>
      <p:sp>
        <p:nvSpPr>
          <p:cNvPr id="33" name="Text 31"/>
          <p:cNvSpPr/>
          <p:nvPr/>
        </p:nvSpPr>
        <p:spPr>
          <a:xfrm>
            <a:off x="4709160" y="4261104"/>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Estructura física · puede existir sin propietario</a:t>
            </a:r>
            <a:endParaRPr lang="en-US" sz="1000" dirty="0"/>
          </a:p>
        </p:txBody>
      </p:sp>
      <p:sp>
        <p:nvSpPr>
          <p:cNvPr id="34" name="Text 32"/>
          <p:cNvSpPr/>
          <p:nvPr/>
        </p:nvSpPr>
        <p:spPr>
          <a:xfrm>
            <a:off x="502920" y="4553712"/>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08</a:t>
            </a:r>
            <a:endParaRPr lang="en-US" sz="1300" dirty="0"/>
          </a:p>
        </p:txBody>
      </p:sp>
      <p:sp>
        <p:nvSpPr>
          <p:cNvPr id="35" name="Text 33"/>
          <p:cNvSpPr/>
          <p:nvPr/>
        </p:nvSpPr>
        <p:spPr>
          <a:xfrm>
            <a:off x="960120" y="4553712"/>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Stacking Plan</a:t>
            </a:r>
            <a:endParaRPr lang="en-US" sz="1150" dirty="0"/>
          </a:p>
        </p:txBody>
      </p:sp>
      <p:sp>
        <p:nvSpPr>
          <p:cNvPr id="36" name="Text 34"/>
          <p:cNvSpPr/>
          <p:nvPr/>
        </p:nvSpPr>
        <p:spPr>
          <a:xfrm>
            <a:off x="4709160" y="4553712"/>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Distribución de plantas · usos · ocupación</a:t>
            </a:r>
            <a:endParaRPr lang="en-US" sz="1000" dirty="0"/>
          </a:p>
        </p:txBody>
      </p:sp>
      <p:sp>
        <p:nvSpPr>
          <p:cNvPr id="37" name="Text 35"/>
          <p:cNvSpPr/>
          <p:nvPr/>
        </p:nvSpPr>
        <p:spPr>
          <a:xfrm>
            <a:off x="502920" y="4846320"/>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09</a:t>
            </a:r>
            <a:endParaRPr lang="en-US" sz="1300" dirty="0"/>
          </a:p>
        </p:txBody>
      </p:sp>
      <p:sp>
        <p:nvSpPr>
          <p:cNvPr id="38" name="Text 36"/>
          <p:cNvSpPr/>
          <p:nvPr/>
        </p:nvSpPr>
        <p:spPr>
          <a:xfrm>
            <a:off x="960120" y="4846320"/>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Oferta</a:t>
            </a:r>
            <a:endParaRPr lang="en-US" sz="1150" dirty="0"/>
          </a:p>
        </p:txBody>
      </p:sp>
      <p:sp>
        <p:nvSpPr>
          <p:cNvPr id="39" name="Text 37"/>
          <p:cNvSpPr/>
          <p:nvPr/>
        </p:nvSpPr>
        <p:spPr>
          <a:xfrm>
            <a:off x="4709160" y="4846320"/>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Disponibilidad comercial · cuelga del Activo</a:t>
            </a:r>
            <a:endParaRPr lang="en-US" sz="1000" dirty="0"/>
          </a:p>
        </p:txBody>
      </p:sp>
      <p:sp>
        <p:nvSpPr>
          <p:cNvPr id="40" name="Text 38"/>
          <p:cNvSpPr/>
          <p:nvPr/>
        </p:nvSpPr>
        <p:spPr>
          <a:xfrm>
            <a:off x="502920" y="5248656"/>
            <a:ext cx="11183112" cy="201168"/>
          </a:xfrm>
          <a:prstGeom prst="rect">
            <a:avLst/>
          </a:prstGeom>
          <a:noFill/>
          <a:ln/>
        </p:spPr>
        <p:txBody>
          <a:bodyPr wrap="square"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COMERCIALIZACIÓN</a:t>
            </a:r>
            <a:endParaRPr lang="en-US" sz="900" dirty="0"/>
          </a:p>
        </p:txBody>
      </p:sp>
      <p:sp>
        <p:nvSpPr>
          <p:cNvPr id="41" name="Text 39"/>
          <p:cNvSpPr/>
          <p:nvPr/>
        </p:nvSpPr>
        <p:spPr>
          <a:xfrm>
            <a:off x="502920" y="5522976"/>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10</a:t>
            </a:r>
            <a:endParaRPr lang="en-US" sz="1300" dirty="0"/>
          </a:p>
        </p:txBody>
      </p:sp>
      <p:sp>
        <p:nvSpPr>
          <p:cNvPr id="42" name="Text 40"/>
          <p:cNvSpPr/>
          <p:nvPr/>
        </p:nvSpPr>
        <p:spPr>
          <a:xfrm>
            <a:off x="960120" y="5522976"/>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Demanda</a:t>
            </a:r>
            <a:endParaRPr lang="en-US" sz="1150" dirty="0"/>
          </a:p>
        </p:txBody>
      </p:sp>
      <p:sp>
        <p:nvSpPr>
          <p:cNvPr id="43" name="Text 41"/>
          <p:cNvSpPr/>
          <p:nvPr/>
        </p:nvSpPr>
        <p:spPr>
          <a:xfrm>
            <a:off x="4709160" y="5522976"/>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Perfil de búsqueda · matching contra Ofertas</a:t>
            </a:r>
            <a:endParaRPr lang="en-US" sz="1000" dirty="0"/>
          </a:p>
        </p:txBody>
      </p:sp>
      <p:sp>
        <p:nvSpPr>
          <p:cNvPr id="44" name="Text 42"/>
          <p:cNvSpPr/>
          <p:nvPr/>
        </p:nvSpPr>
        <p:spPr>
          <a:xfrm>
            <a:off x="502920" y="5815584"/>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11</a:t>
            </a:r>
            <a:endParaRPr lang="en-US" sz="1300" dirty="0"/>
          </a:p>
        </p:txBody>
      </p:sp>
      <p:sp>
        <p:nvSpPr>
          <p:cNvPr id="45" name="Text 43"/>
          <p:cNvSpPr/>
          <p:nvPr/>
        </p:nvSpPr>
        <p:spPr>
          <a:xfrm>
            <a:off x="960120" y="5815584"/>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Visitas</a:t>
            </a:r>
            <a:endParaRPr lang="en-US" sz="1150" dirty="0"/>
          </a:p>
        </p:txBody>
      </p:sp>
      <p:sp>
        <p:nvSpPr>
          <p:cNvPr id="46" name="Text 44"/>
          <p:cNvSpPr/>
          <p:nvPr/>
        </p:nvSpPr>
        <p:spPr>
          <a:xfrm>
            <a:off x="4709160" y="5815584"/>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Inspección física · feedback comercial</a:t>
            </a:r>
            <a:endParaRPr lang="en-US" sz="1000" dirty="0"/>
          </a:p>
        </p:txBody>
      </p:sp>
      <p:sp>
        <p:nvSpPr>
          <p:cNvPr id="47" name="Text 45"/>
          <p:cNvSpPr/>
          <p:nvPr/>
        </p:nvSpPr>
        <p:spPr>
          <a:xfrm>
            <a:off x="502920" y="6108192"/>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12</a:t>
            </a:r>
            <a:endParaRPr lang="en-US" sz="1300" dirty="0"/>
          </a:p>
        </p:txBody>
      </p:sp>
      <p:sp>
        <p:nvSpPr>
          <p:cNvPr id="48" name="Text 46"/>
          <p:cNvSpPr/>
          <p:nvPr/>
        </p:nvSpPr>
        <p:spPr>
          <a:xfrm>
            <a:off x="960120" y="6108192"/>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Negociación</a:t>
            </a:r>
            <a:endParaRPr lang="en-US" sz="1150" dirty="0"/>
          </a:p>
        </p:txBody>
      </p:sp>
      <p:sp>
        <p:nvSpPr>
          <p:cNvPr id="49" name="Text 47"/>
          <p:cNvSpPr/>
          <p:nvPr/>
        </p:nvSpPr>
        <p:spPr>
          <a:xfrm>
            <a:off x="4709160" y="6108192"/>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Hilo formal · tabla evolutiva de versiones</a:t>
            </a:r>
            <a:endParaRPr lang="en-US" sz="1000" dirty="0"/>
          </a:p>
        </p:txBody>
      </p:sp>
      <p:sp>
        <p:nvSpPr>
          <p:cNvPr id="50" name="Text 48"/>
          <p:cNvSpPr/>
          <p:nvPr/>
        </p:nvSpPr>
        <p:spPr>
          <a:xfrm>
            <a:off x="502920" y="6510528"/>
            <a:ext cx="11183112" cy="201168"/>
          </a:xfrm>
          <a:prstGeom prst="rect">
            <a:avLst/>
          </a:prstGeom>
          <a:noFill/>
          <a:ln/>
        </p:spPr>
        <p:txBody>
          <a:bodyPr wrap="square"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CIERRE Y CONTINUIDAD</a:t>
            </a:r>
            <a:endParaRPr lang="en-US" sz="900" dirty="0"/>
          </a:p>
        </p:txBody>
      </p:sp>
      <p:sp>
        <p:nvSpPr>
          <p:cNvPr id="51" name="Text 49"/>
          <p:cNvSpPr/>
          <p:nvPr/>
        </p:nvSpPr>
        <p:spPr>
          <a:xfrm>
            <a:off x="502920" y="6784848"/>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13</a:t>
            </a:r>
            <a:endParaRPr lang="en-US" sz="1300" dirty="0"/>
          </a:p>
        </p:txBody>
      </p:sp>
      <p:sp>
        <p:nvSpPr>
          <p:cNvPr id="52" name="Text 50"/>
          <p:cNvSpPr/>
          <p:nvPr/>
        </p:nvSpPr>
        <p:spPr>
          <a:xfrm>
            <a:off x="960120" y="6784848"/>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Instrucción / Transacción</a:t>
            </a:r>
            <a:endParaRPr lang="en-US" sz="1150" dirty="0"/>
          </a:p>
        </p:txBody>
      </p:sp>
      <p:sp>
        <p:nvSpPr>
          <p:cNvPr id="53" name="Text 51"/>
          <p:cNvSpPr/>
          <p:nvPr/>
        </p:nvSpPr>
        <p:spPr>
          <a:xfrm>
            <a:off x="4709160" y="6784848"/>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Cierre formal · facturación contra Entidad Legal</a:t>
            </a:r>
            <a:endParaRPr lang="en-US" sz="1000" dirty="0"/>
          </a:p>
        </p:txBody>
      </p:sp>
      <p:sp>
        <p:nvSpPr>
          <p:cNvPr id="54" name="Text 52"/>
          <p:cNvSpPr/>
          <p:nvPr/>
        </p:nvSpPr>
        <p:spPr>
          <a:xfrm>
            <a:off x="502920" y="7077456"/>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14</a:t>
            </a:r>
            <a:endParaRPr lang="en-US" sz="1300" dirty="0"/>
          </a:p>
        </p:txBody>
      </p:sp>
      <p:sp>
        <p:nvSpPr>
          <p:cNvPr id="55" name="Text 53"/>
          <p:cNvSpPr/>
          <p:nvPr/>
        </p:nvSpPr>
        <p:spPr>
          <a:xfrm>
            <a:off x="960120" y="7077456"/>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Mandatos · Propuestas</a:t>
            </a:r>
            <a:endParaRPr lang="en-US" sz="1150" dirty="0"/>
          </a:p>
        </p:txBody>
      </p:sp>
      <p:sp>
        <p:nvSpPr>
          <p:cNvPr id="56" name="Text 54"/>
          <p:cNvSpPr/>
          <p:nvPr/>
        </p:nvSpPr>
        <p:spPr>
          <a:xfrm>
            <a:off x="4709160" y="7077456"/>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Procesos derivados que cuelgan de Oportunidad</a:t>
            </a:r>
            <a:endParaRPr lang="en-US" sz="1000" dirty="0"/>
          </a:p>
        </p:txBody>
      </p:sp>
      <p:sp>
        <p:nvSpPr>
          <p:cNvPr id="57" name="Text 55"/>
          <p:cNvSpPr/>
          <p:nvPr/>
        </p:nvSpPr>
        <p:spPr>
          <a:xfrm>
            <a:off x="502920" y="7370064"/>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15</a:t>
            </a:r>
            <a:endParaRPr lang="en-US" sz="1300" dirty="0"/>
          </a:p>
        </p:txBody>
      </p:sp>
      <p:sp>
        <p:nvSpPr>
          <p:cNvPr id="58" name="Text 56"/>
          <p:cNvSpPr/>
          <p:nvPr/>
        </p:nvSpPr>
        <p:spPr>
          <a:xfrm>
            <a:off x="960120" y="7370064"/>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Vencimientos</a:t>
            </a:r>
            <a:endParaRPr lang="en-US" sz="1150" dirty="0"/>
          </a:p>
        </p:txBody>
      </p:sp>
      <p:sp>
        <p:nvSpPr>
          <p:cNvPr id="59" name="Text 57"/>
          <p:cNvSpPr/>
          <p:nvPr/>
        </p:nvSpPr>
        <p:spPr>
          <a:xfrm>
            <a:off x="4709160" y="7370064"/>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Detección de break/fin · reactivación del ciclo</a:t>
            </a:r>
            <a:endParaRPr lang="en-US" sz="1000" dirty="0"/>
          </a:p>
        </p:txBody>
      </p:sp>
      <p:sp>
        <p:nvSpPr>
          <p:cNvPr id="60" name="Text 58"/>
          <p:cNvSpPr/>
          <p:nvPr/>
        </p:nvSpPr>
        <p:spPr>
          <a:xfrm>
            <a:off x="502920" y="7662672"/>
            <a:ext cx="411480" cy="256032"/>
          </a:xfrm>
          <a:prstGeom prst="rect">
            <a:avLst/>
          </a:prstGeom>
          <a:noFill/>
          <a:ln/>
        </p:spPr>
        <p:txBody>
          <a:bodyPr wrap="square" rtlCol="0" anchor="ctr"/>
          <a:lstStyle/>
          <a:p>
            <a:pPr algn="l" indent="0" marL="0">
              <a:buNone/>
            </a:pPr>
            <a:r>
              <a:rPr lang="en-US" sz="1300" b="1" dirty="0">
                <a:solidFill>
                  <a:srgbClr val="2563EB"/>
                </a:solidFill>
                <a:latin typeface="Calibri" pitchFamily="34" charset="0"/>
                <a:ea typeface="Calibri" pitchFamily="34" charset="-122"/>
                <a:cs typeface="Calibri" pitchFamily="34" charset="-120"/>
              </a:rPr>
              <a:t>16</a:t>
            </a:r>
            <a:endParaRPr lang="en-US" sz="1300" dirty="0"/>
          </a:p>
        </p:txBody>
      </p:sp>
      <p:sp>
        <p:nvSpPr>
          <p:cNvPr id="61" name="Text 59"/>
          <p:cNvSpPr/>
          <p:nvPr/>
        </p:nvSpPr>
        <p:spPr>
          <a:xfrm>
            <a:off x="960120" y="7662672"/>
            <a:ext cx="3657600" cy="256032"/>
          </a:xfrm>
          <a:prstGeom prst="rect">
            <a:avLst/>
          </a:prstGeom>
          <a:noFill/>
          <a:ln/>
        </p:spPr>
        <p:txBody>
          <a:bodyPr wrap="square"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Confidencialidad</a:t>
            </a:r>
            <a:endParaRPr lang="en-US" sz="1150" dirty="0"/>
          </a:p>
        </p:txBody>
      </p:sp>
      <p:sp>
        <p:nvSpPr>
          <p:cNvPr id="62" name="Text 60"/>
          <p:cNvSpPr/>
          <p:nvPr/>
        </p:nvSpPr>
        <p:spPr>
          <a:xfrm>
            <a:off x="4709160" y="7662672"/>
            <a:ext cx="6976872" cy="256032"/>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Visibilidad granular en ofertas y demandas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01 · Fundamentos</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03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Conceptos clave</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Cuatro pares de conceptos que sostienen toda la arquitectura del CRM.</a:t>
            </a:r>
            <a:endParaRPr lang="en-US" sz="1150" dirty="0"/>
          </a:p>
        </p:txBody>
      </p:sp>
      <p:sp>
        <p:nvSpPr>
          <p:cNvPr id="10" name="Shape 8"/>
          <p:cNvSpPr/>
          <p:nvPr/>
        </p:nvSpPr>
        <p:spPr>
          <a:xfrm>
            <a:off x="502920" y="1508760"/>
            <a:ext cx="5454396" cy="2057400"/>
          </a:xfrm>
          <a:prstGeom prst="roundRect">
            <a:avLst>
              <a:gd name="adj" fmla="val 2667"/>
            </a:avLst>
          </a:prstGeom>
          <a:solidFill>
            <a:srgbClr val="FFFFFF"/>
          </a:solidFill>
          <a:ln w="9525">
            <a:solidFill>
              <a:srgbClr val="E2E8F0"/>
            </a:solidFill>
            <a:prstDash val="solid"/>
          </a:ln>
          <a:effectLst>
            <a:outerShdw sx="100000" sy="100000" kx="0" ky="0" algn="bl" rotWithShape="0" blurRad="63500" dist="12700" dir="5400000">
              <a:srgbClr val="00000014">
                <a:alpha val="75000"/>
              </a:srgbClr>
            </a:outerShdw>
          </a:effectLst>
        </p:spPr>
      </p:sp>
      <p:sp>
        <p:nvSpPr>
          <p:cNvPr id="11" name="Shape 9"/>
          <p:cNvSpPr/>
          <p:nvPr/>
        </p:nvSpPr>
        <p:spPr>
          <a:xfrm>
            <a:off x="502920" y="1508760"/>
            <a:ext cx="5454396" cy="45720"/>
          </a:xfrm>
          <a:prstGeom prst="rect">
            <a:avLst/>
          </a:prstGeom>
          <a:solidFill>
            <a:srgbClr val="2563EB"/>
          </a:solidFill>
          <a:ln w="12700">
            <a:solidFill>
              <a:srgbClr val="2563EB"/>
            </a:solidFill>
            <a:prstDash val="solid"/>
          </a:ln>
        </p:spPr>
      </p:sp>
      <p:sp>
        <p:nvSpPr>
          <p:cNvPr id="12" name="Text 10"/>
          <p:cNvSpPr/>
          <p:nvPr/>
        </p:nvSpPr>
        <p:spPr>
          <a:xfrm>
            <a:off x="731520" y="1673352"/>
            <a:ext cx="4997196" cy="365760"/>
          </a:xfrm>
          <a:prstGeom prst="rect">
            <a:avLst/>
          </a:prstGeom>
          <a:noFill/>
          <a:ln/>
        </p:spPr>
        <p:txBody>
          <a:bodyPr wrap="square"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Oportunidad</a:t>
            </a:r>
            <a:endParaRPr lang="en-US" sz="1700" dirty="0"/>
          </a:p>
        </p:txBody>
      </p:sp>
      <p:sp>
        <p:nvSpPr>
          <p:cNvPr id="13" name="Text 11"/>
          <p:cNvSpPr/>
          <p:nvPr/>
        </p:nvSpPr>
        <p:spPr>
          <a:xfrm>
            <a:off x="731520" y="2075688"/>
            <a:ext cx="4997196" cy="228600"/>
          </a:xfrm>
          <a:prstGeom prst="rect">
            <a:avLst/>
          </a:prstGeom>
          <a:noFill/>
          <a:ln/>
        </p:spPr>
        <p:txBody>
          <a:bodyPr wrap="square" rtlCol="0" anchor="ctr"/>
          <a:lstStyle/>
          <a:p>
            <a:pPr indent="0" marL="0">
              <a:buNone/>
            </a:pPr>
            <a:r>
              <a:rPr lang="en-US" sz="1050" b="1" dirty="0">
                <a:solidFill>
                  <a:srgbClr val="2563EB"/>
                </a:solidFill>
                <a:latin typeface="Calibri" pitchFamily="34" charset="0"/>
                <a:ea typeface="Calibri" pitchFamily="34" charset="-122"/>
                <a:cs typeface="Calibri" pitchFamily="34" charset="-120"/>
              </a:rPr>
              <a:t>WIP comercial · Microsoft Dynamics</a:t>
            </a:r>
            <a:endParaRPr lang="en-US" sz="1050" dirty="0"/>
          </a:p>
        </p:txBody>
      </p:sp>
      <p:sp>
        <p:nvSpPr>
          <p:cNvPr id="14" name="Text 12"/>
          <p:cNvSpPr/>
          <p:nvPr/>
        </p:nvSpPr>
        <p:spPr>
          <a:xfrm>
            <a:off x="731520" y="2377440"/>
            <a:ext cx="4997196" cy="114300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Cualquier registro con posibilidad real de generar facturación, desde 0% a 100% de probabilidad. Cubre advisory, valoración, captación, leasing, venta y consultoría. Vive en Dynamics; el PDB consume y enriquece.</a:t>
            </a:r>
            <a:endParaRPr lang="en-US" sz="1050" dirty="0"/>
          </a:p>
        </p:txBody>
      </p:sp>
      <p:sp>
        <p:nvSpPr>
          <p:cNvPr id="15" name="Shape 13"/>
          <p:cNvSpPr/>
          <p:nvPr/>
        </p:nvSpPr>
        <p:spPr>
          <a:xfrm>
            <a:off x="6231636" y="1508760"/>
            <a:ext cx="5454396" cy="2057400"/>
          </a:xfrm>
          <a:prstGeom prst="roundRect">
            <a:avLst>
              <a:gd name="adj" fmla="val 2667"/>
            </a:avLst>
          </a:prstGeom>
          <a:solidFill>
            <a:srgbClr val="FFFFFF"/>
          </a:solidFill>
          <a:ln w="9525">
            <a:solidFill>
              <a:srgbClr val="E2E8F0"/>
            </a:solidFill>
            <a:prstDash val="solid"/>
          </a:ln>
          <a:effectLst>
            <a:outerShdw sx="100000" sy="100000" kx="0" ky="0" algn="bl" rotWithShape="0" blurRad="63500" dist="12700" dir="5400000">
              <a:srgbClr val="00000014">
                <a:alpha val="75000"/>
              </a:srgbClr>
            </a:outerShdw>
          </a:effectLst>
        </p:spPr>
      </p:sp>
      <p:sp>
        <p:nvSpPr>
          <p:cNvPr id="16" name="Shape 14"/>
          <p:cNvSpPr/>
          <p:nvPr/>
        </p:nvSpPr>
        <p:spPr>
          <a:xfrm>
            <a:off x="6231636" y="1508760"/>
            <a:ext cx="5454396" cy="45720"/>
          </a:xfrm>
          <a:prstGeom prst="rect">
            <a:avLst/>
          </a:prstGeom>
          <a:solidFill>
            <a:srgbClr val="D97706"/>
          </a:solidFill>
          <a:ln w="12700">
            <a:solidFill>
              <a:srgbClr val="D97706"/>
            </a:solidFill>
            <a:prstDash val="solid"/>
          </a:ln>
        </p:spPr>
      </p:sp>
      <p:sp>
        <p:nvSpPr>
          <p:cNvPr id="17" name="Text 15"/>
          <p:cNvSpPr/>
          <p:nvPr/>
        </p:nvSpPr>
        <p:spPr>
          <a:xfrm>
            <a:off x="6460236" y="1673352"/>
            <a:ext cx="4997196" cy="365760"/>
          </a:xfrm>
          <a:prstGeom prst="rect">
            <a:avLst/>
          </a:prstGeom>
          <a:noFill/>
          <a:ln/>
        </p:spPr>
        <p:txBody>
          <a:bodyPr wrap="square"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Instrucción</a:t>
            </a:r>
            <a:endParaRPr lang="en-US" sz="1700" dirty="0"/>
          </a:p>
        </p:txBody>
      </p:sp>
      <p:sp>
        <p:nvSpPr>
          <p:cNvPr id="18" name="Text 16"/>
          <p:cNvSpPr/>
          <p:nvPr/>
        </p:nvSpPr>
        <p:spPr>
          <a:xfrm>
            <a:off x="6460236" y="2075688"/>
            <a:ext cx="4997196" cy="228600"/>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Cierre formal · Revenue real</a:t>
            </a:r>
            <a:endParaRPr lang="en-US" sz="1050" dirty="0"/>
          </a:p>
        </p:txBody>
      </p:sp>
      <p:sp>
        <p:nvSpPr>
          <p:cNvPr id="19" name="Text 17"/>
          <p:cNvSpPr/>
          <p:nvPr/>
        </p:nvSpPr>
        <p:spPr>
          <a:xfrm>
            <a:off x="6460236" y="2377440"/>
            <a:ext cx="4997196" cy="114300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Facturación cerrada: fee, honorarios, formalización contractual. Frontera entre WIP y revenue. Se factura siempre contra una Entidad Legal, no contra la Cuenta.</a:t>
            </a:r>
            <a:endParaRPr lang="en-US" sz="1050" dirty="0"/>
          </a:p>
        </p:txBody>
      </p:sp>
      <p:sp>
        <p:nvSpPr>
          <p:cNvPr id="20" name="Shape 18"/>
          <p:cNvSpPr/>
          <p:nvPr/>
        </p:nvSpPr>
        <p:spPr>
          <a:xfrm>
            <a:off x="502920" y="3749040"/>
            <a:ext cx="5454396" cy="2057400"/>
          </a:xfrm>
          <a:prstGeom prst="roundRect">
            <a:avLst>
              <a:gd name="adj" fmla="val 2667"/>
            </a:avLst>
          </a:prstGeom>
          <a:solidFill>
            <a:srgbClr val="FFFFFF"/>
          </a:solidFill>
          <a:ln w="9525">
            <a:solidFill>
              <a:srgbClr val="E2E8F0"/>
            </a:solidFill>
            <a:prstDash val="solid"/>
          </a:ln>
          <a:effectLst>
            <a:outerShdw sx="100000" sy="100000" kx="0" ky="0" algn="bl" rotWithShape="0" blurRad="63500" dist="12700" dir="5400000">
              <a:srgbClr val="00000014">
                <a:alpha val="75000"/>
              </a:srgbClr>
            </a:outerShdw>
          </a:effectLst>
        </p:spPr>
      </p:sp>
      <p:sp>
        <p:nvSpPr>
          <p:cNvPr id="21" name="Shape 19"/>
          <p:cNvSpPr/>
          <p:nvPr/>
        </p:nvSpPr>
        <p:spPr>
          <a:xfrm>
            <a:off x="502920" y="3749040"/>
            <a:ext cx="5454396" cy="45720"/>
          </a:xfrm>
          <a:prstGeom prst="rect">
            <a:avLst/>
          </a:prstGeom>
          <a:solidFill>
            <a:srgbClr val="7C3AED"/>
          </a:solidFill>
          <a:ln w="12700">
            <a:solidFill>
              <a:srgbClr val="7C3AED"/>
            </a:solidFill>
            <a:prstDash val="solid"/>
          </a:ln>
        </p:spPr>
      </p:sp>
      <p:sp>
        <p:nvSpPr>
          <p:cNvPr id="22" name="Text 20"/>
          <p:cNvSpPr/>
          <p:nvPr/>
        </p:nvSpPr>
        <p:spPr>
          <a:xfrm>
            <a:off x="731520" y="3913632"/>
            <a:ext cx="4997196" cy="365760"/>
          </a:xfrm>
          <a:prstGeom prst="rect">
            <a:avLst/>
          </a:prstGeom>
          <a:noFill/>
          <a:ln/>
        </p:spPr>
        <p:txBody>
          <a:bodyPr wrap="square"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Cuenta vs Entidad Legal</a:t>
            </a:r>
            <a:endParaRPr lang="en-US" sz="1700" dirty="0"/>
          </a:p>
        </p:txBody>
      </p:sp>
      <p:sp>
        <p:nvSpPr>
          <p:cNvPr id="23" name="Text 21"/>
          <p:cNvSpPr/>
          <p:nvPr/>
        </p:nvSpPr>
        <p:spPr>
          <a:xfrm>
            <a:off x="731520" y="4315968"/>
            <a:ext cx="4997196" cy="228600"/>
          </a:xfrm>
          <a:prstGeom prst="rect">
            <a:avLst/>
          </a:prstGeom>
          <a:noFill/>
          <a:ln/>
        </p:spPr>
        <p:txBody>
          <a:bodyPr wrap="square" rtlCol="0" anchor="ctr"/>
          <a:lstStyle/>
          <a:p>
            <a:pPr indent="0" marL="0">
              <a:buNone/>
            </a:pPr>
            <a:r>
              <a:rPr lang="en-US" sz="1050" b="1" dirty="0">
                <a:solidFill>
                  <a:srgbClr val="7C3AED"/>
                </a:solidFill>
                <a:latin typeface="Calibri" pitchFamily="34" charset="0"/>
                <a:ea typeface="Calibri" pitchFamily="34" charset="-122"/>
                <a:cs typeface="Calibri" pitchFamily="34" charset="-120"/>
              </a:rPr>
              <a:t>Relación vs fiscalidad</a:t>
            </a:r>
            <a:endParaRPr lang="en-US" sz="1050" dirty="0"/>
          </a:p>
        </p:txBody>
      </p:sp>
      <p:sp>
        <p:nvSpPr>
          <p:cNvPr id="24" name="Text 22"/>
          <p:cNvSpPr/>
          <p:nvPr/>
        </p:nvSpPr>
        <p:spPr>
          <a:xfrm>
            <a:off x="731520" y="4617720"/>
            <a:ext cx="4997196" cy="114300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Cuenta = matriz comercial (Samsung, Merlin, Inditex). Entidad Legal = sociedad fiscal con CIF/NIF (Merlin Offices SL, Merlin Logistics SL). Las Entidades Legales cuelgan de la Cuenta. Facturación → Entidad Legal.</a:t>
            </a:r>
            <a:endParaRPr lang="en-US" sz="1050" dirty="0"/>
          </a:p>
        </p:txBody>
      </p:sp>
      <p:sp>
        <p:nvSpPr>
          <p:cNvPr id="25" name="Shape 23"/>
          <p:cNvSpPr/>
          <p:nvPr/>
        </p:nvSpPr>
        <p:spPr>
          <a:xfrm>
            <a:off x="6231636" y="3749040"/>
            <a:ext cx="5454396" cy="2057400"/>
          </a:xfrm>
          <a:prstGeom prst="roundRect">
            <a:avLst>
              <a:gd name="adj" fmla="val 2667"/>
            </a:avLst>
          </a:prstGeom>
          <a:solidFill>
            <a:srgbClr val="FFFFFF"/>
          </a:solidFill>
          <a:ln w="9525">
            <a:solidFill>
              <a:srgbClr val="E2E8F0"/>
            </a:solidFill>
            <a:prstDash val="solid"/>
          </a:ln>
          <a:effectLst>
            <a:outerShdw sx="100000" sy="100000" kx="0" ky="0" algn="bl" rotWithShape="0" blurRad="63500" dist="12700" dir="5400000">
              <a:srgbClr val="00000014">
                <a:alpha val="75000"/>
              </a:srgbClr>
            </a:outerShdw>
          </a:effectLst>
        </p:spPr>
      </p:sp>
      <p:sp>
        <p:nvSpPr>
          <p:cNvPr id="26" name="Shape 24"/>
          <p:cNvSpPr/>
          <p:nvPr/>
        </p:nvSpPr>
        <p:spPr>
          <a:xfrm>
            <a:off x="6231636" y="3749040"/>
            <a:ext cx="5454396" cy="45720"/>
          </a:xfrm>
          <a:prstGeom prst="rect">
            <a:avLst/>
          </a:prstGeom>
          <a:solidFill>
            <a:srgbClr val="15803D"/>
          </a:solidFill>
          <a:ln w="12700">
            <a:solidFill>
              <a:srgbClr val="15803D"/>
            </a:solidFill>
            <a:prstDash val="solid"/>
          </a:ln>
        </p:spPr>
      </p:sp>
      <p:sp>
        <p:nvSpPr>
          <p:cNvPr id="27" name="Text 25"/>
          <p:cNvSpPr/>
          <p:nvPr/>
        </p:nvSpPr>
        <p:spPr>
          <a:xfrm>
            <a:off x="6460236" y="3913632"/>
            <a:ext cx="4997196" cy="365760"/>
          </a:xfrm>
          <a:prstGeom prst="rect">
            <a:avLst/>
          </a:prstGeom>
          <a:noFill/>
          <a:ln/>
        </p:spPr>
        <p:txBody>
          <a:bodyPr wrap="square"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Activo vs Oferta</a:t>
            </a:r>
            <a:endParaRPr lang="en-US" sz="1700" dirty="0"/>
          </a:p>
        </p:txBody>
      </p:sp>
      <p:sp>
        <p:nvSpPr>
          <p:cNvPr id="28" name="Text 26"/>
          <p:cNvSpPr/>
          <p:nvPr/>
        </p:nvSpPr>
        <p:spPr>
          <a:xfrm>
            <a:off x="6460236" y="4315968"/>
            <a:ext cx="4997196" cy="228600"/>
          </a:xfrm>
          <a:prstGeom prst="rect">
            <a:avLst/>
          </a:prstGeom>
          <a:noFill/>
          <a:ln/>
        </p:spPr>
        <p:txBody>
          <a:bodyPr wrap="square" rtlCol="0" anchor="ctr"/>
          <a:lstStyle/>
          <a:p>
            <a:pPr indent="0" marL="0">
              <a:buNone/>
            </a:pPr>
            <a:r>
              <a:rPr lang="en-US" sz="1050" b="1" dirty="0">
                <a:solidFill>
                  <a:srgbClr val="15803D"/>
                </a:solidFill>
                <a:latin typeface="Calibri" pitchFamily="34" charset="0"/>
                <a:ea typeface="Calibri" pitchFamily="34" charset="-122"/>
                <a:cs typeface="Calibri" pitchFamily="34" charset="-120"/>
              </a:rPr>
              <a:t>Estructura vs disponibilidad</a:t>
            </a:r>
            <a:endParaRPr lang="en-US" sz="1050" dirty="0"/>
          </a:p>
        </p:txBody>
      </p:sp>
      <p:sp>
        <p:nvSpPr>
          <p:cNvPr id="29" name="Text 27"/>
          <p:cNvSpPr/>
          <p:nvPr/>
        </p:nvSpPr>
        <p:spPr>
          <a:xfrm>
            <a:off x="6460236" y="4617720"/>
            <a:ext cx="4997196" cy="114300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Activo = inmueble físico (dato maestro). Oferta = disponibilidad comercializable que cuelga del Activo. La disponibilidad NUNCA se almacena en el Activo; sí puede mostrarse como KPI agregado derivado.</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02 · Fundamentos</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04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Mapa de dependencias</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Cómo se anidan las entidades. Cada módulo declara sus FKs obligatorios y opcionales.</a:t>
            </a:r>
            <a:endParaRPr lang="en-US" sz="1150" dirty="0"/>
          </a:p>
        </p:txBody>
      </p:sp>
      <p:sp>
        <p:nvSpPr>
          <p:cNvPr id="10" name="Shape 8"/>
          <p:cNvSpPr/>
          <p:nvPr/>
        </p:nvSpPr>
        <p:spPr>
          <a:xfrm>
            <a:off x="502920" y="1463040"/>
            <a:ext cx="164592" cy="164592"/>
          </a:xfrm>
          <a:prstGeom prst="rect">
            <a:avLst/>
          </a:prstGeom>
          <a:solidFill>
            <a:srgbClr val="2563EB"/>
          </a:solidFill>
          <a:ln w="12700">
            <a:solidFill>
              <a:srgbClr val="2563EB"/>
            </a:solidFill>
            <a:prstDash val="solid"/>
          </a:ln>
        </p:spPr>
      </p:sp>
      <p:sp>
        <p:nvSpPr>
          <p:cNvPr id="11" name="Text 9"/>
          <p:cNvSpPr/>
          <p:nvPr/>
        </p:nvSpPr>
        <p:spPr>
          <a:xfrm>
            <a:off x="731520" y="1417320"/>
            <a:ext cx="1554480" cy="256032"/>
          </a:xfrm>
          <a:prstGeom prst="rect">
            <a:avLst/>
          </a:prstGeom>
          <a:noFill/>
          <a:ln/>
        </p:spPr>
        <p:txBody>
          <a:bodyPr wrap="square"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Dynamics</a:t>
            </a:r>
            <a:endParaRPr lang="en-US" sz="950" dirty="0"/>
          </a:p>
        </p:txBody>
      </p:sp>
      <p:sp>
        <p:nvSpPr>
          <p:cNvPr id="12" name="Shape 10"/>
          <p:cNvSpPr/>
          <p:nvPr/>
        </p:nvSpPr>
        <p:spPr>
          <a:xfrm>
            <a:off x="2057400" y="1463040"/>
            <a:ext cx="164592" cy="164592"/>
          </a:xfrm>
          <a:prstGeom prst="rect">
            <a:avLst/>
          </a:prstGeom>
          <a:solidFill>
            <a:srgbClr val="15803D"/>
          </a:solidFill>
          <a:ln w="12700">
            <a:solidFill>
              <a:srgbClr val="15803D"/>
            </a:solidFill>
            <a:prstDash val="solid"/>
          </a:ln>
        </p:spPr>
      </p:sp>
      <p:sp>
        <p:nvSpPr>
          <p:cNvPr id="13" name="Text 11"/>
          <p:cNvSpPr/>
          <p:nvPr/>
        </p:nvSpPr>
        <p:spPr>
          <a:xfrm>
            <a:off x="2286000" y="1417320"/>
            <a:ext cx="1554480" cy="256032"/>
          </a:xfrm>
          <a:prstGeom prst="rect">
            <a:avLst/>
          </a:prstGeom>
          <a:noFill/>
          <a:ln/>
        </p:spPr>
        <p:txBody>
          <a:bodyPr wrap="square"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PDB</a:t>
            </a:r>
            <a:endParaRPr lang="en-US" sz="950" dirty="0"/>
          </a:p>
        </p:txBody>
      </p:sp>
      <p:sp>
        <p:nvSpPr>
          <p:cNvPr id="14" name="Shape 12"/>
          <p:cNvSpPr/>
          <p:nvPr/>
        </p:nvSpPr>
        <p:spPr>
          <a:xfrm>
            <a:off x="3611880" y="1463040"/>
            <a:ext cx="164592" cy="164592"/>
          </a:xfrm>
          <a:prstGeom prst="rect">
            <a:avLst/>
          </a:prstGeom>
          <a:solidFill>
            <a:srgbClr val="B91C1C"/>
          </a:solidFill>
          <a:ln w="12700">
            <a:solidFill>
              <a:srgbClr val="B91C1C"/>
            </a:solidFill>
            <a:prstDash val="solid"/>
          </a:ln>
        </p:spPr>
      </p:sp>
      <p:sp>
        <p:nvSpPr>
          <p:cNvPr id="15" name="Text 13"/>
          <p:cNvSpPr/>
          <p:nvPr/>
        </p:nvSpPr>
        <p:spPr>
          <a:xfrm>
            <a:off x="3840480" y="1417320"/>
            <a:ext cx="1554480" cy="256032"/>
          </a:xfrm>
          <a:prstGeom prst="rect">
            <a:avLst/>
          </a:prstGeom>
          <a:noFill/>
          <a:ln/>
        </p:spPr>
        <p:txBody>
          <a:bodyPr wrap="square"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FK obligatorio</a:t>
            </a:r>
            <a:endParaRPr lang="en-US" sz="950" dirty="0"/>
          </a:p>
        </p:txBody>
      </p:sp>
      <p:sp>
        <p:nvSpPr>
          <p:cNvPr id="16" name="Shape 14"/>
          <p:cNvSpPr/>
          <p:nvPr/>
        </p:nvSpPr>
        <p:spPr>
          <a:xfrm>
            <a:off x="5440680" y="1463040"/>
            <a:ext cx="164592" cy="164592"/>
          </a:xfrm>
          <a:prstGeom prst="rect">
            <a:avLst/>
          </a:prstGeom>
          <a:solidFill>
            <a:srgbClr val="64748B"/>
          </a:solidFill>
          <a:ln w="12700">
            <a:solidFill>
              <a:srgbClr val="64748B"/>
            </a:solidFill>
            <a:prstDash val="solid"/>
          </a:ln>
        </p:spPr>
      </p:sp>
      <p:sp>
        <p:nvSpPr>
          <p:cNvPr id="17" name="Text 15"/>
          <p:cNvSpPr/>
          <p:nvPr/>
        </p:nvSpPr>
        <p:spPr>
          <a:xfrm>
            <a:off x="5669280" y="1417320"/>
            <a:ext cx="1554480" cy="256032"/>
          </a:xfrm>
          <a:prstGeom prst="rect">
            <a:avLst/>
          </a:prstGeom>
          <a:noFill/>
          <a:ln/>
        </p:spPr>
        <p:txBody>
          <a:bodyPr wrap="square"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FK opcional</a:t>
            </a:r>
            <a:endParaRPr lang="en-US" sz="950" dirty="0"/>
          </a:p>
        </p:txBody>
      </p:sp>
      <p:sp>
        <p:nvSpPr>
          <p:cNvPr id="18" name="Shape 16"/>
          <p:cNvSpPr/>
          <p:nvPr/>
        </p:nvSpPr>
        <p:spPr>
          <a:xfrm>
            <a:off x="502920" y="1874520"/>
            <a:ext cx="2194560" cy="384048"/>
          </a:xfrm>
          <a:prstGeom prst="rect">
            <a:avLst/>
          </a:prstGeom>
          <a:solidFill>
            <a:srgbClr val="0B1F3F"/>
          </a:solidFill>
          <a:ln w="12700">
            <a:solidFill>
              <a:srgbClr val="0B1F3F"/>
            </a:solidFill>
            <a:prstDash val="solid"/>
          </a:ln>
        </p:spPr>
      </p:sp>
      <p:sp>
        <p:nvSpPr>
          <p:cNvPr id="19" name="Text 17"/>
          <p:cNvSpPr/>
          <p:nvPr/>
        </p:nvSpPr>
        <p:spPr>
          <a:xfrm>
            <a:off x="640080" y="1874520"/>
            <a:ext cx="1920240" cy="384048"/>
          </a:xfrm>
          <a:prstGeom prst="rect">
            <a:avLst/>
          </a:prstGeom>
          <a:noFill/>
          <a:ln/>
        </p:spPr>
        <p:txBody>
          <a:bodyPr wrap="square"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MÓDULO</a:t>
            </a:r>
            <a:endParaRPr lang="en-US" sz="900" dirty="0"/>
          </a:p>
        </p:txBody>
      </p:sp>
      <p:sp>
        <p:nvSpPr>
          <p:cNvPr id="20" name="Shape 18"/>
          <p:cNvSpPr/>
          <p:nvPr/>
        </p:nvSpPr>
        <p:spPr>
          <a:xfrm>
            <a:off x="2697480" y="1874520"/>
            <a:ext cx="1280160" cy="384048"/>
          </a:xfrm>
          <a:prstGeom prst="rect">
            <a:avLst/>
          </a:prstGeom>
          <a:solidFill>
            <a:srgbClr val="0B1F3F"/>
          </a:solidFill>
          <a:ln w="12700">
            <a:solidFill>
              <a:srgbClr val="0B1F3F"/>
            </a:solidFill>
            <a:prstDash val="solid"/>
          </a:ln>
        </p:spPr>
      </p:sp>
      <p:sp>
        <p:nvSpPr>
          <p:cNvPr id="21" name="Text 19"/>
          <p:cNvSpPr/>
          <p:nvPr/>
        </p:nvSpPr>
        <p:spPr>
          <a:xfrm>
            <a:off x="2834640" y="1874520"/>
            <a:ext cx="1005840" cy="384048"/>
          </a:xfrm>
          <a:prstGeom prst="rect">
            <a:avLst/>
          </a:prstGeom>
          <a:noFill/>
          <a:ln/>
        </p:spPr>
        <p:txBody>
          <a:bodyPr wrap="square"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SISTEMA</a:t>
            </a:r>
            <a:endParaRPr lang="en-US" sz="900" dirty="0"/>
          </a:p>
        </p:txBody>
      </p:sp>
      <p:sp>
        <p:nvSpPr>
          <p:cNvPr id="22" name="Shape 20"/>
          <p:cNvSpPr/>
          <p:nvPr/>
        </p:nvSpPr>
        <p:spPr>
          <a:xfrm>
            <a:off x="3977640" y="1874520"/>
            <a:ext cx="3657600" cy="384048"/>
          </a:xfrm>
          <a:prstGeom prst="rect">
            <a:avLst/>
          </a:prstGeom>
          <a:solidFill>
            <a:srgbClr val="0B1F3F"/>
          </a:solidFill>
          <a:ln w="12700">
            <a:solidFill>
              <a:srgbClr val="0B1F3F"/>
            </a:solidFill>
            <a:prstDash val="solid"/>
          </a:ln>
        </p:spPr>
      </p:sp>
      <p:sp>
        <p:nvSpPr>
          <p:cNvPr id="23" name="Text 21"/>
          <p:cNvSpPr/>
          <p:nvPr/>
        </p:nvSpPr>
        <p:spPr>
          <a:xfrm>
            <a:off x="4114800" y="1874520"/>
            <a:ext cx="3383280" cy="384048"/>
          </a:xfrm>
          <a:prstGeom prst="rect">
            <a:avLst/>
          </a:prstGeom>
          <a:noFill/>
          <a:ln/>
        </p:spPr>
        <p:txBody>
          <a:bodyPr wrap="square"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FK OBLIGATORIOS</a:t>
            </a:r>
            <a:endParaRPr lang="en-US" sz="900" dirty="0"/>
          </a:p>
        </p:txBody>
      </p:sp>
      <p:sp>
        <p:nvSpPr>
          <p:cNvPr id="24" name="Shape 22"/>
          <p:cNvSpPr/>
          <p:nvPr/>
        </p:nvSpPr>
        <p:spPr>
          <a:xfrm>
            <a:off x="7635240" y="1874520"/>
            <a:ext cx="4023360" cy="384048"/>
          </a:xfrm>
          <a:prstGeom prst="rect">
            <a:avLst/>
          </a:prstGeom>
          <a:solidFill>
            <a:srgbClr val="0B1F3F"/>
          </a:solidFill>
          <a:ln w="12700">
            <a:solidFill>
              <a:srgbClr val="0B1F3F"/>
            </a:solidFill>
            <a:prstDash val="solid"/>
          </a:ln>
        </p:spPr>
      </p:sp>
      <p:sp>
        <p:nvSpPr>
          <p:cNvPr id="25" name="Text 23"/>
          <p:cNvSpPr/>
          <p:nvPr/>
        </p:nvSpPr>
        <p:spPr>
          <a:xfrm>
            <a:off x="7772400" y="1874520"/>
            <a:ext cx="3749040" cy="384048"/>
          </a:xfrm>
          <a:prstGeom prst="rect">
            <a:avLst/>
          </a:prstGeom>
          <a:noFill/>
          <a:ln/>
        </p:spPr>
        <p:txBody>
          <a:bodyPr wrap="square"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FK OPCIONALES</a:t>
            </a:r>
            <a:endParaRPr lang="en-US" sz="900" dirty="0"/>
          </a:p>
        </p:txBody>
      </p:sp>
      <p:sp>
        <p:nvSpPr>
          <p:cNvPr id="26" name="Shape 24"/>
          <p:cNvSpPr/>
          <p:nvPr/>
        </p:nvSpPr>
        <p:spPr>
          <a:xfrm>
            <a:off x="502920" y="2258568"/>
            <a:ext cx="2194560" cy="384048"/>
          </a:xfrm>
          <a:prstGeom prst="rect">
            <a:avLst/>
          </a:prstGeom>
          <a:solidFill>
            <a:srgbClr val="FFFFFF"/>
          </a:solidFill>
          <a:ln w="6350">
            <a:solidFill>
              <a:srgbClr val="E2E8F0"/>
            </a:solidFill>
            <a:prstDash val="solid"/>
          </a:ln>
        </p:spPr>
      </p:sp>
      <p:sp>
        <p:nvSpPr>
          <p:cNvPr id="27" name="Text 25"/>
          <p:cNvSpPr/>
          <p:nvPr/>
        </p:nvSpPr>
        <p:spPr>
          <a:xfrm>
            <a:off x="640080" y="2258568"/>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Cuenta</a:t>
            </a:r>
            <a:endParaRPr lang="en-US" sz="1050" dirty="0"/>
          </a:p>
        </p:txBody>
      </p:sp>
      <p:sp>
        <p:nvSpPr>
          <p:cNvPr id="28" name="Shape 26"/>
          <p:cNvSpPr/>
          <p:nvPr/>
        </p:nvSpPr>
        <p:spPr>
          <a:xfrm>
            <a:off x="2697480" y="2258568"/>
            <a:ext cx="1280160" cy="384048"/>
          </a:xfrm>
          <a:prstGeom prst="rect">
            <a:avLst/>
          </a:prstGeom>
          <a:solidFill>
            <a:srgbClr val="FFFFFF"/>
          </a:solidFill>
          <a:ln w="6350">
            <a:solidFill>
              <a:srgbClr val="E2E8F0"/>
            </a:solidFill>
            <a:prstDash val="solid"/>
          </a:ln>
        </p:spPr>
      </p:sp>
      <p:sp>
        <p:nvSpPr>
          <p:cNvPr id="29" name="Text 27"/>
          <p:cNvSpPr/>
          <p:nvPr/>
        </p:nvSpPr>
        <p:spPr>
          <a:xfrm>
            <a:off x="2834640" y="2258568"/>
            <a:ext cx="1005840" cy="384048"/>
          </a:xfrm>
          <a:prstGeom prst="rect">
            <a:avLst/>
          </a:prstGeom>
          <a:noFill/>
          <a:ln/>
        </p:spPr>
        <p:txBody>
          <a:bodyPr wrap="square" rtlCol="0" anchor="ctr"/>
          <a:lstStyle/>
          <a:p>
            <a:pPr algn="l" indent="0" marL="0">
              <a:buNone/>
            </a:pPr>
            <a:r>
              <a:rPr lang="en-US" sz="1050" b="1" dirty="0">
                <a:solidFill>
                  <a:srgbClr val="2563EB"/>
                </a:solidFill>
                <a:latin typeface="Calibri" pitchFamily="34" charset="0"/>
                <a:ea typeface="Calibri" pitchFamily="34" charset="-122"/>
                <a:cs typeface="Calibri" pitchFamily="34" charset="-120"/>
              </a:rPr>
              <a:t>Dynamics</a:t>
            </a:r>
            <a:endParaRPr lang="en-US" sz="1050" dirty="0"/>
          </a:p>
        </p:txBody>
      </p:sp>
      <p:sp>
        <p:nvSpPr>
          <p:cNvPr id="30" name="Shape 28"/>
          <p:cNvSpPr/>
          <p:nvPr/>
        </p:nvSpPr>
        <p:spPr>
          <a:xfrm>
            <a:off x="3977640" y="2258568"/>
            <a:ext cx="3657600" cy="384048"/>
          </a:xfrm>
          <a:prstGeom prst="rect">
            <a:avLst/>
          </a:prstGeom>
          <a:solidFill>
            <a:srgbClr val="FFFFFF"/>
          </a:solidFill>
          <a:ln w="6350">
            <a:solidFill>
              <a:srgbClr val="E2E8F0"/>
            </a:solidFill>
            <a:prstDash val="solid"/>
          </a:ln>
        </p:spPr>
      </p:sp>
      <p:sp>
        <p:nvSpPr>
          <p:cNvPr id="31" name="Text 29"/>
          <p:cNvSpPr/>
          <p:nvPr/>
        </p:nvSpPr>
        <p:spPr>
          <a:xfrm>
            <a:off x="4114800" y="2258568"/>
            <a:ext cx="338328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32" name="Shape 30"/>
          <p:cNvSpPr/>
          <p:nvPr/>
        </p:nvSpPr>
        <p:spPr>
          <a:xfrm>
            <a:off x="7635240" y="2258568"/>
            <a:ext cx="4023360" cy="384048"/>
          </a:xfrm>
          <a:prstGeom prst="rect">
            <a:avLst/>
          </a:prstGeom>
          <a:solidFill>
            <a:srgbClr val="FFFFFF"/>
          </a:solidFill>
          <a:ln w="6350">
            <a:solidFill>
              <a:srgbClr val="E2E8F0"/>
            </a:solidFill>
            <a:prstDash val="solid"/>
          </a:ln>
        </p:spPr>
      </p:sp>
      <p:sp>
        <p:nvSpPr>
          <p:cNvPr id="33" name="Text 31"/>
          <p:cNvSpPr/>
          <p:nvPr/>
        </p:nvSpPr>
        <p:spPr>
          <a:xfrm>
            <a:off x="7772400" y="2258568"/>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34" name="Shape 32"/>
          <p:cNvSpPr/>
          <p:nvPr/>
        </p:nvSpPr>
        <p:spPr>
          <a:xfrm>
            <a:off x="502920" y="2642616"/>
            <a:ext cx="2194560" cy="384048"/>
          </a:xfrm>
          <a:prstGeom prst="rect">
            <a:avLst/>
          </a:prstGeom>
          <a:solidFill>
            <a:srgbClr val="F1F5F9"/>
          </a:solidFill>
          <a:ln w="6350">
            <a:solidFill>
              <a:srgbClr val="E2E8F0"/>
            </a:solidFill>
            <a:prstDash val="solid"/>
          </a:ln>
        </p:spPr>
      </p:sp>
      <p:sp>
        <p:nvSpPr>
          <p:cNvPr id="35" name="Text 33"/>
          <p:cNvSpPr/>
          <p:nvPr/>
        </p:nvSpPr>
        <p:spPr>
          <a:xfrm>
            <a:off x="640080" y="2642616"/>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Contacto</a:t>
            </a:r>
            <a:endParaRPr lang="en-US" sz="1050" dirty="0"/>
          </a:p>
        </p:txBody>
      </p:sp>
      <p:sp>
        <p:nvSpPr>
          <p:cNvPr id="36" name="Shape 34"/>
          <p:cNvSpPr/>
          <p:nvPr/>
        </p:nvSpPr>
        <p:spPr>
          <a:xfrm>
            <a:off x="2697480" y="2642616"/>
            <a:ext cx="1280160" cy="384048"/>
          </a:xfrm>
          <a:prstGeom prst="rect">
            <a:avLst/>
          </a:prstGeom>
          <a:solidFill>
            <a:srgbClr val="F1F5F9"/>
          </a:solidFill>
          <a:ln w="6350">
            <a:solidFill>
              <a:srgbClr val="E2E8F0"/>
            </a:solidFill>
            <a:prstDash val="solid"/>
          </a:ln>
        </p:spPr>
      </p:sp>
      <p:sp>
        <p:nvSpPr>
          <p:cNvPr id="37" name="Text 35"/>
          <p:cNvSpPr/>
          <p:nvPr/>
        </p:nvSpPr>
        <p:spPr>
          <a:xfrm>
            <a:off x="2834640" y="2642616"/>
            <a:ext cx="1005840" cy="384048"/>
          </a:xfrm>
          <a:prstGeom prst="rect">
            <a:avLst/>
          </a:prstGeom>
          <a:noFill/>
          <a:ln/>
        </p:spPr>
        <p:txBody>
          <a:bodyPr wrap="square" rtlCol="0" anchor="ctr"/>
          <a:lstStyle/>
          <a:p>
            <a:pPr algn="l" indent="0" marL="0">
              <a:buNone/>
            </a:pPr>
            <a:r>
              <a:rPr lang="en-US" sz="1050" b="1" dirty="0">
                <a:solidFill>
                  <a:srgbClr val="2563EB"/>
                </a:solidFill>
                <a:latin typeface="Calibri" pitchFamily="34" charset="0"/>
                <a:ea typeface="Calibri" pitchFamily="34" charset="-122"/>
                <a:cs typeface="Calibri" pitchFamily="34" charset="-120"/>
              </a:rPr>
              <a:t>Dynamics</a:t>
            </a:r>
            <a:endParaRPr lang="en-US" sz="1050" dirty="0"/>
          </a:p>
        </p:txBody>
      </p:sp>
      <p:sp>
        <p:nvSpPr>
          <p:cNvPr id="38" name="Shape 36"/>
          <p:cNvSpPr/>
          <p:nvPr/>
        </p:nvSpPr>
        <p:spPr>
          <a:xfrm>
            <a:off x="3977640" y="2642616"/>
            <a:ext cx="3657600" cy="384048"/>
          </a:xfrm>
          <a:prstGeom prst="rect">
            <a:avLst/>
          </a:prstGeom>
          <a:solidFill>
            <a:srgbClr val="F1F5F9"/>
          </a:solidFill>
          <a:ln w="6350">
            <a:solidFill>
              <a:srgbClr val="E2E8F0"/>
            </a:solidFill>
            <a:prstDash val="solid"/>
          </a:ln>
        </p:spPr>
      </p:sp>
      <p:sp>
        <p:nvSpPr>
          <p:cNvPr id="39" name="Text 37"/>
          <p:cNvSpPr/>
          <p:nvPr/>
        </p:nvSpPr>
        <p:spPr>
          <a:xfrm>
            <a:off x="4114800" y="2642616"/>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Cuenta</a:t>
            </a:r>
            <a:endParaRPr lang="en-US" sz="1050" dirty="0"/>
          </a:p>
        </p:txBody>
      </p:sp>
      <p:sp>
        <p:nvSpPr>
          <p:cNvPr id="40" name="Shape 38"/>
          <p:cNvSpPr/>
          <p:nvPr/>
        </p:nvSpPr>
        <p:spPr>
          <a:xfrm>
            <a:off x="7635240" y="2642616"/>
            <a:ext cx="4023360" cy="384048"/>
          </a:xfrm>
          <a:prstGeom prst="rect">
            <a:avLst/>
          </a:prstGeom>
          <a:solidFill>
            <a:srgbClr val="F1F5F9"/>
          </a:solidFill>
          <a:ln w="6350">
            <a:solidFill>
              <a:srgbClr val="E2E8F0"/>
            </a:solidFill>
            <a:prstDash val="solid"/>
          </a:ln>
        </p:spPr>
      </p:sp>
      <p:sp>
        <p:nvSpPr>
          <p:cNvPr id="41" name="Text 39"/>
          <p:cNvSpPr/>
          <p:nvPr/>
        </p:nvSpPr>
        <p:spPr>
          <a:xfrm>
            <a:off x="7772400" y="2642616"/>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42" name="Shape 40"/>
          <p:cNvSpPr/>
          <p:nvPr/>
        </p:nvSpPr>
        <p:spPr>
          <a:xfrm>
            <a:off x="502920" y="3026664"/>
            <a:ext cx="2194560" cy="384048"/>
          </a:xfrm>
          <a:prstGeom prst="rect">
            <a:avLst/>
          </a:prstGeom>
          <a:solidFill>
            <a:srgbClr val="FFFFFF"/>
          </a:solidFill>
          <a:ln w="6350">
            <a:solidFill>
              <a:srgbClr val="E2E8F0"/>
            </a:solidFill>
            <a:prstDash val="solid"/>
          </a:ln>
        </p:spPr>
      </p:sp>
      <p:sp>
        <p:nvSpPr>
          <p:cNvPr id="43" name="Text 41"/>
          <p:cNvSpPr/>
          <p:nvPr/>
        </p:nvSpPr>
        <p:spPr>
          <a:xfrm>
            <a:off x="640080" y="3026664"/>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Entidad Legal</a:t>
            </a:r>
            <a:endParaRPr lang="en-US" sz="1050" dirty="0"/>
          </a:p>
        </p:txBody>
      </p:sp>
      <p:sp>
        <p:nvSpPr>
          <p:cNvPr id="44" name="Shape 42"/>
          <p:cNvSpPr/>
          <p:nvPr/>
        </p:nvSpPr>
        <p:spPr>
          <a:xfrm>
            <a:off x="2697480" y="3026664"/>
            <a:ext cx="1280160" cy="384048"/>
          </a:xfrm>
          <a:prstGeom prst="rect">
            <a:avLst/>
          </a:prstGeom>
          <a:solidFill>
            <a:srgbClr val="FFFFFF"/>
          </a:solidFill>
          <a:ln w="6350">
            <a:solidFill>
              <a:srgbClr val="E2E8F0"/>
            </a:solidFill>
            <a:prstDash val="solid"/>
          </a:ln>
        </p:spPr>
      </p:sp>
      <p:sp>
        <p:nvSpPr>
          <p:cNvPr id="45" name="Text 43"/>
          <p:cNvSpPr/>
          <p:nvPr/>
        </p:nvSpPr>
        <p:spPr>
          <a:xfrm>
            <a:off x="2834640" y="3026664"/>
            <a:ext cx="1005840" cy="384048"/>
          </a:xfrm>
          <a:prstGeom prst="rect">
            <a:avLst/>
          </a:prstGeom>
          <a:noFill/>
          <a:ln/>
        </p:spPr>
        <p:txBody>
          <a:bodyPr wrap="square" rtlCol="0" anchor="ctr"/>
          <a:lstStyle/>
          <a:p>
            <a:pPr algn="l" indent="0" marL="0">
              <a:buNone/>
            </a:pPr>
            <a:r>
              <a:rPr lang="en-US" sz="1050" b="1" dirty="0">
                <a:solidFill>
                  <a:srgbClr val="2563EB"/>
                </a:solidFill>
                <a:latin typeface="Calibri" pitchFamily="34" charset="0"/>
                <a:ea typeface="Calibri" pitchFamily="34" charset="-122"/>
                <a:cs typeface="Calibri" pitchFamily="34" charset="-120"/>
              </a:rPr>
              <a:t>Dynamics</a:t>
            </a:r>
            <a:endParaRPr lang="en-US" sz="1050" dirty="0"/>
          </a:p>
        </p:txBody>
      </p:sp>
      <p:sp>
        <p:nvSpPr>
          <p:cNvPr id="46" name="Shape 44"/>
          <p:cNvSpPr/>
          <p:nvPr/>
        </p:nvSpPr>
        <p:spPr>
          <a:xfrm>
            <a:off x="3977640" y="3026664"/>
            <a:ext cx="3657600" cy="384048"/>
          </a:xfrm>
          <a:prstGeom prst="rect">
            <a:avLst/>
          </a:prstGeom>
          <a:solidFill>
            <a:srgbClr val="FFFFFF"/>
          </a:solidFill>
          <a:ln w="6350">
            <a:solidFill>
              <a:srgbClr val="E2E8F0"/>
            </a:solidFill>
            <a:prstDash val="solid"/>
          </a:ln>
        </p:spPr>
      </p:sp>
      <p:sp>
        <p:nvSpPr>
          <p:cNvPr id="47" name="Text 45"/>
          <p:cNvSpPr/>
          <p:nvPr/>
        </p:nvSpPr>
        <p:spPr>
          <a:xfrm>
            <a:off x="4114800" y="3026664"/>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Cuenta</a:t>
            </a:r>
            <a:endParaRPr lang="en-US" sz="1050" dirty="0"/>
          </a:p>
        </p:txBody>
      </p:sp>
      <p:sp>
        <p:nvSpPr>
          <p:cNvPr id="48" name="Shape 46"/>
          <p:cNvSpPr/>
          <p:nvPr/>
        </p:nvSpPr>
        <p:spPr>
          <a:xfrm>
            <a:off x="7635240" y="3026664"/>
            <a:ext cx="4023360" cy="384048"/>
          </a:xfrm>
          <a:prstGeom prst="rect">
            <a:avLst/>
          </a:prstGeom>
          <a:solidFill>
            <a:srgbClr val="FFFFFF"/>
          </a:solidFill>
          <a:ln w="6350">
            <a:solidFill>
              <a:srgbClr val="E2E8F0"/>
            </a:solidFill>
            <a:prstDash val="solid"/>
          </a:ln>
        </p:spPr>
      </p:sp>
      <p:sp>
        <p:nvSpPr>
          <p:cNvPr id="49" name="Text 47"/>
          <p:cNvSpPr/>
          <p:nvPr/>
        </p:nvSpPr>
        <p:spPr>
          <a:xfrm>
            <a:off x="7772400" y="3026664"/>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50" name="Shape 48"/>
          <p:cNvSpPr/>
          <p:nvPr/>
        </p:nvSpPr>
        <p:spPr>
          <a:xfrm>
            <a:off x="502920" y="3410712"/>
            <a:ext cx="2194560" cy="384048"/>
          </a:xfrm>
          <a:prstGeom prst="rect">
            <a:avLst/>
          </a:prstGeom>
          <a:solidFill>
            <a:srgbClr val="F1F5F9"/>
          </a:solidFill>
          <a:ln w="6350">
            <a:solidFill>
              <a:srgbClr val="E2E8F0"/>
            </a:solidFill>
            <a:prstDash val="solid"/>
          </a:ln>
        </p:spPr>
      </p:sp>
      <p:sp>
        <p:nvSpPr>
          <p:cNvPr id="51" name="Text 49"/>
          <p:cNvSpPr/>
          <p:nvPr/>
        </p:nvSpPr>
        <p:spPr>
          <a:xfrm>
            <a:off x="640080" y="3410712"/>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Oportunidad</a:t>
            </a:r>
            <a:endParaRPr lang="en-US" sz="1050" dirty="0"/>
          </a:p>
        </p:txBody>
      </p:sp>
      <p:sp>
        <p:nvSpPr>
          <p:cNvPr id="52" name="Shape 50"/>
          <p:cNvSpPr/>
          <p:nvPr/>
        </p:nvSpPr>
        <p:spPr>
          <a:xfrm>
            <a:off x="2697480" y="3410712"/>
            <a:ext cx="1280160" cy="384048"/>
          </a:xfrm>
          <a:prstGeom prst="rect">
            <a:avLst/>
          </a:prstGeom>
          <a:solidFill>
            <a:srgbClr val="F1F5F9"/>
          </a:solidFill>
          <a:ln w="6350">
            <a:solidFill>
              <a:srgbClr val="E2E8F0"/>
            </a:solidFill>
            <a:prstDash val="solid"/>
          </a:ln>
        </p:spPr>
      </p:sp>
      <p:sp>
        <p:nvSpPr>
          <p:cNvPr id="53" name="Text 51"/>
          <p:cNvSpPr/>
          <p:nvPr/>
        </p:nvSpPr>
        <p:spPr>
          <a:xfrm>
            <a:off x="2834640" y="3410712"/>
            <a:ext cx="1005840" cy="384048"/>
          </a:xfrm>
          <a:prstGeom prst="rect">
            <a:avLst/>
          </a:prstGeom>
          <a:noFill/>
          <a:ln/>
        </p:spPr>
        <p:txBody>
          <a:bodyPr wrap="square" rtlCol="0" anchor="ctr"/>
          <a:lstStyle/>
          <a:p>
            <a:pPr algn="l" indent="0" marL="0">
              <a:buNone/>
            </a:pPr>
            <a:r>
              <a:rPr lang="en-US" sz="1050" b="1" dirty="0">
                <a:solidFill>
                  <a:srgbClr val="2563EB"/>
                </a:solidFill>
                <a:latin typeface="Calibri" pitchFamily="34" charset="0"/>
                <a:ea typeface="Calibri" pitchFamily="34" charset="-122"/>
                <a:cs typeface="Calibri" pitchFamily="34" charset="-120"/>
              </a:rPr>
              <a:t>Dynamics</a:t>
            </a:r>
            <a:endParaRPr lang="en-US" sz="1050" dirty="0"/>
          </a:p>
        </p:txBody>
      </p:sp>
      <p:sp>
        <p:nvSpPr>
          <p:cNvPr id="54" name="Shape 52"/>
          <p:cNvSpPr/>
          <p:nvPr/>
        </p:nvSpPr>
        <p:spPr>
          <a:xfrm>
            <a:off x="3977640" y="3410712"/>
            <a:ext cx="3657600" cy="384048"/>
          </a:xfrm>
          <a:prstGeom prst="rect">
            <a:avLst/>
          </a:prstGeom>
          <a:solidFill>
            <a:srgbClr val="F1F5F9"/>
          </a:solidFill>
          <a:ln w="6350">
            <a:solidFill>
              <a:srgbClr val="E2E8F0"/>
            </a:solidFill>
            <a:prstDash val="solid"/>
          </a:ln>
        </p:spPr>
      </p:sp>
      <p:sp>
        <p:nvSpPr>
          <p:cNvPr id="55" name="Text 53"/>
          <p:cNvSpPr/>
          <p:nvPr/>
        </p:nvSpPr>
        <p:spPr>
          <a:xfrm>
            <a:off x="4114800" y="3410712"/>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Cuenta</a:t>
            </a:r>
            <a:endParaRPr lang="en-US" sz="1050" dirty="0"/>
          </a:p>
        </p:txBody>
      </p:sp>
      <p:sp>
        <p:nvSpPr>
          <p:cNvPr id="56" name="Shape 54"/>
          <p:cNvSpPr/>
          <p:nvPr/>
        </p:nvSpPr>
        <p:spPr>
          <a:xfrm>
            <a:off x="7635240" y="3410712"/>
            <a:ext cx="4023360" cy="384048"/>
          </a:xfrm>
          <a:prstGeom prst="rect">
            <a:avLst/>
          </a:prstGeom>
          <a:solidFill>
            <a:srgbClr val="F1F5F9"/>
          </a:solidFill>
          <a:ln w="6350">
            <a:solidFill>
              <a:srgbClr val="E2E8F0"/>
            </a:solidFill>
            <a:prstDash val="solid"/>
          </a:ln>
        </p:spPr>
      </p:sp>
      <p:sp>
        <p:nvSpPr>
          <p:cNvPr id="57" name="Text 55"/>
          <p:cNvSpPr/>
          <p:nvPr/>
        </p:nvSpPr>
        <p:spPr>
          <a:xfrm>
            <a:off x="7772400" y="3410712"/>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58" name="Shape 56"/>
          <p:cNvSpPr/>
          <p:nvPr/>
        </p:nvSpPr>
        <p:spPr>
          <a:xfrm>
            <a:off x="502920" y="3794760"/>
            <a:ext cx="2194560" cy="384048"/>
          </a:xfrm>
          <a:prstGeom prst="rect">
            <a:avLst/>
          </a:prstGeom>
          <a:solidFill>
            <a:srgbClr val="FFFFFF"/>
          </a:solidFill>
          <a:ln w="6350">
            <a:solidFill>
              <a:srgbClr val="E2E8F0"/>
            </a:solidFill>
            <a:prstDash val="solid"/>
          </a:ln>
        </p:spPr>
      </p:sp>
      <p:sp>
        <p:nvSpPr>
          <p:cNvPr id="59" name="Text 57"/>
          <p:cNvSpPr/>
          <p:nvPr/>
        </p:nvSpPr>
        <p:spPr>
          <a:xfrm>
            <a:off x="640080" y="3794760"/>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Lead</a:t>
            </a:r>
            <a:endParaRPr lang="en-US" sz="1050" dirty="0"/>
          </a:p>
        </p:txBody>
      </p:sp>
      <p:sp>
        <p:nvSpPr>
          <p:cNvPr id="60" name="Shape 58"/>
          <p:cNvSpPr/>
          <p:nvPr/>
        </p:nvSpPr>
        <p:spPr>
          <a:xfrm>
            <a:off x="2697480" y="3794760"/>
            <a:ext cx="1280160" cy="384048"/>
          </a:xfrm>
          <a:prstGeom prst="rect">
            <a:avLst/>
          </a:prstGeom>
          <a:solidFill>
            <a:srgbClr val="FFFFFF"/>
          </a:solidFill>
          <a:ln w="6350">
            <a:solidFill>
              <a:srgbClr val="E2E8F0"/>
            </a:solidFill>
            <a:prstDash val="solid"/>
          </a:ln>
        </p:spPr>
      </p:sp>
      <p:sp>
        <p:nvSpPr>
          <p:cNvPr id="61" name="Text 59"/>
          <p:cNvSpPr/>
          <p:nvPr/>
        </p:nvSpPr>
        <p:spPr>
          <a:xfrm>
            <a:off x="2834640" y="3794760"/>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62" name="Shape 60"/>
          <p:cNvSpPr/>
          <p:nvPr/>
        </p:nvSpPr>
        <p:spPr>
          <a:xfrm>
            <a:off x="3977640" y="3794760"/>
            <a:ext cx="3657600" cy="384048"/>
          </a:xfrm>
          <a:prstGeom prst="rect">
            <a:avLst/>
          </a:prstGeom>
          <a:solidFill>
            <a:srgbClr val="FFFFFF"/>
          </a:solidFill>
          <a:ln w="6350">
            <a:solidFill>
              <a:srgbClr val="E2E8F0"/>
            </a:solidFill>
            <a:prstDash val="solid"/>
          </a:ln>
        </p:spPr>
      </p:sp>
      <p:sp>
        <p:nvSpPr>
          <p:cNvPr id="63" name="Text 61"/>
          <p:cNvSpPr/>
          <p:nvPr/>
        </p:nvSpPr>
        <p:spPr>
          <a:xfrm>
            <a:off x="4114800" y="3794760"/>
            <a:ext cx="338328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64" name="Shape 62"/>
          <p:cNvSpPr/>
          <p:nvPr/>
        </p:nvSpPr>
        <p:spPr>
          <a:xfrm>
            <a:off x="7635240" y="3794760"/>
            <a:ext cx="4023360" cy="384048"/>
          </a:xfrm>
          <a:prstGeom prst="rect">
            <a:avLst/>
          </a:prstGeom>
          <a:solidFill>
            <a:srgbClr val="FFFFFF"/>
          </a:solidFill>
          <a:ln w="6350">
            <a:solidFill>
              <a:srgbClr val="E2E8F0"/>
            </a:solidFill>
            <a:prstDash val="solid"/>
          </a:ln>
        </p:spPr>
      </p:sp>
      <p:sp>
        <p:nvSpPr>
          <p:cNvPr id="65" name="Text 63"/>
          <p:cNvSpPr/>
          <p:nvPr/>
        </p:nvSpPr>
        <p:spPr>
          <a:xfrm>
            <a:off x="7772400" y="3794760"/>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Cuenta · Contacto · Activo · Oferta · Demanda</a:t>
            </a:r>
            <a:endParaRPr lang="en-US" sz="1050" dirty="0"/>
          </a:p>
        </p:txBody>
      </p:sp>
      <p:sp>
        <p:nvSpPr>
          <p:cNvPr id="66" name="Shape 64"/>
          <p:cNvSpPr/>
          <p:nvPr/>
        </p:nvSpPr>
        <p:spPr>
          <a:xfrm>
            <a:off x="502920" y="4178808"/>
            <a:ext cx="2194560" cy="384048"/>
          </a:xfrm>
          <a:prstGeom prst="rect">
            <a:avLst/>
          </a:prstGeom>
          <a:solidFill>
            <a:srgbClr val="F1F5F9"/>
          </a:solidFill>
          <a:ln w="6350">
            <a:solidFill>
              <a:srgbClr val="E2E8F0"/>
            </a:solidFill>
            <a:prstDash val="solid"/>
          </a:ln>
        </p:spPr>
      </p:sp>
      <p:sp>
        <p:nvSpPr>
          <p:cNvPr id="67" name="Text 65"/>
          <p:cNvSpPr/>
          <p:nvPr/>
        </p:nvSpPr>
        <p:spPr>
          <a:xfrm>
            <a:off x="640080" y="4178808"/>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Activo</a:t>
            </a:r>
            <a:endParaRPr lang="en-US" sz="1050" dirty="0"/>
          </a:p>
        </p:txBody>
      </p:sp>
      <p:sp>
        <p:nvSpPr>
          <p:cNvPr id="68" name="Shape 66"/>
          <p:cNvSpPr/>
          <p:nvPr/>
        </p:nvSpPr>
        <p:spPr>
          <a:xfrm>
            <a:off x="2697480" y="4178808"/>
            <a:ext cx="1280160" cy="384048"/>
          </a:xfrm>
          <a:prstGeom prst="rect">
            <a:avLst/>
          </a:prstGeom>
          <a:solidFill>
            <a:srgbClr val="F1F5F9"/>
          </a:solidFill>
          <a:ln w="6350">
            <a:solidFill>
              <a:srgbClr val="E2E8F0"/>
            </a:solidFill>
            <a:prstDash val="solid"/>
          </a:ln>
        </p:spPr>
      </p:sp>
      <p:sp>
        <p:nvSpPr>
          <p:cNvPr id="69" name="Text 67"/>
          <p:cNvSpPr/>
          <p:nvPr/>
        </p:nvSpPr>
        <p:spPr>
          <a:xfrm>
            <a:off x="2834640" y="4178808"/>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70" name="Shape 68"/>
          <p:cNvSpPr/>
          <p:nvPr/>
        </p:nvSpPr>
        <p:spPr>
          <a:xfrm>
            <a:off x="3977640" y="4178808"/>
            <a:ext cx="3657600" cy="384048"/>
          </a:xfrm>
          <a:prstGeom prst="rect">
            <a:avLst/>
          </a:prstGeom>
          <a:solidFill>
            <a:srgbClr val="F1F5F9"/>
          </a:solidFill>
          <a:ln w="6350">
            <a:solidFill>
              <a:srgbClr val="E2E8F0"/>
            </a:solidFill>
            <a:prstDash val="solid"/>
          </a:ln>
        </p:spPr>
      </p:sp>
      <p:sp>
        <p:nvSpPr>
          <p:cNvPr id="71" name="Text 69"/>
          <p:cNvSpPr/>
          <p:nvPr/>
        </p:nvSpPr>
        <p:spPr>
          <a:xfrm>
            <a:off x="4114800" y="4178808"/>
            <a:ext cx="338328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72" name="Shape 70"/>
          <p:cNvSpPr/>
          <p:nvPr/>
        </p:nvSpPr>
        <p:spPr>
          <a:xfrm>
            <a:off x="7635240" y="4178808"/>
            <a:ext cx="4023360" cy="384048"/>
          </a:xfrm>
          <a:prstGeom prst="rect">
            <a:avLst/>
          </a:prstGeom>
          <a:solidFill>
            <a:srgbClr val="F1F5F9"/>
          </a:solidFill>
          <a:ln w="6350">
            <a:solidFill>
              <a:srgbClr val="E2E8F0"/>
            </a:solidFill>
            <a:prstDash val="solid"/>
          </a:ln>
        </p:spPr>
      </p:sp>
      <p:sp>
        <p:nvSpPr>
          <p:cNvPr id="73" name="Text 71"/>
          <p:cNvSpPr/>
          <p:nvPr/>
        </p:nvSpPr>
        <p:spPr>
          <a:xfrm>
            <a:off x="7772400" y="4178808"/>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Cuenta-Propietario</a:t>
            </a:r>
            <a:endParaRPr lang="en-US" sz="1050" dirty="0"/>
          </a:p>
        </p:txBody>
      </p:sp>
      <p:sp>
        <p:nvSpPr>
          <p:cNvPr id="74" name="Shape 72"/>
          <p:cNvSpPr/>
          <p:nvPr/>
        </p:nvSpPr>
        <p:spPr>
          <a:xfrm>
            <a:off x="502920" y="4562856"/>
            <a:ext cx="2194560" cy="384048"/>
          </a:xfrm>
          <a:prstGeom prst="rect">
            <a:avLst/>
          </a:prstGeom>
          <a:solidFill>
            <a:srgbClr val="FFFFFF"/>
          </a:solidFill>
          <a:ln w="6350">
            <a:solidFill>
              <a:srgbClr val="E2E8F0"/>
            </a:solidFill>
            <a:prstDash val="solid"/>
          </a:ln>
        </p:spPr>
      </p:sp>
      <p:sp>
        <p:nvSpPr>
          <p:cNvPr id="75" name="Text 73"/>
          <p:cNvSpPr/>
          <p:nvPr/>
        </p:nvSpPr>
        <p:spPr>
          <a:xfrm>
            <a:off x="640080" y="4562856"/>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Stacking Plan</a:t>
            </a:r>
            <a:endParaRPr lang="en-US" sz="1050" dirty="0"/>
          </a:p>
        </p:txBody>
      </p:sp>
      <p:sp>
        <p:nvSpPr>
          <p:cNvPr id="76" name="Shape 74"/>
          <p:cNvSpPr/>
          <p:nvPr/>
        </p:nvSpPr>
        <p:spPr>
          <a:xfrm>
            <a:off x="2697480" y="4562856"/>
            <a:ext cx="1280160" cy="384048"/>
          </a:xfrm>
          <a:prstGeom prst="rect">
            <a:avLst/>
          </a:prstGeom>
          <a:solidFill>
            <a:srgbClr val="FFFFFF"/>
          </a:solidFill>
          <a:ln w="6350">
            <a:solidFill>
              <a:srgbClr val="E2E8F0"/>
            </a:solidFill>
            <a:prstDash val="solid"/>
          </a:ln>
        </p:spPr>
      </p:sp>
      <p:sp>
        <p:nvSpPr>
          <p:cNvPr id="77" name="Text 75"/>
          <p:cNvSpPr/>
          <p:nvPr/>
        </p:nvSpPr>
        <p:spPr>
          <a:xfrm>
            <a:off x="2834640" y="4562856"/>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78" name="Shape 76"/>
          <p:cNvSpPr/>
          <p:nvPr/>
        </p:nvSpPr>
        <p:spPr>
          <a:xfrm>
            <a:off x="3977640" y="4562856"/>
            <a:ext cx="3657600" cy="384048"/>
          </a:xfrm>
          <a:prstGeom prst="rect">
            <a:avLst/>
          </a:prstGeom>
          <a:solidFill>
            <a:srgbClr val="FFFFFF"/>
          </a:solidFill>
          <a:ln w="6350">
            <a:solidFill>
              <a:srgbClr val="E2E8F0"/>
            </a:solidFill>
            <a:prstDash val="solid"/>
          </a:ln>
        </p:spPr>
      </p:sp>
      <p:sp>
        <p:nvSpPr>
          <p:cNvPr id="79" name="Text 77"/>
          <p:cNvSpPr/>
          <p:nvPr/>
        </p:nvSpPr>
        <p:spPr>
          <a:xfrm>
            <a:off x="4114800" y="4562856"/>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Activo</a:t>
            </a:r>
            <a:endParaRPr lang="en-US" sz="1050" dirty="0"/>
          </a:p>
        </p:txBody>
      </p:sp>
      <p:sp>
        <p:nvSpPr>
          <p:cNvPr id="80" name="Shape 78"/>
          <p:cNvSpPr/>
          <p:nvPr/>
        </p:nvSpPr>
        <p:spPr>
          <a:xfrm>
            <a:off x="7635240" y="4562856"/>
            <a:ext cx="4023360" cy="384048"/>
          </a:xfrm>
          <a:prstGeom prst="rect">
            <a:avLst/>
          </a:prstGeom>
          <a:solidFill>
            <a:srgbClr val="FFFFFF"/>
          </a:solidFill>
          <a:ln w="6350">
            <a:solidFill>
              <a:srgbClr val="E2E8F0"/>
            </a:solidFill>
            <a:prstDash val="solid"/>
          </a:ln>
        </p:spPr>
      </p:sp>
      <p:sp>
        <p:nvSpPr>
          <p:cNvPr id="81" name="Text 79"/>
          <p:cNvSpPr/>
          <p:nvPr/>
        </p:nvSpPr>
        <p:spPr>
          <a:xfrm>
            <a:off x="7772400" y="4562856"/>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82" name="Shape 80"/>
          <p:cNvSpPr/>
          <p:nvPr/>
        </p:nvSpPr>
        <p:spPr>
          <a:xfrm>
            <a:off x="502920" y="4946904"/>
            <a:ext cx="2194560" cy="384048"/>
          </a:xfrm>
          <a:prstGeom prst="rect">
            <a:avLst/>
          </a:prstGeom>
          <a:solidFill>
            <a:srgbClr val="F1F5F9"/>
          </a:solidFill>
          <a:ln w="6350">
            <a:solidFill>
              <a:srgbClr val="E2E8F0"/>
            </a:solidFill>
            <a:prstDash val="solid"/>
          </a:ln>
        </p:spPr>
      </p:sp>
      <p:sp>
        <p:nvSpPr>
          <p:cNvPr id="83" name="Text 81"/>
          <p:cNvSpPr/>
          <p:nvPr/>
        </p:nvSpPr>
        <p:spPr>
          <a:xfrm>
            <a:off x="640080" y="4946904"/>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Oferta</a:t>
            </a:r>
            <a:endParaRPr lang="en-US" sz="1050" dirty="0"/>
          </a:p>
        </p:txBody>
      </p:sp>
      <p:sp>
        <p:nvSpPr>
          <p:cNvPr id="84" name="Shape 82"/>
          <p:cNvSpPr/>
          <p:nvPr/>
        </p:nvSpPr>
        <p:spPr>
          <a:xfrm>
            <a:off x="2697480" y="4946904"/>
            <a:ext cx="1280160" cy="384048"/>
          </a:xfrm>
          <a:prstGeom prst="rect">
            <a:avLst/>
          </a:prstGeom>
          <a:solidFill>
            <a:srgbClr val="F1F5F9"/>
          </a:solidFill>
          <a:ln w="6350">
            <a:solidFill>
              <a:srgbClr val="E2E8F0"/>
            </a:solidFill>
            <a:prstDash val="solid"/>
          </a:ln>
        </p:spPr>
      </p:sp>
      <p:sp>
        <p:nvSpPr>
          <p:cNvPr id="85" name="Text 83"/>
          <p:cNvSpPr/>
          <p:nvPr/>
        </p:nvSpPr>
        <p:spPr>
          <a:xfrm>
            <a:off x="2834640" y="4946904"/>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86" name="Shape 84"/>
          <p:cNvSpPr/>
          <p:nvPr/>
        </p:nvSpPr>
        <p:spPr>
          <a:xfrm>
            <a:off x="3977640" y="4946904"/>
            <a:ext cx="3657600" cy="384048"/>
          </a:xfrm>
          <a:prstGeom prst="rect">
            <a:avLst/>
          </a:prstGeom>
          <a:solidFill>
            <a:srgbClr val="F1F5F9"/>
          </a:solidFill>
          <a:ln w="6350">
            <a:solidFill>
              <a:srgbClr val="E2E8F0"/>
            </a:solidFill>
            <a:prstDash val="solid"/>
          </a:ln>
        </p:spPr>
      </p:sp>
      <p:sp>
        <p:nvSpPr>
          <p:cNvPr id="87" name="Text 85"/>
          <p:cNvSpPr/>
          <p:nvPr/>
        </p:nvSpPr>
        <p:spPr>
          <a:xfrm>
            <a:off x="4114800" y="4946904"/>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Activo</a:t>
            </a:r>
            <a:endParaRPr lang="en-US" sz="1050" dirty="0"/>
          </a:p>
        </p:txBody>
      </p:sp>
      <p:sp>
        <p:nvSpPr>
          <p:cNvPr id="88" name="Shape 86"/>
          <p:cNvSpPr/>
          <p:nvPr/>
        </p:nvSpPr>
        <p:spPr>
          <a:xfrm>
            <a:off x="7635240" y="4946904"/>
            <a:ext cx="4023360" cy="384048"/>
          </a:xfrm>
          <a:prstGeom prst="rect">
            <a:avLst/>
          </a:prstGeom>
          <a:solidFill>
            <a:srgbClr val="F1F5F9"/>
          </a:solidFill>
          <a:ln w="6350">
            <a:solidFill>
              <a:srgbClr val="E2E8F0"/>
            </a:solidFill>
            <a:prstDash val="solid"/>
          </a:ln>
        </p:spPr>
      </p:sp>
      <p:sp>
        <p:nvSpPr>
          <p:cNvPr id="89" name="Text 87"/>
          <p:cNvSpPr/>
          <p:nvPr/>
        </p:nvSpPr>
        <p:spPr>
          <a:xfrm>
            <a:off x="7772400" y="4946904"/>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90" name="Shape 88"/>
          <p:cNvSpPr/>
          <p:nvPr/>
        </p:nvSpPr>
        <p:spPr>
          <a:xfrm>
            <a:off x="502920" y="5330952"/>
            <a:ext cx="2194560" cy="384048"/>
          </a:xfrm>
          <a:prstGeom prst="rect">
            <a:avLst/>
          </a:prstGeom>
          <a:solidFill>
            <a:srgbClr val="FFFFFF"/>
          </a:solidFill>
          <a:ln w="6350">
            <a:solidFill>
              <a:srgbClr val="E2E8F0"/>
            </a:solidFill>
            <a:prstDash val="solid"/>
          </a:ln>
        </p:spPr>
      </p:sp>
      <p:sp>
        <p:nvSpPr>
          <p:cNvPr id="91" name="Text 89"/>
          <p:cNvSpPr/>
          <p:nvPr/>
        </p:nvSpPr>
        <p:spPr>
          <a:xfrm>
            <a:off x="640080" y="5330952"/>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Demanda</a:t>
            </a:r>
            <a:endParaRPr lang="en-US" sz="1050" dirty="0"/>
          </a:p>
        </p:txBody>
      </p:sp>
      <p:sp>
        <p:nvSpPr>
          <p:cNvPr id="92" name="Shape 90"/>
          <p:cNvSpPr/>
          <p:nvPr/>
        </p:nvSpPr>
        <p:spPr>
          <a:xfrm>
            <a:off x="2697480" y="5330952"/>
            <a:ext cx="1280160" cy="384048"/>
          </a:xfrm>
          <a:prstGeom prst="rect">
            <a:avLst/>
          </a:prstGeom>
          <a:solidFill>
            <a:srgbClr val="FFFFFF"/>
          </a:solidFill>
          <a:ln w="6350">
            <a:solidFill>
              <a:srgbClr val="E2E8F0"/>
            </a:solidFill>
            <a:prstDash val="solid"/>
          </a:ln>
        </p:spPr>
      </p:sp>
      <p:sp>
        <p:nvSpPr>
          <p:cNvPr id="93" name="Text 91"/>
          <p:cNvSpPr/>
          <p:nvPr/>
        </p:nvSpPr>
        <p:spPr>
          <a:xfrm>
            <a:off x="2834640" y="5330952"/>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94" name="Shape 92"/>
          <p:cNvSpPr/>
          <p:nvPr/>
        </p:nvSpPr>
        <p:spPr>
          <a:xfrm>
            <a:off x="3977640" y="5330952"/>
            <a:ext cx="3657600" cy="384048"/>
          </a:xfrm>
          <a:prstGeom prst="rect">
            <a:avLst/>
          </a:prstGeom>
          <a:solidFill>
            <a:srgbClr val="FFFFFF"/>
          </a:solidFill>
          <a:ln w="6350">
            <a:solidFill>
              <a:srgbClr val="E2E8F0"/>
            </a:solidFill>
            <a:prstDash val="solid"/>
          </a:ln>
        </p:spPr>
      </p:sp>
      <p:sp>
        <p:nvSpPr>
          <p:cNvPr id="95" name="Text 93"/>
          <p:cNvSpPr/>
          <p:nvPr/>
        </p:nvSpPr>
        <p:spPr>
          <a:xfrm>
            <a:off x="4114800" y="5330952"/>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Cuenta-Arrendatario · Oportunidad (heredada)</a:t>
            </a:r>
            <a:endParaRPr lang="en-US" sz="1050" dirty="0"/>
          </a:p>
        </p:txBody>
      </p:sp>
      <p:sp>
        <p:nvSpPr>
          <p:cNvPr id="96" name="Shape 94"/>
          <p:cNvSpPr/>
          <p:nvPr/>
        </p:nvSpPr>
        <p:spPr>
          <a:xfrm>
            <a:off x="7635240" y="5330952"/>
            <a:ext cx="4023360" cy="384048"/>
          </a:xfrm>
          <a:prstGeom prst="rect">
            <a:avLst/>
          </a:prstGeom>
          <a:solidFill>
            <a:srgbClr val="FFFFFF"/>
          </a:solidFill>
          <a:ln w="6350">
            <a:solidFill>
              <a:srgbClr val="E2E8F0"/>
            </a:solidFill>
            <a:prstDash val="solid"/>
          </a:ln>
        </p:spPr>
      </p:sp>
      <p:sp>
        <p:nvSpPr>
          <p:cNvPr id="97" name="Text 95"/>
          <p:cNvSpPr/>
          <p:nvPr/>
        </p:nvSpPr>
        <p:spPr>
          <a:xfrm>
            <a:off x="7772400" y="5330952"/>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98" name="Shape 96"/>
          <p:cNvSpPr/>
          <p:nvPr/>
        </p:nvSpPr>
        <p:spPr>
          <a:xfrm>
            <a:off x="502920" y="5715000"/>
            <a:ext cx="2194560" cy="384048"/>
          </a:xfrm>
          <a:prstGeom prst="rect">
            <a:avLst/>
          </a:prstGeom>
          <a:solidFill>
            <a:srgbClr val="F1F5F9"/>
          </a:solidFill>
          <a:ln w="6350">
            <a:solidFill>
              <a:srgbClr val="E2E8F0"/>
            </a:solidFill>
            <a:prstDash val="solid"/>
          </a:ln>
        </p:spPr>
      </p:sp>
      <p:sp>
        <p:nvSpPr>
          <p:cNvPr id="99" name="Text 97"/>
          <p:cNvSpPr/>
          <p:nvPr/>
        </p:nvSpPr>
        <p:spPr>
          <a:xfrm>
            <a:off x="640080" y="5715000"/>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Negociación</a:t>
            </a:r>
            <a:endParaRPr lang="en-US" sz="1050" dirty="0"/>
          </a:p>
        </p:txBody>
      </p:sp>
      <p:sp>
        <p:nvSpPr>
          <p:cNvPr id="100" name="Shape 98"/>
          <p:cNvSpPr/>
          <p:nvPr/>
        </p:nvSpPr>
        <p:spPr>
          <a:xfrm>
            <a:off x="2697480" y="5715000"/>
            <a:ext cx="1280160" cy="384048"/>
          </a:xfrm>
          <a:prstGeom prst="rect">
            <a:avLst/>
          </a:prstGeom>
          <a:solidFill>
            <a:srgbClr val="F1F5F9"/>
          </a:solidFill>
          <a:ln w="6350">
            <a:solidFill>
              <a:srgbClr val="E2E8F0"/>
            </a:solidFill>
            <a:prstDash val="solid"/>
          </a:ln>
        </p:spPr>
      </p:sp>
      <p:sp>
        <p:nvSpPr>
          <p:cNvPr id="101" name="Text 99"/>
          <p:cNvSpPr/>
          <p:nvPr/>
        </p:nvSpPr>
        <p:spPr>
          <a:xfrm>
            <a:off x="2834640" y="5715000"/>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102" name="Shape 100"/>
          <p:cNvSpPr/>
          <p:nvPr/>
        </p:nvSpPr>
        <p:spPr>
          <a:xfrm>
            <a:off x="3977640" y="5715000"/>
            <a:ext cx="3657600" cy="384048"/>
          </a:xfrm>
          <a:prstGeom prst="rect">
            <a:avLst/>
          </a:prstGeom>
          <a:solidFill>
            <a:srgbClr val="F1F5F9"/>
          </a:solidFill>
          <a:ln w="6350">
            <a:solidFill>
              <a:srgbClr val="E2E8F0"/>
            </a:solidFill>
            <a:prstDash val="solid"/>
          </a:ln>
        </p:spPr>
      </p:sp>
      <p:sp>
        <p:nvSpPr>
          <p:cNvPr id="103" name="Text 101"/>
          <p:cNvSpPr/>
          <p:nvPr/>
        </p:nvSpPr>
        <p:spPr>
          <a:xfrm>
            <a:off x="4114800" y="5715000"/>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Oportunidad</a:t>
            </a:r>
            <a:endParaRPr lang="en-US" sz="1050" dirty="0"/>
          </a:p>
        </p:txBody>
      </p:sp>
      <p:sp>
        <p:nvSpPr>
          <p:cNvPr id="104" name="Shape 102"/>
          <p:cNvSpPr/>
          <p:nvPr/>
        </p:nvSpPr>
        <p:spPr>
          <a:xfrm>
            <a:off x="7635240" y="5715000"/>
            <a:ext cx="4023360" cy="384048"/>
          </a:xfrm>
          <a:prstGeom prst="rect">
            <a:avLst/>
          </a:prstGeom>
          <a:solidFill>
            <a:srgbClr val="F1F5F9"/>
          </a:solidFill>
          <a:ln w="6350">
            <a:solidFill>
              <a:srgbClr val="E2E8F0"/>
            </a:solidFill>
            <a:prstDash val="solid"/>
          </a:ln>
        </p:spPr>
      </p:sp>
      <p:sp>
        <p:nvSpPr>
          <p:cNvPr id="105" name="Text 103"/>
          <p:cNvSpPr/>
          <p:nvPr/>
        </p:nvSpPr>
        <p:spPr>
          <a:xfrm>
            <a:off x="7772400" y="5715000"/>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Demanda · Activo · Oferta</a:t>
            </a:r>
            <a:endParaRPr lang="en-US" sz="1050" dirty="0"/>
          </a:p>
        </p:txBody>
      </p:sp>
      <p:sp>
        <p:nvSpPr>
          <p:cNvPr id="106" name="Shape 104"/>
          <p:cNvSpPr/>
          <p:nvPr/>
        </p:nvSpPr>
        <p:spPr>
          <a:xfrm>
            <a:off x="502920" y="6099048"/>
            <a:ext cx="2194560" cy="384048"/>
          </a:xfrm>
          <a:prstGeom prst="rect">
            <a:avLst/>
          </a:prstGeom>
          <a:solidFill>
            <a:srgbClr val="FFFFFF"/>
          </a:solidFill>
          <a:ln w="6350">
            <a:solidFill>
              <a:srgbClr val="E2E8F0"/>
            </a:solidFill>
            <a:prstDash val="solid"/>
          </a:ln>
        </p:spPr>
      </p:sp>
      <p:sp>
        <p:nvSpPr>
          <p:cNvPr id="107" name="Text 105"/>
          <p:cNvSpPr/>
          <p:nvPr/>
        </p:nvSpPr>
        <p:spPr>
          <a:xfrm>
            <a:off x="640080" y="6099048"/>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Mandato</a:t>
            </a:r>
            <a:endParaRPr lang="en-US" sz="1050" dirty="0"/>
          </a:p>
        </p:txBody>
      </p:sp>
      <p:sp>
        <p:nvSpPr>
          <p:cNvPr id="108" name="Shape 106"/>
          <p:cNvSpPr/>
          <p:nvPr/>
        </p:nvSpPr>
        <p:spPr>
          <a:xfrm>
            <a:off x="2697480" y="6099048"/>
            <a:ext cx="1280160" cy="384048"/>
          </a:xfrm>
          <a:prstGeom prst="rect">
            <a:avLst/>
          </a:prstGeom>
          <a:solidFill>
            <a:srgbClr val="FFFFFF"/>
          </a:solidFill>
          <a:ln w="6350">
            <a:solidFill>
              <a:srgbClr val="E2E8F0"/>
            </a:solidFill>
            <a:prstDash val="solid"/>
          </a:ln>
        </p:spPr>
      </p:sp>
      <p:sp>
        <p:nvSpPr>
          <p:cNvPr id="109" name="Text 107"/>
          <p:cNvSpPr/>
          <p:nvPr/>
        </p:nvSpPr>
        <p:spPr>
          <a:xfrm>
            <a:off x="2834640" y="6099048"/>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110" name="Shape 108"/>
          <p:cNvSpPr/>
          <p:nvPr/>
        </p:nvSpPr>
        <p:spPr>
          <a:xfrm>
            <a:off x="3977640" y="6099048"/>
            <a:ext cx="3657600" cy="384048"/>
          </a:xfrm>
          <a:prstGeom prst="rect">
            <a:avLst/>
          </a:prstGeom>
          <a:solidFill>
            <a:srgbClr val="FFFFFF"/>
          </a:solidFill>
          <a:ln w="6350">
            <a:solidFill>
              <a:srgbClr val="E2E8F0"/>
            </a:solidFill>
            <a:prstDash val="solid"/>
          </a:ln>
        </p:spPr>
      </p:sp>
      <p:sp>
        <p:nvSpPr>
          <p:cNvPr id="111" name="Text 109"/>
          <p:cNvSpPr/>
          <p:nvPr/>
        </p:nvSpPr>
        <p:spPr>
          <a:xfrm>
            <a:off x="4114800" y="6099048"/>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Oportunidad + Oferta + Activo</a:t>
            </a:r>
            <a:endParaRPr lang="en-US" sz="1050" dirty="0"/>
          </a:p>
        </p:txBody>
      </p:sp>
      <p:sp>
        <p:nvSpPr>
          <p:cNvPr id="112" name="Shape 110"/>
          <p:cNvSpPr/>
          <p:nvPr/>
        </p:nvSpPr>
        <p:spPr>
          <a:xfrm>
            <a:off x="7635240" y="6099048"/>
            <a:ext cx="4023360" cy="384048"/>
          </a:xfrm>
          <a:prstGeom prst="rect">
            <a:avLst/>
          </a:prstGeom>
          <a:solidFill>
            <a:srgbClr val="FFFFFF"/>
          </a:solidFill>
          <a:ln w="6350">
            <a:solidFill>
              <a:srgbClr val="E2E8F0"/>
            </a:solidFill>
            <a:prstDash val="solid"/>
          </a:ln>
        </p:spPr>
      </p:sp>
      <p:sp>
        <p:nvSpPr>
          <p:cNvPr id="113" name="Text 111"/>
          <p:cNvSpPr/>
          <p:nvPr/>
        </p:nvSpPr>
        <p:spPr>
          <a:xfrm>
            <a:off x="7772400" y="6099048"/>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114" name="Shape 112"/>
          <p:cNvSpPr/>
          <p:nvPr/>
        </p:nvSpPr>
        <p:spPr>
          <a:xfrm>
            <a:off x="502920" y="6483096"/>
            <a:ext cx="2194560" cy="384048"/>
          </a:xfrm>
          <a:prstGeom prst="rect">
            <a:avLst/>
          </a:prstGeom>
          <a:solidFill>
            <a:srgbClr val="F1F5F9"/>
          </a:solidFill>
          <a:ln w="6350">
            <a:solidFill>
              <a:srgbClr val="E2E8F0"/>
            </a:solidFill>
            <a:prstDash val="solid"/>
          </a:ln>
        </p:spPr>
      </p:sp>
      <p:sp>
        <p:nvSpPr>
          <p:cNvPr id="115" name="Text 113"/>
          <p:cNvSpPr/>
          <p:nvPr/>
        </p:nvSpPr>
        <p:spPr>
          <a:xfrm>
            <a:off x="640080" y="6483096"/>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Propuesta / Proyecto</a:t>
            </a:r>
            <a:endParaRPr lang="en-US" sz="1050" dirty="0"/>
          </a:p>
        </p:txBody>
      </p:sp>
      <p:sp>
        <p:nvSpPr>
          <p:cNvPr id="116" name="Shape 114"/>
          <p:cNvSpPr/>
          <p:nvPr/>
        </p:nvSpPr>
        <p:spPr>
          <a:xfrm>
            <a:off x="2697480" y="6483096"/>
            <a:ext cx="1280160" cy="384048"/>
          </a:xfrm>
          <a:prstGeom prst="rect">
            <a:avLst/>
          </a:prstGeom>
          <a:solidFill>
            <a:srgbClr val="F1F5F9"/>
          </a:solidFill>
          <a:ln w="6350">
            <a:solidFill>
              <a:srgbClr val="E2E8F0"/>
            </a:solidFill>
            <a:prstDash val="solid"/>
          </a:ln>
        </p:spPr>
      </p:sp>
      <p:sp>
        <p:nvSpPr>
          <p:cNvPr id="117" name="Text 115"/>
          <p:cNvSpPr/>
          <p:nvPr/>
        </p:nvSpPr>
        <p:spPr>
          <a:xfrm>
            <a:off x="2834640" y="6483096"/>
            <a:ext cx="1005840" cy="384048"/>
          </a:xfrm>
          <a:prstGeom prst="rect">
            <a:avLst/>
          </a:prstGeom>
          <a:noFill/>
          <a:ln/>
        </p:spPr>
        <p:txBody>
          <a:bodyPr wrap="square" rtlCol="0" anchor="ctr"/>
          <a:lstStyle/>
          <a:p>
            <a:pPr algn="l" indent="0" marL="0">
              <a:buNone/>
            </a:pPr>
            <a:r>
              <a:rPr lang="en-US" sz="1050" b="1" dirty="0">
                <a:solidFill>
                  <a:srgbClr val="15803D"/>
                </a:solidFill>
                <a:latin typeface="Calibri" pitchFamily="34" charset="0"/>
                <a:ea typeface="Calibri" pitchFamily="34" charset="-122"/>
                <a:cs typeface="Calibri" pitchFamily="34" charset="-120"/>
              </a:rPr>
              <a:t>PDB</a:t>
            </a:r>
            <a:endParaRPr lang="en-US" sz="1050" dirty="0"/>
          </a:p>
        </p:txBody>
      </p:sp>
      <p:sp>
        <p:nvSpPr>
          <p:cNvPr id="118" name="Shape 116"/>
          <p:cNvSpPr/>
          <p:nvPr/>
        </p:nvSpPr>
        <p:spPr>
          <a:xfrm>
            <a:off x="3977640" y="6483096"/>
            <a:ext cx="3657600" cy="384048"/>
          </a:xfrm>
          <a:prstGeom prst="rect">
            <a:avLst/>
          </a:prstGeom>
          <a:solidFill>
            <a:srgbClr val="F1F5F9"/>
          </a:solidFill>
          <a:ln w="6350">
            <a:solidFill>
              <a:srgbClr val="E2E8F0"/>
            </a:solidFill>
            <a:prstDash val="solid"/>
          </a:ln>
        </p:spPr>
      </p:sp>
      <p:sp>
        <p:nvSpPr>
          <p:cNvPr id="119" name="Text 117"/>
          <p:cNvSpPr/>
          <p:nvPr/>
        </p:nvSpPr>
        <p:spPr>
          <a:xfrm>
            <a:off x="4114800" y="6483096"/>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Oportunidad</a:t>
            </a:r>
            <a:endParaRPr lang="en-US" sz="1050" dirty="0"/>
          </a:p>
        </p:txBody>
      </p:sp>
      <p:sp>
        <p:nvSpPr>
          <p:cNvPr id="120" name="Shape 118"/>
          <p:cNvSpPr/>
          <p:nvPr/>
        </p:nvSpPr>
        <p:spPr>
          <a:xfrm>
            <a:off x="7635240" y="6483096"/>
            <a:ext cx="4023360" cy="384048"/>
          </a:xfrm>
          <a:prstGeom prst="rect">
            <a:avLst/>
          </a:prstGeom>
          <a:solidFill>
            <a:srgbClr val="F1F5F9"/>
          </a:solidFill>
          <a:ln w="6350">
            <a:solidFill>
              <a:srgbClr val="E2E8F0"/>
            </a:solidFill>
            <a:prstDash val="solid"/>
          </a:ln>
        </p:spPr>
      </p:sp>
      <p:sp>
        <p:nvSpPr>
          <p:cNvPr id="121" name="Text 119"/>
          <p:cNvSpPr/>
          <p:nvPr/>
        </p:nvSpPr>
        <p:spPr>
          <a:xfrm>
            <a:off x="7772400" y="6483096"/>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Demanda · Activo · Oferta</a:t>
            </a:r>
            <a:endParaRPr lang="en-US" sz="1050" dirty="0"/>
          </a:p>
        </p:txBody>
      </p:sp>
      <p:sp>
        <p:nvSpPr>
          <p:cNvPr id="122" name="Shape 120"/>
          <p:cNvSpPr/>
          <p:nvPr/>
        </p:nvSpPr>
        <p:spPr>
          <a:xfrm>
            <a:off x="502920" y="6867144"/>
            <a:ext cx="2194560" cy="384048"/>
          </a:xfrm>
          <a:prstGeom prst="rect">
            <a:avLst/>
          </a:prstGeom>
          <a:solidFill>
            <a:srgbClr val="FFFFFF"/>
          </a:solidFill>
          <a:ln w="6350">
            <a:solidFill>
              <a:srgbClr val="E2E8F0"/>
            </a:solidFill>
            <a:prstDash val="solid"/>
          </a:ln>
        </p:spPr>
      </p:sp>
      <p:sp>
        <p:nvSpPr>
          <p:cNvPr id="123" name="Text 121"/>
          <p:cNvSpPr/>
          <p:nvPr/>
        </p:nvSpPr>
        <p:spPr>
          <a:xfrm>
            <a:off x="640080" y="6867144"/>
            <a:ext cx="1920240" cy="384048"/>
          </a:xfrm>
          <a:prstGeom prst="rect">
            <a:avLst/>
          </a:prstGeom>
          <a:noFill/>
          <a:ln/>
        </p:spPr>
        <p:txBody>
          <a:bodyPr wrap="square" rtlCol="0" anchor="ctr"/>
          <a:lstStyle/>
          <a:p>
            <a:pPr algn="l" indent="0" marL="0">
              <a:buNone/>
            </a:pPr>
            <a:r>
              <a:rPr lang="en-US" sz="1050" b="1" dirty="0">
                <a:solidFill>
                  <a:srgbClr val="0F172A"/>
                </a:solidFill>
                <a:latin typeface="Calibri" pitchFamily="34" charset="0"/>
                <a:ea typeface="Calibri" pitchFamily="34" charset="-122"/>
                <a:cs typeface="Calibri" pitchFamily="34" charset="-120"/>
              </a:rPr>
              <a:t>Instrucción</a:t>
            </a:r>
            <a:endParaRPr lang="en-US" sz="1050" dirty="0"/>
          </a:p>
        </p:txBody>
      </p:sp>
      <p:sp>
        <p:nvSpPr>
          <p:cNvPr id="124" name="Shape 122"/>
          <p:cNvSpPr/>
          <p:nvPr/>
        </p:nvSpPr>
        <p:spPr>
          <a:xfrm>
            <a:off x="2697480" y="6867144"/>
            <a:ext cx="1280160" cy="384048"/>
          </a:xfrm>
          <a:prstGeom prst="rect">
            <a:avLst/>
          </a:prstGeom>
          <a:solidFill>
            <a:srgbClr val="FFFFFF"/>
          </a:solidFill>
          <a:ln w="6350">
            <a:solidFill>
              <a:srgbClr val="E2E8F0"/>
            </a:solidFill>
            <a:prstDash val="solid"/>
          </a:ln>
        </p:spPr>
      </p:sp>
      <p:sp>
        <p:nvSpPr>
          <p:cNvPr id="125" name="Text 123"/>
          <p:cNvSpPr/>
          <p:nvPr/>
        </p:nvSpPr>
        <p:spPr>
          <a:xfrm>
            <a:off x="2834640" y="6867144"/>
            <a:ext cx="1005840" cy="384048"/>
          </a:xfrm>
          <a:prstGeom prst="rect">
            <a:avLst/>
          </a:prstGeom>
          <a:noFill/>
          <a:ln/>
        </p:spPr>
        <p:txBody>
          <a:bodyPr wrap="square" rtlCol="0" anchor="ctr"/>
          <a:lstStyle/>
          <a:p>
            <a:pPr algn="l" indent="0" marL="0">
              <a:buNone/>
            </a:pPr>
            <a:r>
              <a:rPr lang="en-US" sz="1050" b="1" dirty="0">
                <a:solidFill>
                  <a:srgbClr val="2563EB"/>
                </a:solidFill>
                <a:latin typeface="Calibri" pitchFamily="34" charset="0"/>
                <a:ea typeface="Calibri" pitchFamily="34" charset="-122"/>
                <a:cs typeface="Calibri" pitchFamily="34" charset="-120"/>
              </a:rPr>
              <a:t>Dynamics</a:t>
            </a:r>
            <a:endParaRPr lang="en-US" sz="1050" dirty="0"/>
          </a:p>
        </p:txBody>
      </p:sp>
      <p:sp>
        <p:nvSpPr>
          <p:cNvPr id="126" name="Shape 124"/>
          <p:cNvSpPr/>
          <p:nvPr/>
        </p:nvSpPr>
        <p:spPr>
          <a:xfrm>
            <a:off x="3977640" y="6867144"/>
            <a:ext cx="3657600" cy="384048"/>
          </a:xfrm>
          <a:prstGeom prst="rect">
            <a:avLst/>
          </a:prstGeom>
          <a:solidFill>
            <a:srgbClr val="FFFFFF"/>
          </a:solidFill>
          <a:ln w="6350">
            <a:solidFill>
              <a:srgbClr val="E2E8F0"/>
            </a:solidFill>
            <a:prstDash val="solid"/>
          </a:ln>
        </p:spPr>
      </p:sp>
      <p:sp>
        <p:nvSpPr>
          <p:cNvPr id="127" name="Text 125"/>
          <p:cNvSpPr/>
          <p:nvPr/>
        </p:nvSpPr>
        <p:spPr>
          <a:xfrm>
            <a:off x="4114800" y="6867144"/>
            <a:ext cx="3383280" cy="384048"/>
          </a:xfrm>
          <a:prstGeom prst="rect">
            <a:avLst/>
          </a:prstGeom>
          <a:noFill/>
          <a:ln/>
        </p:spPr>
        <p:txBody>
          <a:bodyPr wrap="square" rtlCol="0" anchor="ctr"/>
          <a:lstStyle/>
          <a:p>
            <a:pPr algn="l" indent="0" marL="0">
              <a:buNone/>
            </a:pPr>
            <a:r>
              <a:rPr lang="en-US" sz="1050" dirty="0">
                <a:solidFill>
                  <a:srgbClr val="B91C1C"/>
                </a:solidFill>
                <a:latin typeface="Calibri" pitchFamily="34" charset="0"/>
                <a:ea typeface="Calibri" pitchFamily="34" charset="-122"/>
                <a:cs typeface="Calibri" pitchFamily="34" charset="-120"/>
              </a:rPr>
              <a:t>Oportunidad · Entidad Legal</a:t>
            </a:r>
            <a:endParaRPr lang="en-US" sz="1050" dirty="0"/>
          </a:p>
        </p:txBody>
      </p:sp>
      <p:sp>
        <p:nvSpPr>
          <p:cNvPr id="128" name="Shape 126"/>
          <p:cNvSpPr/>
          <p:nvPr/>
        </p:nvSpPr>
        <p:spPr>
          <a:xfrm>
            <a:off x="7635240" y="6867144"/>
            <a:ext cx="4023360" cy="384048"/>
          </a:xfrm>
          <a:prstGeom prst="rect">
            <a:avLst/>
          </a:prstGeom>
          <a:solidFill>
            <a:srgbClr val="FFFFFF"/>
          </a:solidFill>
          <a:ln w="6350">
            <a:solidFill>
              <a:srgbClr val="E2E8F0"/>
            </a:solidFill>
            <a:prstDash val="solid"/>
          </a:ln>
        </p:spPr>
      </p:sp>
      <p:sp>
        <p:nvSpPr>
          <p:cNvPr id="129" name="Text 127"/>
          <p:cNvSpPr/>
          <p:nvPr/>
        </p:nvSpPr>
        <p:spPr>
          <a:xfrm>
            <a:off x="7772400" y="6867144"/>
            <a:ext cx="3749040" cy="384048"/>
          </a:xfrm>
          <a:prstGeom prst="rect">
            <a:avLst/>
          </a:prstGeom>
          <a:noFill/>
          <a:ln/>
        </p:spPr>
        <p:txBody>
          <a:bodyPr wrap="square" rtlCol="0" anchor="ctr"/>
          <a:lstStyle/>
          <a:p>
            <a:pPr algn="l" indent="0" marL="0">
              <a:buNone/>
            </a:pPr>
            <a:r>
              <a:rPr lang="en-US" sz="1050" dirty="0">
                <a:solidFill>
                  <a:srgbClr val="334155"/>
                </a:solidFill>
                <a:latin typeface="Calibri" pitchFamily="34" charset="0"/>
                <a:ea typeface="Calibri" pitchFamily="34" charset="-122"/>
                <a:cs typeface="Calibri" pitchFamily="34" charset="-120"/>
              </a:rPr>
              <a:t>—</a:t>
            </a:r>
            <a:endParaRPr lang="en-US" sz="1050" dirty="0"/>
          </a:p>
        </p:txBody>
      </p:sp>
      <p:sp>
        <p:nvSpPr>
          <p:cNvPr id="130" name="Shape 128"/>
          <p:cNvSpPr/>
          <p:nvPr/>
        </p:nvSpPr>
        <p:spPr>
          <a:xfrm>
            <a:off x="502920" y="5806440"/>
            <a:ext cx="11183112" cy="502920"/>
          </a:xfrm>
          <a:prstGeom prst="roundRect">
            <a:avLst>
              <a:gd name="adj" fmla="val 10909"/>
            </a:avLst>
          </a:prstGeom>
          <a:solidFill>
            <a:srgbClr val="FEF3C7"/>
          </a:solidFill>
          <a:ln w="6350">
            <a:solidFill>
              <a:srgbClr val="D97706"/>
            </a:solidFill>
            <a:prstDash val="solid"/>
          </a:ln>
        </p:spPr>
      </p:sp>
      <p:sp>
        <p:nvSpPr>
          <p:cNvPr id="131" name="Text 129"/>
          <p:cNvSpPr/>
          <p:nvPr/>
        </p:nvSpPr>
        <p:spPr>
          <a:xfrm>
            <a:off x="685800" y="5870448"/>
            <a:ext cx="10817352" cy="384048"/>
          </a:xfrm>
          <a:prstGeom prst="rect">
            <a:avLst/>
          </a:prstGeom>
          <a:noFill/>
          <a:ln/>
        </p:spPr>
        <p:txBody>
          <a:bodyPr wrap="square" rtlCol="0" anchor="ctr"/>
          <a:lstStyle/>
          <a:p>
            <a:pPr indent="0" marL="0">
              <a:buNone/>
            </a:pPr>
            <a:r>
              <a:rPr lang="en-US" sz="1050" i="1" dirty="0">
                <a:solidFill>
                  <a:srgbClr val="334155"/>
                </a:solidFill>
                <a:latin typeface="Calibri" pitchFamily="34" charset="0"/>
                <a:ea typeface="Calibri" pitchFamily="34" charset="-122"/>
                <a:cs typeface="Calibri" pitchFamily="34" charset="-120"/>
              </a:rPr>
              <a:t>Activo es independiente: puede existir sin Cuenta-Propietario. El Stacking Plan se construye igual. Pero Mandato exige los tres anclajes (Op + Of + Activo) — esto es lo que evita registros sueltos sin trazabilidad.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03 · End-to-end</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05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Ciclo comercial completo</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De Lead a Transacción · 9 etapas · 3 sistemas (Lead, Dynamics, PDB)</a:t>
            </a:r>
            <a:endParaRPr lang="en-US" sz="1150" dirty="0"/>
          </a:p>
        </p:txBody>
      </p:sp>
      <p:sp>
        <p:nvSpPr>
          <p:cNvPr id="10" name="Shape 8"/>
          <p:cNvSpPr/>
          <p:nvPr/>
        </p:nvSpPr>
        <p:spPr>
          <a:xfrm>
            <a:off x="685800" y="2788920"/>
            <a:ext cx="10817352" cy="0"/>
          </a:xfrm>
          <a:prstGeom prst="line">
            <a:avLst/>
          </a:prstGeom>
          <a:noFill/>
          <a:ln w="19050">
            <a:solidFill>
              <a:srgbClr val="E2E8F0"/>
            </a:solidFill>
            <a:prstDash val="solid"/>
          </a:ln>
        </p:spPr>
      </p:sp>
      <p:sp>
        <p:nvSpPr>
          <p:cNvPr id="11" name="Shape 9"/>
          <p:cNvSpPr/>
          <p:nvPr/>
        </p:nvSpPr>
        <p:spPr>
          <a:xfrm>
            <a:off x="502920" y="1508760"/>
            <a:ext cx="1019556" cy="1371600"/>
          </a:xfrm>
          <a:prstGeom prst="roundRect">
            <a:avLst>
              <a:gd name="adj" fmla="val 5381"/>
            </a:avLst>
          </a:prstGeom>
          <a:solidFill>
            <a:srgbClr val="FEF3C7"/>
          </a:solidFill>
          <a:ln w="9525">
            <a:solidFill>
              <a:srgbClr val="D97706"/>
            </a:solidFill>
            <a:prstDash val="solid"/>
          </a:ln>
          <a:effectLst>
            <a:outerShdw sx="100000" sy="100000" kx="0" ky="0" algn="bl" rotWithShape="0" blurRad="38100" dist="12700" dir="5400000">
              <a:srgbClr val="00000010">
                <a:alpha val="75000"/>
              </a:srgbClr>
            </a:outerShdw>
          </a:effectLst>
        </p:spPr>
      </p:sp>
      <p:sp>
        <p:nvSpPr>
          <p:cNvPr id="12" name="Shape 10"/>
          <p:cNvSpPr/>
          <p:nvPr/>
        </p:nvSpPr>
        <p:spPr>
          <a:xfrm>
            <a:off x="502920" y="1508760"/>
            <a:ext cx="1019556" cy="45720"/>
          </a:xfrm>
          <a:prstGeom prst="rect">
            <a:avLst/>
          </a:prstGeom>
          <a:solidFill>
            <a:srgbClr val="D97706"/>
          </a:solidFill>
          <a:ln w="12700">
            <a:solidFill>
              <a:srgbClr val="D97706"/>
            </a:solidFill>
            <a:prstDash val="solid"/>
          </a:ln>
        </p:spPr>
      </p:sp>
      <p:sp>
        <p:nvSpPr>
          <p:cNvPr id="13" name="Text 11"/>
          <p:cNvSpPr/>
          <p:nvPr/>
        </p:nvSpPr>
        <p:spPr>
          <a:xfrm>
            <a:off x="502920" y="1618488"/>
            <a:ext cx="1019556" cy="292608"/>
          </a:xfrm>
          <a:prstGeom prst="rect">
            <a:avLst/>
          </a:prstGeom>
          <a:noFill/>
          <a:ln/>
        </p:spPr>
        <p:txBody>
          <a:bodyPr wrap="square" rtlCol="0" anchor="ctr"/>
          <a:lstStyle/>
          <a:p>
            <a:pPr algn="ctr" indent="0" marL="0">
              <a:buNone/>
            </a:pPr>
            <a:r>
              <a:rPr lang="en-US" sz="1300" b="1" dirty="0">
                <a:solidFill>
                  <a:srgbClr val="D97706"/>
                </a:solidFill>
                <a:latin typeface="Calibri" pitchFamily="34" charset="0"/>
                <a:ea typeface="Calibri" pitchFamily="34" charset="-122"/>
                <a:cs typeface="Calibri" pitchFamily="34" charset="-120"/>
              </a:rPr>
              <a:t>1</a:t>
            </a:r>
            <a:endParaRPr lang="en-US" sz="1300" dirty="0"/>
          </a:p>
        </p:txBody>
      </p:sp>
      <p:sp>
        <p:nvSpPr>
          <p:cNvPr id="14" name="Text 12"/>
          <p:cNvSpPr/>
          <p:nvPr/>
        </p:nvSpPr>
        <p:spPr>
          <a:xfrm>
            <a:off x="548640"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Lead</a:t>
            </a:r>
            <a:endParaRPr lang="en-US" sz="1100" dirty="0"/>
          </a:p>
        </p:txBody>
      </p:sp>
      <p:sp>
        <p:nvSpPr>
          <p:cNvPr id="15" name="Text 13"/>
          <p:cNvSpPr/>
          <p:nvPr/>
        </p:nvSpPr>
        <p:spPr>
          <a:xfrm>
            <a:off x="548640"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captura</a:t>
            </a:r>
            <a:endParaRPr lang="en-US" sz="900" dirty="0"/>
          </a:p>
        </p:txBody>
      </p:sp>
      <p:sp>
        <p:nvSpPr>
          <p:cNvPr id="16" name="Shape 14"/>
          <p:cNvSpPr/>
          <p:nvPr/>
        </p:nvSpPr>
        <p:spPr>
          <a:xfrm>
            <a:off x="939546" y="2715768"/>
            <a:ext cx="146304" cy="146304"/>
          </a:xfrm>
          <a:prstGeom prst="ellipse">
            <a:avLst/>
          </a:prstGeom>
          <a:solidFill>
            <a:srgbClr val="D97706"/>
          </a:solidFill>
          <a:ln w="19050">
            <a:solidFill>
              <a:srgbClr val="FFFFFF"/>
            </a:solidFill>
            <a:prstDash val="solid"/>
          </a:ln>
        </p:spPr>
      </p:sp>
      <p:sp>
        <p:nvSpPr>
          <p:cNvPr id="17" name="Text 15"/>
          <p:cNvSpPr/>
          <p:nvPr/>
        </p:nvSpPr>
        <p:spPr>
          <a:xfrm>
            <a:off x="502920" y="2926080"/>
            <a:ext cx="1019556" cy="201168"/>
          </a:xfrm>
          <a:prstGeom prst="rect">
            <a:avLst/>
          </a:prstGeom>
          <a:noFill/>
          <a:ln/>
        </p:spPr>
        <p:txBody>
          <a:bodyPr wrap="square" rtlCol="0" anchor="ctr"/>
          <a:lstStyle/>
          <a:p>
            <a:pPr algn="ctr" indent="0" marL="0">
              <a:buNone/>
            </a:pPr>
            <a:r>
              <a:rPr lang="en-US" sz="750" b="1" dirty="0">
                <a:solidFill>
                  <a:srgbClr val="D97706"/>
                </a:solidFill>
                <a:latin typeface="Calibri" pitchFamily="34" charset="0"/>
                <a:ea typeface="Calibri" pitchFamily="34" charset="-122"/>
                <a:cs typeface="Calibri" pitchFamily="34" charset="-120"/>
              </a:rPr>
              <a:t>LEAD</a:t>
            </a:r>
            <a:endParaRPr lang="en-US" sz="750" dirty="0"/>
          </a:p>
        </p:txBody>
      </p:sp>
      <p:sp>
        <p:nvSpPr>
          <p:cNvPr id="18" name="Shape 16"/>
          <p:cNvSpPr/>
          <p:nvPr/>
        </p:nvSpPr>
        <p:spPr>
          <a:xfrm>
            <a:off x="1632204" y="1508760"/>
            <a:ext cx="1019556" cy="1371600"/>
          </a:xfrm>
          <a:prstGeom prst="roundRect">
            <a:avLst>
              <a:gd name="adj" fmla="val 5381"/>
            </a:avLst>
          </a:prstGeom>
          <a:solidFill>
            <a:srgbClr val="EFF6FF"/>
          </a:solidFill>
          <a:ln w="9525">
            <a:solidFill>
              <a:srgbClr val="2563EB"/>
            </a:solidFill>
            <a:prstDash val="solid"/>
          </a:ln>
          <a:effectLst>
            <a:outerShdw sx="100000" sy="100000" kx="0" ky="0" algn="bl" rotWithShape="0" blurRad="38100" dist="12700" dir="5400000">
              <a:srgbClr val="00000010">
                <a:alpha val="75000"/>
              </a:srgbClr>
            </a:outerShdw>
          </a:effectLst>
        </p:spPr>
      </p:sp>
      <p:sp>
        <p:nvSpPr>
          <p:cNvPr id="19" name="Shape 17"/>
          <p:cNvSpPr/>
          <p:nvPr/>
        </p:nvSpPr>
        <p:spPr>
          <a:xfrm>
            <a:off x="1632204" y="1508760"/>
            <a:ext cx="1019556" cy="45720"/>
          </a:xfrm>
          <a:prstGeom prst="rect">
            <a:avLst/>
          </a:prstGeom>
          <a:solidFill>
            <a:srgbClr val="2563EB"/>
          </a:solidFill>
          <a:ln w="12700">
            <a:solidFill>
              <a:srgbClr val="2563EB"/>
            </a:solidFill>
            <a:prstDash val="solid"/>
          </a:ln>
        </p:spPr>
      </p:sp>
      <p:sp>
        <p:nvSpPr>
          <p:cNvPr id="20" name="Text 18"/>
          <p:cNvSpPr/>
          <p:nvPr/>
        </p:nvSpPr>
        <p:spPr>
          <a:xfrm>
            <a:off x="1632204" y="1618488"/>
            <a:ext cx="1019556" cy="292608"/>
          </a:xfrm>
          <a:prstGeom prst="rect">
            <a:avLst/>
          </a:prstGeom>
          <a:noFill/>
          <a:ln/>
        </p:spPr>
        <p:txBody>
          <a:bodyPr wrap="square"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2</a:t>
            </a:r>
            <a:endParaRPr lang="en-US" sz="1300" dirty="0"/>
          </a:p>
        </p:txBody>
      </p:sp>
      <p:sp>
        <p:nvSpPr>
          <p:cNvPr id="21" name="Text 19"/>
          <p:cNvSpPr/>
          <p:nvPr/>
        </p:nvSpPr>
        <p:spPr>
          <a:xfrm>
            <a:off x="1677924"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Cuenta</a:t>
            </a:r>
            <a:endParaRPr lang="en-US" sz="1100" dirty="0"/>
          </a:p>
        </p:txBody>
      </p:sp>
      <p:sp>
        <p:nvSpPr>
          <p:cNvPr id="22" name="Text 20"/>
          <p:cNvSpPr/>
          <p:nvPr/>
        </p:nvSpPr>
        <p:spPr>
          <a:xfrm>
            <a:off x="1677924"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fuente verdad</a:t>
            </a:r>
            <a:endParaRPr lang="en-US" sz="900" dirty="0"/>
          </a:p>
        </p:txBody>
      </p:sp>
      <p:sp>
        <p:nvSpPr>
          <p:cNvPr id="23" name="Shape 21"/>
          <p:cNvSpPr/>
          <p:nvPr/>
        </p:nvSpPr>
        <p:spPr>
          <a:xfrm>
            <a:off x="2068830" y="2715768"/>
            <a:ext cx="146304" cy="146304"/>
          </a:xfrm>
          <a:prstGeom prst="ellipse">
            <a:avLst/>
          </a:prstGeom>
          <a:solidFill>
            <a:srgbClr val="2563EB"/>
          </a:solidFill>
          <a:ln w="19050">
            <a:solidFill>
              <a:srgbClr val="FFFFFF"/>
            </a:solidFill>
            <a:prstDash val="solid"/>
          </a:ln>
        </p:spPr>
      </p:sp>
      <p:sp>
        <p:nvSpPr>
          <p:cNvPr id="24" name="Text 22"/>
          <p:cNvSpPr/>
          <p:nvPr/>
        </p:nvSpPr>
        <p:spPr>
          <a:xfrm>
            <a:off x="1632204" y="2926080"/>
            <a:ext cx="1019556" cy="201168"/>
          </a:xfrm>
          <a:prstGeom prst="rect">
            <a:avLst/>
          </a:prstGeom>
          <a:noFill/>
          <a:ln/>
        </p:spPr>
        <p:txBody>
          <a:bodyPr wrap="square" rtlCol="0" anchor="ctr"/>
          <a:lstStyle/>
          <a:p>
            <a:pPr algn="ctr" indent="0" marL="0">
              <a:buNone/>
            </a:pPr>
            <a:r>
              <a:rPr lang="en-US" sz="750" b="1" dirty="0">
                <a:solidFill>
                  <a:srgbClr val="2563EB"/>
                </a:solidFill>
                <a:latin typeface="Calibri" pitchFamily="34" charset="0"/>
                <a:ea typeface="Calibri" pitchFamily="34" charset="-122"/>
                <a:cs typeface="Calibri" pitchFamily="34" charset="-120"/>
              </a:rPr>
              <a:t>DYNAMICS</a:t>
            </a:r>
            <a:endParaRPr lang="en-US" sz="750" dirty="0"/>
          </a:p>
        </p:txBody>
      </p:sp>
      <p:sp>
        <p:nvSpPr>
          <p:cNvPr id="25" name="Shape 23"/>
          <p:cNvSpPr/>
          <p:nvPr/>
        </p:nvSpPr>
        <p:spPr>
          <a:xfrm>
            <a:off x="2761488" y="1508760"/>
            <a:ext cx="1019556" cy="1371600"/>
          </a:xfrm>
          <a:prstGeom prst="roundRect">
            <a:avLst>
              <a:gd name="adj" fmla="val 5381"/>
            </a:avLst>
          </a:prstGeom>
          <a:solidFill>
            <a:srgbClr val="FFFFFF"/>
          </a:solidFill>
          <a:ln w="9525">
            <a:solidFill>
              <a:srgbClr val="15803D"/>
            </a:solidFill>
            <a:prstDash val="solid"/>
          </a:ln>
          <a:effectLst>
            <a:outerShdw sx="100000" sy="100000" kx="0" ky="0" algn="bl" rotWithShape="0" blurRad="38100" dist="12700" dir="5400000">
              <a:srgbClr val="00000010">
                <a:alpha val="75000"/>
              </a:srgbClr>
            </a:outerShdw>
          </a:effectLst>
        </p:spPr>
      </p:sp>
      <p:sp>
        <p:nvSpPr>
          <p:cNvPr id="26" name="Shape 24"/>
          <p:cNvSpPr/>
          <p:nvPr/>
        </p:nvSpPr>
        <p:spPr>
          <a:xfrm>
            <a:off x="2761488" y="1508760"/>
            <a:ext cx="1019556" cy="45720"/>
          </a:xfrm>
          <a:prstGeom prst="rect">
            <a:avLst/>
          </a:prstGeom>
          <a:solidFill>
            <a:srgbClr val="15803D"/>
          </a:solidFill>
          <a:ln w="12700">
            <a:solidFill>
              <a:srgbClr val="15803D"/>
            </a:solidFill>
            <a:prstDash val="solid"/>
          </a:ln>
        </p:spPr>
      </p:sp>
      <p:sp>
        <p:nvSpPr>
          <p:cNvPr id="27" name="Text 25"/>
          <p:cNvSpPr/>
          <p:nvPr/>
        </p:nvSpPr>
        <p:spPr>
          <a:xfrm>
            <a:off x="2761488" y="1618488"/>
            <a:ext cx="1019556" cy="292608"/>
          </a:xfrm>
          <a:prstGeom prst="rect">
            <a:avLst/>
          </a:prstGeom>
          <a:noFill/>
          <a:ln/>
        </p:spPr>
        <p:txBody>
          <a:bodyPr wrap="square" rtlCol="0" anchor="ctr"/>
          <a:lstStyle/>
          <a:p>
            <a:pPr algn="ctr" indent="0" marL="0">
              <a:buNone/>
            </a:pPr>
            <a:r>
              <a:rPr lang="en-US" sz="1300" b="1" dirty="0">
                <a:solidFill>
                  <a:srgbClr val="15803D"/>
                </a:solidFill>
                <a:latin typeface="Calibri" pitchFamily="34" charset="0"/>
                <a:ea typeface="Calibri" pitchFamily="34" charset="-122"/>
                <a:cs typeface="Calibri" pitchFamily="34" charset="-120"/>
              </a:rPr>
              <a:t>3</a:t>
            </a:r>
            <a:endParaRPr lang="en-US" sz="1300" dirty="0"/>
          </a:p>
        </p:txBody>
      </p:sp>
      <p:sp>
        <p:nvSpPr>
          <p:cNvPr id="28" name="Text 26"/>
          <p:cNvSpPr/>
          <p:nvPr/>
        </p:nvSpPr>
        <p:spPr>
          <a:xfrm>
            <a:off x="2807208"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Activo</a:t>
            </a:r>
            <a:endParaRPr lang="en-US" sz="1100" dirty="0"/>
          </a:p>
        </p:txBody>
      </p:sp>
      <p:sp>
        <p:nvSpPr>
          <p:cNvPr id="29" name="Text 27"/>
          <p:cNvSpPr/>
          <p:nvPr/>
        </p:nvSpPr>
        <p:spPr>
          <a:xfrm>
            <a:off x="2807208"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estructura</a:t>
            </a:r>
            <a:endParaRPr lang="en-US" sz="900" dirty="0"/>
          </a:p>
        </p:txBody>
      </p:sp>
      <p:sp>
        <p:nvSpPr>
          <p:cNvPr id="30" name="Shape 28"/>
          <p:cNvSpPr/>
          <p:nvPr/>
        </p:nvSpPr>
        <p:spPr>
          <a:xfrm>
            <a:off x="3198114" y="2715768"/>
            <a:ext cx="146304" cy="146304"/>
          </a:xfrm>
          <a:prstGeom prst="ellipse">
            <a:avLst/>
          </a:prstGeom>
          <a:solidFill>
            <a:srgbClr val="15803D"/>
          </a:solidFill>
          <a:ln w="19050">
            <a:solidFill>
              <a:srgbClr val="FFFFFF"/>
            </a:solidFill>
            <a:prstDash val="solid"/>
          </a:ln>
        </p:spPr>
      </p:sp>
      <p:sp>
        <p:nvSpPr>
          <p:cNvPr id="31" name="Text 29"/>
          <p:cNvSpPr/>
          <p:nvPr/>
        </p:nvSpPr>
        <p:spPr>
          <a:xfrm>
            <a:off x="2761488" y="2926080"/>
            <a:ext cx="1019556" cy="201168"/>
          </a:xfrm>
          <a:prstGeom prst="rect">
            <a:avLst/>
          </a:prstGeom>
          <a:noFill/>
          <a:ln/>
        </p:spPr>
        <p:txBody>
          <a:bodyPr wrap="square"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PDB</a:t>
            </a:r>
            <a:endParaRPr lang="en-US" sz="750" dirty="0"/>
          </a:p>
        </p:txBody>
      </p:sp>
      <p:sp>
        <p:nvSpPr>
          <p:cNvPr id="32" name="Shape 30"/>
          <p:cNvSpPr/>
          <p:nvPr/>
        </p:nvSpPr>
        <p:spPr>
          <a:xfrm>
            <a:off x="3890772" y="1508760"/>
            <a:ext cx="1019556" cy="1371600"/>
          </a:xfrm>
          <a:prstGeom prst="roundRect">
            <a:avLst>
              <a:gd name="adj" fmla="val 5381"/>
            </a:avLst>
          </a:prstGeom>
          <a:solidFill>
            <a:srgbClr val="FFFFFF"/>
          </a:solidFill>
          <a:ln w="9525">
            <a:solidFill>
              <a:srgbClr val="15803D"/>
            </a:solidFill>
            <a:prstDash val="solid"/>
          </a:ln>
          <a:effectLst>
            <a:outerShdw sx="100000" sy="100000" kx="0" ky="0" algn="bl" rotWithShape="0" blurRad="38100" dist="12700" dir="5400000">
              <a:srgbClr val="00000010">
                <a:alpha val="75000"/>
              </a:srgbClr>
            </a:outerShdw>
          </a:effectLst>
        </p:spPr>
      </p:sp>
      <p:sp>
        <p:nvSpPr>
          <p:cNvPr id="33" name="Shape 31"/>
          <p:cNvSpPr/>
          <p:nvPr/>
        </p:nvSpPr>
        <p:spPr>
          <a:xfrm>
            <a:off x="3890772" y="1508760"/>
            <a:ext cx="1019556" cy="45720"/>
          </a:xfrm>
          <a:prstGeom prst="rect">
            <a:avLst/>
          </a:prstGeom>
          <a:solidFill>
            <a:srgbClr val="15803D"/>
          </a:solidFill>
          <a:ln w="12700">
            <a:solidFill>
              <a:srgbClr val="15803D"/>
            </a:solidFill>
            <a:prstDash val="solid"/>
          </a:ln>
        </p:spPr>
      </p:sp>
      <p:sp>
        <p:nvSpPr>
          <p:cNvPr id="34" name="Text 32"/>
          <p:cNvSpPr/>
          <p:nvPr/>
        </p:nvSpPr>
        <p:spPr>
          <a:xfrm>
            <a:off x="3890772" y="1618488"/>
            <a:ext cx="1019556" cy="292608"/>
          </a:xfrm>
          <a:prstGeom prst="rect">
            <a:avLst/>
          </a:prstGeom>
          <a:noFill/>
          <a:ln/>
        </p:spPr>
        <p:txBody>
          <a:bodyPr wrap="square" rtlCol="0" anchor="ctr"/>
          <a:lstStyle/>
          <a:p>
            <a:pPr algn="ctr" indent="0" marL="0">
              <a:buNone/>
            </a:pPr>
            <a:r>
              <a:rPr lang="en-US" sz="1300" b="1" dirty="0">
                <a:solidFill>
                  <a:srgbClr val="15803D"/>
                </a:solidFill>
                <a:latin typeface="Calibri" pitchFamily="34" charset="0"/>
                <a:ea typeface="Calibri" pitchFamily="34" charset="-122"/>
                <a:cs typeface="Calibri" pitchFamily="34" charset="-120"/>
              </a:rPr>
              <a:t>4</a:t>
            </a:r>
            <a:endParaRPr lang="en-US" sz="1300" dirty="0"/>
          </a:p>
        </p:txBody>
      </p:sp>
      <p:sp>
        <p:nvSpPr>
          <p:cNvPr id="35" name="Text 33"/>
          <p:cNvSpPr/>
          <p:nvPr/>
        </p:nvSpPr>
        <p:spPr>
          <a:xfrm>
            <a:off x="3936492"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Oferta</a:t>
            </a:r>
            <a:endParaRPr lang="en-US" sz="1100" dirty="0"/>
          </a:p>
        </p:txBody>
      </p:sp>
      <p:sp>
        <p:nvSpPr>
          <p:cNvPr id="36" name="Text 34"/>
          <p:cNvSpPr/>
          <p:nvPr/>
        </p:nvSpPr>
        <p:spPr>
          <a:xfrm>
            <a:off x="3936492"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producto</a:t>
            </a:r>
            <a:endParaRPr lang="en-US" sz="900" dirty="0"/>
          </a:p>
        </p:txBody>
      </p:sp>
      <p:sp>
        <p:nvSpPr>
          <p:cNvPr id="37" name="Shape 35"/>
          <p:cNvSpPr/>
          <p:nvPr/>
        </p:nvSpPr>
        <p:spPr>
          <a:xfrm>
            <a:off x="4327398" y="2715768"/>
            <a:ext cx="146304" cy="146304"/>
          </a:xfrm>
          <a:prstGeom prst="ellipse">
            <a:avLst/>
          </a:prstGeom>
          <a:solidFill>
            <a:srgbClr val="15803D"/>
          </a:solidFill>
          <a:ln w="19050">
            <a:solidFill>
              <a:srgbClr val="FFFFFF"/>
            </a:solidFill>
            <a:prstDash val="solid"/>
          </a:ln>
        </p:spPr>
      </p:sp>
      <p:sp>
        <p:nvSpPr>
          <p:cNvPr id="38" name="Text 36"/>
          <p:cNvSpPr/>
          <p:nvPr/>
        </p:nvSpPr>
        <p:spPr>
          <a:xfrm>
            <a:off x="3890772" y="2926080"/>
            <a:ext cx="1019556" cy="201168"/>
          </a:xfrm>
          <a:prstGeom prst="rect">
            <a:avLst/>
          </a:prstGeom>
          <a:noFill/>
          <a:ln/>
        </p:spPr>
        <p:txBody>
          <a:bodyPr wrap="square"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PDB</a:t>
            </a:r>
            <a:endParaRPr lang="en-US" sz="750" dirty="0"/>
          </a:p>
        </p:txBody>
      </p:sp>
      <p:sp>
        <p:nvSpPr>
          <p:cNvPr id="39" name="Shape 37"/>
          <p:cNvSpPr/>
          <p:nvPr/>
        </p:nvSpPr>
        <p:spPr>
          <a:xfrm>
            <a:off x="5020056" y="1508760"/>
            <a:ext cx="1019556" cy="1371600"/>
          </a:xfrm>
          <a:prstGeom prst="roundRect">
            <a:avLst>
              <a:gd name="adj" fmla="val 5381"/>
            </a:avLst>
          </a:prstGeom>
          <a:solidFill>
            <a:srgbClr val="FFFFFF"/>
          </a:solidFill>
          <a:ln w="9525">
            <a:solidFill>
              <a:srgbClr val="15803D"/>
            </a:solidFill>
            <a:prstDash val="solid"/>
          </a:ln>
          <a:effectLst>
            <a:outerShdw sx="100000" sy="100000" kx="0" ky="0" algn="bl" rotWithShape="0" blurRad="38100" dist="12700" dir="5400000">
              <a:srgbClr val="00000010">
                <a:alpha val="75000"/>
              </a:srgbClr>
            </a:outerShdw>
          </a:effectLst>
        </p:spPr>
      </p:sp>
      <p:sp>
        <p:nvSpPr>
          <p:cNvPr id="40" name="Shape 38"/>
          <p:cNvSpPr/>
          <p:nvPr/>
        </p:nvSpPr>
        <p:spPr>
          <a:xfrm>
            <a:off x="5020056" y="1508760"/>
            <a:ext cx="1019556" cy="45720"/>
          </a:xfrm>
          <a:prstGeom prst="rect">
            <a:avLst/>
          </a:prstGeom>
          <a:solidFill>
            <a:srgbClr val="15803D"/>
          </a:solidFill>
          <a:ln w="12700">
            <a:solidFill>
              <a:srgbClr val="15803D"/>
            </a:solidFill>
            <a:prstDash val="solid"/>
          </a:ln>
        </p:spPr>
      </p:sp>
      <p:sp>
        <p:nvSpPr>
          <p:cNvPr id="41" name="Text 39"/>
          <p:cNvSpPr/>
          <p:nvPr/>
        </p:nvSpPr>
        <p:spPr>
          <a:xfrm>
            <a:off x="5020056" y="1618488"/>
            <a:ext cx="1019556" cy="292608"/>
          </a:xfrm>
          <a:prstGeom prst="rect">
            <a:avLst/>
          </a:prstGeom>
          <a:noFill/>
          <a:ln/>
        </p:spPr>
        <p:txBody>
          <a:bodyPr wrap="square" rtlCol="0" anchor="ctr"/>
          <a:lstStyle/>
          <a:p>
            <a:pPr algn="ctr" indent="0" marL="0">
              <a:buNone/>
            </a:pPr>
            <a:r>
              <a:rPr lang="en-US" sz="1300" b="1" dirty="0">
                <a:solidFill>
                  <a:srgbClr val="15803D"/>
                </a:solidFill>
                <a:latin typeface="Calibri" pitchFamily="34" charset="0"/>
                <a:ea typeface="Calibri" pitchFamily="34" charset="-122"/>
                <a:cs typeface="Calibri" pitchFamily="34" charset="-120"/>
              </a:rPr>
              <a:t>5</a:t>
            </a:r>
            <a:endParaRPr lang="en-US" sz="1300" dirty="0"/>
          </a:p>
        </p:txBody>
      </p:sp>
      <p:sp>
        <p:nvSpPr>
          <p:cNvPr id="42" name="Text 40"/>
          <p:cNvSpPr/>
          <p:nvPr/>
        </p:nvSpPr>
        <p:spPr>
          <a:xfrm>
            <a:off x="5065776"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Demanda</a:t>
            </a:r>
            <a:endParaRPr lang="en-US" sz="1100" dirty="0"/>
          </a:p>
        </p:txBody>
      </p:sp>
      <p:sp>
        <p:nvSpPr>
          <p:cNvPr id="43" name="Text 41"/>
          <p:cNvSpPr/>
          <p:nvPr/>
        </p:nvSpPr>
        <p:spPr>
          <a:xfrm>
            <a:off x="5065776"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búsqueda</a:t>
            </a:r>
            <a:endParaRPr lang="en-US" sz="900" dirty="0"/>
          </a:p>
        </p:txBody>
      </p:sp>
      <p:sp>
        <p:nvSpPr>
          <p:cNvPr id="44" name="Shape 42"/>
          <p:cNvSpPr/>
          <p:nvPr/>
        </p:nvSpPr>
        <p:spPr>
          <a:xfrm>
            <a:off x="5456682" y="2715768"/>
            <a:ext cx="146304" cy="146304"/>
          </a:xfrm>
          <a:prstGeom prst="ellipse">
            <a:avLst/>
          </a:prstGeom>
          <a:solidFill>
            <a:srgbClr val="15803D"/>
          </a:solidFill>
          <a:ln w="19050">
            <a:solidFill>
              <a:srgbClr val="FFFFFF"/>
            </a:solidFill>
            <a:prstDash val="solid"/>
          </a:ln>
        </p:spPr>
      </p:sp>
      <p:sp>
        <p:nvSpPr>
          <p:cNvPr id="45" name="Text 43"/>
          <p:cNvSpPr/>
          <p:nvPr/>
        </p:nvSpPr>
        <p:spPr>
          <a:xfrm>
            <a:off x="5020056" y="2926080"/>
            <a:ext cx="1019556" cy="201168"/>
          </a:xfrm>
          <a:prstGeom prst="rect">
            <a:avLst/>
          </a:prstGeom>
          <a:noFill/>
          <a:ln/>
        </p:spPr>
        <p:txBody>
          <a:bodyPr wrap="square"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PDB</a:t>
            </a:r>
            <a:endParaRPr lang="en-US" sz="750" dirty="0"/>
          </a:p>
        </p:txBody>
      </p:sp>
      <p:sp>
        <p:nvSpPr>
          <p:cNvPr id="46" name="Shape 44"/>
          <p:cNvSpPr/>
          <p:nvPr/>
        </p:nvSpPr>
        <p:spPr>
          <a:xfrm>
            <a:off x="6149340" y="1508760"/>
            <a:ext cx="1019556" cy="1371600"/>
          </a:xfrm>
          <a:prstGeom prst="roundRect">
            <a:avLst>
              <a:gd name="adj" fmla="val 5381"/>
            </a:avLst>
          </a:prstGeom>
          <a:solidFill>
            <a:srgbClr val="FFFFFF"/>
          </a:solidFill>
          <a:ln w="9525">
            <a:solidFill>
              <a:srgbClr val="15803D"/>
            </a:solidFill>
            <a:prstDash val="solid"/>
          </a:ln>
          <a:effectLst>
            <a:outerShdw sx="100000" sy="100000" kx="0" ky="0" algn="bl" rotWithShape="0" blurRad="38100" dist="12700" dir="5400000">
              <a:srgbClr val="00000010">
                <a:alpha val="75000"/>
              </a:srgbClr>
            </a:outerShdw>
          </a:effectLst>
        </p:spPr>
      </p:sp>
      <p:sp>
        <p:nvSpPr>
          <p:cNvPr id="47" name="Shape 45"/>
          <p:cNvSpPr/>
          <p:nvPr/>
        </p:nvSpPr>
        <p:spPr>
          <a:xfrm>
            <a:off x="6149340" y="1508760"/>
            <a:ext cx="1019556" cy="45720"/>
          </a:xfrm>
          <a:prstGeom prst="rect">
            <a:avLst/>
          </a:prstGeom>
          <a:solidFill>
            <a:srgbClr val="15803D"/>
          </a:solidFill>
          <a:ln w="12700">
            <a:solidFill>
              <a:srgbClr val="15803D"/>
            </a:solidFill>
            <a:prstDash val="solid"/>
          </a:ln>
        </p:spPr>
      </p:sp>
      <p:sp>
        <p:nvSpPr>
          <p:cNvPr id="48" name="Text 46"/>
          <p:cNvSpPr/>
          <p:nvPr/>
        </p:nvSpPr>
        <p:spPr>
          <a:xfrm>
            <a:off x="6149340" y="1618488"/>
            <a:ext cx="1019556" cy="292608"/>
          </a:xfrm>
          <a:prstGeom prst="rect">
            <a:avLst/>
          </a:prstGeom>
          <a:noFill/>
          <a:ln/>
        </p:spPr>
        <p:txBody>
          <a:bodyPr wrap="square" rtlCol="0" anchor="ctr"/>
          <a:lstStyle/>
          <a:p>
            <a:pPr algn="ctr" indent="0" marL="0">
              <a:buNone/>
            </a:pPr>
            <a:r>
              <a:rPr lang="en-US" sz="1300" b="1" dirty="0">
                <a:solidFill>
                  <a:srgbClr val="15803D"/>
                </a:solidFill>
                <a:latin typeface="Calibri" pitchFamily="34" charset="0"/>
                <a:ea typeface="Calibri" pitchFamily="34" charset="-122"/>
                <a:cs typeface="Calibri" pitchFamily="34" charset="-120"/>
              </a:rPr>
              <a:t>6</a:t>
            </a:r>
            <a:endParaRPr lang="en-US" sz="1300" dirty="0"/>
          </a:p>
        </p:txBody>
      </p:sp>
      <p:sp>
        <p:nvSpPr>
          <p:cNvPr id="49" name="Text 47"/>
          <p:cNvSpPr/>
          <p:nvPr/>
        </p:nvSpPr>
        <p:spPr>
          <a:xfrm>
            <a:off x="6195060"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Match</a:t>
            </a:r>
            <a:endParaRPr lang="en-US" sz="1100" dirty="0"/>
          </a:p>
        </p:txBody>
      </p:sp>
      <p:sp>
        <p:nvSpPr>
          <p:cNvPr id="50" name="Text 48"/>
          <p:cNvSpPr/>
          <p:nvPr/>
        </p:nvSpPr>
        <p:spPr>
          <a:xfrm>
            <a:off x="6195060"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Of ↔ Dem</a:t>
            </a:r>
            <a:endParaRPr lang="en-US" sz="900" dirty="0"/>
          </a:p>
        </p:txBody>
      </p:sp>
      <p:sp>
        <p:nvSpPr>
          <p:cNvPr id="51" name="Shape 49"/>
          <p:cNvSpPr/>
          <p:nvPr/>
        </p:nvSpPr>
        <p:spPr>
          <a:xfrm>
            <a:off x="6585966" y="2715768"/>
            <a:ext cx="146304" cy="146304"/>
          </a:xfrm>
          <a:prstGeom prst="ellipse">
            <a:avLst/>
          </a:prstGeom>
          <a:solidFill>
            <a:srgbClr val="15803D"/>
          </a:solidFill>
          <a:ln w="19050">
            <a:solidFill>
              <a:srgbClr val="FFFFFF"/>
            </a:solidFill>
            <a:prstDash val="solid"/>
          </a:ln>
        </p:spPr>
      </p:sp>
      <p:sp>
        <p:nvSpPr>
          <p:cNvPr id="52" name="Text 50"/>
          <p:cNvSpPr/>
          <p:nvPr/>
        </p:nvSpPr>
        <p:spPr>
          <a:xfrm>
            <a:off x="6149340" y="2926080"/>
            <a:ext cx="1019556" cy="201168"/>
          </a:xfrm>
          <a:prstGeom prst="rect">
            <a:avLst/>
          </a:prstGeom>
          <a:noFill/>
          <a:ln/>
        </p:spPr>
        <p:txBody>
          <a:bodyPr wrap="square"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PDB</a:t>
            </a:r>
            <a:endParaRPr lang="en-US" sz="750" dirty="0"/>
          </a:p>
        </p:txBody>
      </p:sp>
      <p:sp>
        <p:nvSpPr>
          <p:cNvPr id="53" name="Shape 51"/>
          <p:cNvSpPr/>
          <p:nvPr/>
        </p:nvSpPr>
        <p:spPr>
          <a:xfrm>
            <a:off x="7278624" y="1508760"/>
            <a:ext cx="1019556" cy="1371600"/>
          </a:xfrm>
          <a:prstGeom prst="roundRect">
            <a:avLst>
              <a:gd name="adj" fmla="val 5381"/>
            </a:avLst>
          </a:prstGeom>
          <a:solidFill>
            <a:srgbClr val="EFF6FF"/>
          </a:solidFill>
          <a:ln w="9525">
            <a:solidFill>
              <a:srgbClr val="2563EB"/>
            </a:solidFill>
            <a:prstDash val="solid"/>
          </a:ln>
          <a:effectLst>
            <a:outerShdw sx="100000" sy="100000" kx="0" ky="0" algn="bl" rotWithShape="0" blurRad="38100" dist="12700" dir="5400000">
              <a:srgbClr val="00000010">
                <a:alpha val="75000"/>
              </a:srgbClr>
            </a:outerShdw>
          </a:effectLst>
        </p:spPr>
      </p:sp>
      <p:sp>
        <p:nvSpPr>
          <p:cNvPr id="54" name="Shape 52"/>
          <p:cNvSpPr/>
          <p:nvPr/>
        </p:nvSpPr>
        <p:spPr>
          <a:xfrm>
            <a:off x="7278624" y="1508760"/>
            <a:ext cx="1019556" cy="45720"/>
          </a:xfrm>
          <a:prstGeom prst="rect">
            <a:avLst/>
          </a:prstGeom>
          <a:solidFill>
            <a:srgbClr val="2563EB"/>
          </a:solidFill>
          <a:ln w="12700">
            <a:solidFill>
              <a:srgbClr val="2563EB"/>
            </a:solidFill>
            <a:prstDash val="solid"/>
          </a:ln>
        </p:spPr>
      </p:sp>
      <p:sp>
        <p:nvSpPr>
          <p:cNvPr id="55" name="Text 53"/>
          <p:cNvSpPr/>
          <p:nvPr/>
        </p:nvSpPr>
        <p:spPr>
          <a:xfrm>
            <a:off x="7278624" y="1618488"/>
            <a:ext cx="1019556" cy="292608"/>
          </a:xfrm>
          <a:prstGeom prst="rect">
            <a:avLst/>
          </a:prstGeom>
          <a:noFill/>
          <a:ln/>
        </p:spPr>
        <p:txBody>
          <a:bodyPr wrap="square"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7</a:t>
            </a:r>
            <a:endParaRPr lang="en-US" sz="1300" dirty="0"/>
          </a:p>
        </p:txBody>
      </p:sp>
      <p:sp>
        <p:nvSpPr>
          <p:cNvPr id="56" name="Text 54"/>
          <p:cNvSpPr/>
          <p:nvPr/>
        </p:nvSpPr>
        <p:spPr>
          <a:xfrm>
            <a:off x="7324344"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Oportunidad</a:t>
            </a:r>
            <a:endParaRPr lang="en-US" sz="1100" dirty="0"/>
          </a:p>
        </p:txBody>
      </p:sp>
      <p:sp>
        <p:nvSpPr>
          <p:cNvPr id="57" name="Text 55"/>
          <p:cNvSpPr/>
          <p:nvPr/>
        </p:nvSpPr>
        <p:spPr>
          <a:xfrm>
            <a:off x="7324344"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WIP · handoff #1</a:t>
            </a:r>
            <a:endParaRPr lang="en-US" sz="900" dirty="0"/>
          </a:p>
        </p:txBody>
      </p:sp>
      <p:sp>
        <p:nvSpPr>
          <p:cNvPr id="58" name="Shape 56"/>
          <p:cNvSpPr/>
          <p:nvPr/>
        </p:nvSpPr>
        <p:spPr>
          <a:xfrm>
            <a:off x="7715250" y="2715768"/>
            <a:ext cx="146304" cy="146304"/>
          </a:xfrm>
          <a:prstGeom prst="ellipse">
            <a:avLst/>
          </a:prstGeom>
          <a:solidFill>
            <a:srgbClr val="2563EB"/>
          </a:solidFill>
          <a:ln w="19050">
            <a:solidFill>
              <a:srgbClr val="FFFFFF"/>
            </a:solidFill>
            <a:prstDash val="solid"/>
          </a:ln>
        </p:spPr>
      </p:sp>
      <p:sp>
        <p:nvSpPr>
          <p:cNvPr id="59" name="Text 57"/>
          <p:cNvSpPr/>
          <p:nvPr/>
        </p:nvSpPr>
        <p:spPr>
          <a:xfrm>
            <a:off x="7278624" y="2926080"/>
            <a:ext cx="1019556" cy="201168"/>
          </a:xfrm>
          <a:prstGeom prst="rect">
            <a:avLst/>
          </a:prstGeom>
          <a:noFill/>
          <a:ln/>
        </p:spPr>
        <p:txBody>
          <a:bodyPr wrap="square" rtlCol="0" anchor="ctr"/>
          <a:lstStyle/>
          <a:p>
            <a:pPr algn="ctr" indent="0" marL="0">
              <a:buNone/>
            </a:pPr>
            <a:r>
              <a:rPr lang="en-US" sz="750" b="1" dirty="0">
                <a:solidFill>
                  <a:srgbClr val="2563EB"/>
                </a:solidFill>
                <a:latin typeface="Calibri" pitchFamily="34" charset="0"/>
                <a:ea typeface="Calibri" pitchFamily="34" charset="-122"/>
                <a:cs typeface="Calibri" pitchFamily="34" charset="-120"/>
              </a:rPr>
              <a:t>DYNAMICS</a:t>
            </a:r>
            <a:endParaRPr lang="en-US" sz="750" dirty="0"/>
          </a:p>
        </p:txBody>
      </p:sp>
      <p:sp>
        <p:nvSpPr>
          <p:cNvPr id="60" name="Shape 58"/>
          <p:cNvSpPr/>
          <p:nvPr/>
        </p:nvSpPr>
        <p:spPr>
          <a:xfrm>
            <a:off x="8407908" y="1508760"/>
            <a:ext cx="1019556" cy="1371600"/>
          </a:xfrm>
          <a:prstGeom prst="roundRect">
            <a:avLst>
              <a:gd name="adj" fmla="val 5381"/>
            </a:avLst>
          </a:prstGeom>
          <a:solidFill>
            <a:srgbClr val="FFFFFF"/>
          </a:solidFill>
          <a:ln w="9525">
            <a:solidFill>
              <a:srgbClr val="15803D"/>
            </a:solidFill>
            <a:prstDash val="solid"/>
          </a:ln>
          <a:effectLst>
            <a:outerShdw sx="100000" sy="100000" kx="0" ky="0" algn="bl" rotWithShape="0" blurRad="38100" dist="12700" dir="5400000">
              <a:srgbClr val="00000010">
                <a:alpha val="75000"/>
              </a:srgbClr>
            </a:outerShdw>
          </a:effectLst>
        </p:spPr>
      </p:sp>
      <p:sp>
        <p:nvSpPr>
          <p:cNvPr id="61" name="Shape 59"/>
          <p:cNvSpPr/>
          <p:nvPr/>
        </p:nvSpPr>
        <p:spPr>
          <a:xfrm>
            <a:off x="8407908" y="1508760"/>
            <a:ext cx="1019556" cy="45720"/>
          </a:xfrm>
          <a:prstGeom prst="rect">
            <a:avLst/>
          </a:prstGeom>
          <a:solidFill>
            <a:srgbClr val="15803D"/>
          </a:solidFill>
          <a:ln w="12700">
            <a:solidFill>
              <a:srgbClr val="15803D"/>
            </a:solidFill>
            <a:prstDash val="solid"/>
          </a:ln>
        </p:spPr>
      </p:sp>
      <p:sp>
        <p:nvSpPr>
          <p:cNvPr id="62" name="Text 60"/>
          <p:cNvSpPr/>
          <p:nvPr/>
        </p:nvSpPr>
        <p:spPr>
          <a:xfrm>
            <a:off x="8407908" y="1618488"/>
            <a:ext cx="1019556" cy="292608"/>
          </a:xfrm>
          <a:prstGeom prst="rect">
            <a:avLst/>
          </a:prstGeom>
          <a:noFill/>
          <a:ln/>
        </p:spPr>
        <p:txBody>
          <a:bodyPr wrap="square" rtlCol="0" anchor="ctr"/>
          <a:lstStyle/>
          <a:p>
            <a:pPr algn="ctr" indent="0" marL="0">
              <a:buNone/>
            </a:pPr>
            <a:r>
              <a:rPr lang="en-US" sz="1300" b="1" dirty="0">
                <a:solidFill>
                  <a:srgbClr val="15803D"/>
                </a:solidFill>
                <a:latin typeface="Calibri" pitchFamily="34" charset="0"/>
                <a:ea typeface="Calibri" pitchFamily="34" charset="-122"/>
                <a:cs typeface="Calibri" pitchFamily="34" charset="-120"/>
              </a:rPr>
              <a:t>8</a:t>
            </a:r>
            <a:endParaRPr lang="en-US" sz="1300" dirty="0"/>
          </a:p>
        </p:txBody>
      </p:sp>
      <p:sp>
        <p:nvSpPr>
          <p:cNvPr id="63" name="Text 61"/>
          <p:cNvSpPr/>
          <p:nvPr/>
        </p:nvSpPr>
        <p:spPr>
          <a:xfrm>
            <a:off x="8453628"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Negociación</a:t>
            </a:r>
            <a:endParaRPr lang="en-US" sz="1100" dirty="0"/>
          </a:p>
        </p:txBody>
      </p:sp>
      <p:sp>
        <p:nvSpPr>
          <p:cNvPr id="64" name="Text 62"/>
          <p:cNvSpPr/>
          <p:nvPr/>
        </p:nvSpPr>
        <p:spPr>
          <a:xfrm>
            <a:off x="8453628"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condiciones</a:t>
            </a:r>
            <a:endParaRPr lang="en-US" sz="900" dirty="0"/>
          </a:p>
        </p:txBody>
      </p:sp>
      <p:sp>
        <p:nvSpPr>
          <p:cNvPr id="65" name="Shape 63"/>
          <p:cNvSpPr/>
          <p:nvPr/>
        </p:nvSpPr>
        <p:spPr>
          <a:xfrm>
            <a:off x="8844534" y="2715768"/>
            <a:ext cx="146304" cy="146304"/>
          </a:xfrm>
          <a:prstGeom prst="ellipse">
            <a:avLst/>
          </a:prstGeom>
          <a:solidFill>
            <a:srgbClr val="15803D"/>
          </a:solidFill>
          <a:ln w="19050">
            <a:solidFill>
              <a:srgbClr val="FFFFFF"/>
            </a:solidFill>
            <a:prstDash val="solid"/>
          </a:ln>
        </p:spPr>
      </p:sp>
      <p:sp>
        <p:nvSpPr>
          <p:cNvPr id="66" name="Text 64"/>
          <p:cNvSpPr/>
          <p:nvPr/>
        </p:nvSpPr>
        <p:spPr>
          <a:xfrm>
            <a:off x="8407908" y="2926080"/>
            <a:ext cx="1019556" cy="201168"/>
          </a:xfrm>
          <a:prstGeom prst="rect">
            <a:avLst/>
          </a:prstGeom>
          <a:noFill/>
          <a:ln/>
        </p:spPr>
        <p:txBody>
          <a:bodyPr wrap="square"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PDB</a:t>
            </a:r>
            <a:endParaRPr lang="en-US" sz="750" dirty="0"/>
          </a:p>
        </p:txBody>
      </p:sp>
      <p:sp>
        <p:nvSpPr>
          <p:cNvPr id="67" name="Shape 65"/>
          <p:cNvSpPr/>
          <p:nvPr/>
        </p:nvSpPr>
        <p:spPr>
          <a:xfrm>
            <a:off x="9537192" y="1508760"/>
            <a:ext cx="1019556" cy="1371600"/>
          </a:xfrm>
          <a:prstGeom prst="roundRect">
            <a:avLst>
              <a:gd name="adj" fmla="val 5381"/>
            </a:avLst>
          </a:prstGeom>
          <a:solidFill>
            <a:srgbClr val="EFF6FF"/>
          </a:solidFill>
          <a:ln w="9525">
            <a:solidFill>
              <a:srgbClr val="2563EB"/>
            </a:solidFill>
            <a:prstDash val="solid"/>
          </a:ln>
          <a:effectLst>
            <a:outerShdw sx="100000" sy="100000" kx="0" ky="0" algn="bl" rotWithShape="0" blurRad="38100" dist="12700" dir="5400000">
              <a:srgbClr val="00000010">
                <a:alpha val="75000"/>
              </a:srgbClr>
            </a:outerShdw>
          </a:effectLst>
        </p:spPr>
      </p:sp>
      <p:sp>
        <p:nvSpPr>
          <p:cNvPr id="68" name="Shape 66"/>
          <p:cNvSpPr/>
          <p:nvPr/>
        </p:nvSpPr>
        <p:spPr>
          <a:xfrm>
            <a:off x="9537192" y="1508760"/>
            <a:ext cx="1019556" cy="45720"/>
          </a:xfrm>
          <a:prstGeom prst="rect">
            <a:avLst/>
          </a:prstGeom>
          <a:solidFill>
            <a:srgbClr val="2563EB"/>
          </a:solidFill>
          <a:ln w="12700">
            <a:solidFill>
              <a:srgbClr val="2563EB"/>
            </a:solidFill>
            <a:prstDash val="solid"/>
          </a:ln>
        </p:spPr>
      </p:sp>
      <p:sp>
        <p:nvSpPr>
          <p:cNvPr id="69" name="Text 67"/>
          <p:cNvSpPr/>
          <p:nvPr/>
        </p:nvSpPr>
        <p:spPr>
          <a:xfrm>
            <a:off x="9537192" y="1618488"/>
            <a:ext cx="1019556" cy="292608"/>
          </a:xfrm>
          <a:prstGeom prst="rect">
            <a:avLst/>
          </a:prstGeom>
          <a:noFill/>
          <a:ln/>
        </p:spPr>
        <p:txBody>
          <a:bodyPr wrap="square"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9</a:t>
            </a:r>
            <a:endParaRPr lang="en-US" sz="1300" dirty="0"/>
          </a:p>
        </p:txBody>
      </p:sp>
      <p:sp>
        <p:nvSpPr>
          <p:cNvPr id="70" name="Text 68"/>
          <p:cNvSpPr/>
          <p:nvPr/>
        </p:nvSpPr>
        <p:spPr>
          <a:xfrm>
            <a:off x="9582912"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Instrucción</a:t>
            </a:r>
            <a:endParaRPr lang="en-US" sz="1100" dirty="0"/>
          </a:p>
        </p:txBody>
      </p:sp>
      <p:sp>
        <p:nvSpPr>
          <p:cNvPr id="71" name="Text 69"/>
          <p:cNvSpPr/>
          <p:nvPr/>
        </p:nvSpPr>
        <p:spPr>
          <a:xfrm>
            <a:off x="9582912"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handoff #2</a:t>
            </a:r>
            <a:endParaRPr lang="en-US" sz="900" dirty="0"/>
          </a:p>
        </p:txBody>
      </p:sp>
      <p:sp>
        <p:nvSpPr>
          <p:cNvPr id="72" name="Shape 70"/>
          <p:cNvSpPr/>
          <p:nvPr/>
        </p:nvSpPr>
        <p:spPr>
          <a:xfrm>
            <a:off x="9973818" y="2715768"/>
            <a:ext cx="146304" cy="146304"/>
          </a:xfrm>
          <a:prstGeom prst="ellipse">
            <a:avLst/>
          </a:prstGeom>
          <a:solidFill>
            <a:srgbClr val="2563EB"/>
          </a:solidFill>
          <a:ln w="19050">
            <a:solidFill>
              <a:srgbClr val="FFFFFF"/>
            </a:solidFill>
            <a:prstDash val="solid"/>
          </a:ln>
        </p:spPr>
      </p:sp>
      <p:sp>
        <p:nvSpPr>
          <p:cNvPr id="73" name="Text 71"/>
          <p:cNvSpPr/>
          <p:nvPr/>
        </p:nvSpPr>
        <p:spPr>
          <a:xfrm>
            <a:off x="9537192" y="2926080"/>
            <a:ext cx="1019556" cy="201168"/>
          </a:xfrm>
          <a:prstGeom prst="rect">
            <a:avLst/>
          </a:prstGeom>
          <a:noFill/>
          <a:ln/>
        </p:spPr>
        <p:txBody>
          <a:bodyPr wrap="square" rtlCol="0" anchor="ctr"/>
          <a:lstStyle/>
          <a:p>
            <a:pPr algn="ctr" indent="0" marL="0">
              <a:buNone/>
            </a:pPr>
            <a:r>
              <a:rPr lang="en-US" sz="750" b="1" dirty="0">
                <a:solidFill>
                  <a:srgbClr val="2563EB"/>
                </a:solidFill>
                <a:latin typeface="Calibri" pitchFamily="34" charset="0"/>
                <a:ea typeface="Calibri" pitchFamily="34" charset="-122"/>
                <a:cs typeface="Calibri" pitchFamily="34" charset="-120"/>
              </a:rPr>
              <a:t>DYNAMICS</a:t>
            </a:r>
            <a:endParaRPr lang="en-US" sz="750" dirty="0"/>
          </a:p>
        </p:txBody>
      </p:sp>
      <p:sp>
        <p:nvSpPr>
          <p:cNvPr id="74" name="Shape 72"/>
          <p:cNvSpPr/>
          <p:nvPr/>
        </p:nvSpPr>
        <p:spPr>
          <a:xfrm>
            <a:off x="10666476" y="1508760"/>
            <a:ext cx="1019556" cy="1371600"/>
          </a:xfrm>
          <a:prstGeom prst="roundRect">
            <a:avLst>
              <a:gd name="adj" fmla="val 5381"/>
            </a:avLst>
          </a:prstGeom>
          <a:solidFill>
            <a:srgbClr val="FFFFFF"/>
          </a:solidFill>
          <a:ln w="9525">
            <a:solidFill>
              <a:srgbClr val="15803D"/>
            </a:solidFill>
            <a:prstDash val="solid"/>
          </a:ln>
          <a:effectLst>
            <a:outerShdw sx="100000" sy="100000" kx="0" ky="0" algn="bl" rotWithShape="0" blurRad="38100" dist="12700" dir="5400000">
              <a:srgbClr val="00000010">
                <a:alpha val="75000"/>
              </a:srgbClr>
            </a:outerShdw>
          </a:effectLst>
        </p:spPr>
      </p:sp>
      <p:sp>
        <p:nvSpPr>
          <p:cNvPr id="75" name="Shape 73"/>
          <p:cNvSpPr/>
          <p:nvPr/>
        </p:nvSpPr>
        <p:spPr>
          <a:xfrm>
            <a:off x="10666476" y="1508760"/>
            <a:ext cx="1019556" cy="45720"/>
          </a:xfrm>
          <a:prstGeom prst="rect">
            <a:avLst/>
          </a:prstGeom>
          <a:solidFill>
            <a:srgbClr val="15803D"/>
          </a:solidFill>
          <a:ln w="12700">
            <a:solidFill>
              <a:srgbClr val="15803D"/>
            </a:solidFill>
            <a:prstDash val="solid"/>
          </a:ln>
        </p:spPr>
      </p:sp>
      <p:sp>
        <p:nvSpPr>
          <p:cNvPr id="76" name="Text 74"/>
          <p:cNvSpPr/>
          <p:nvPr/>
        </p:nvSpPr>
        <p:spPr>
          <a:xfrm>
            <a:off x="10666476" y="1618488"/>
            <a:ext cx="1019556" cy="292608"/>
          </a:xfrm>
          <a:prstGeom prst="rect">
            <a:avLst/>
          </a:prstGeom>
          <a:noFill/>
          <a:ln/>
        </p:spPr>
        <p:txBody>
          <a:bodyPr wrap="square" rtlCol="0" anchor="ctr"/>
          <a:lstStyle/>
          <a:p>
            <a:pPr algn="ctr" indent="0" marL="0">
              <a:buNone/>
            </a:pPr>
            <a:r>
              <a:rPr lang="en-US" sz="1300" b="1" dirty="0">
                <a:solidFill>
                  <a:srgbClr val="15803D"/>
                </a:solidFill>
                <a:latin typeface="Calibri" pitchFamily="34" charset="0"/>
                <a:ea typeface="Calibri" pitchFamily="34" charset="-122"/>
                <a:cs typeface="Calibri" pitchFamily="34" charset="-120"/>
              </a:rPr>
              <a:t>10</a:t>
            </a:r>
            <a:endParaRPr lang="en-US" sz="1300" dirty="0"/>
          </a:p>
        </p:txBody>
      </p:sp>
      <p:sp>
        <p:nvSpPr>
          <p:cNvPr id="77" name="Text 75"/>
          <p:cNvSpPr/>
          <p:nvPr/>
        </p:nvSpPr>
        <p:spPr>
          <a:xfrm>
            <a:off x="10712196" y="1965960"/>
            <a:ext cx="928116" cy="292608"/>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Transacción</a:t>
            </a:r>
            <a:endParaRPr lang="en-US" sz="1100" dirty="0"/>
          </a:p>
        </p:txBody>
      </p:sp>
      <p:sp>
        <p:nvSpPr>
          <p:cNvPr id="78" name="Text 76"/>
          <p:cNvSpPr/>
          <p:nvPr/>
        </p:nvSpPr>
        <p:spPr>
          <a:xfrm>
            <a:off x="10712196" y="2286000"/>
            <a:ext cx="928116" cy="502920"/>
          </a:xfrm>
          <a:prstGeom prst="rect">
            <a:avLst/>
          </a:prstGeom>
          <a:noFill/>
          <a:ln/>
        </p:spPr>
        <p:txBody>
          <a:bodyPr wrap="square"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cierre</a:t>
            </a:r>
            <a:endParaRPr lang="en-US" sz="900" dirty="0"/>
          </a:p>
        </p:txBody>
      </p:sp>
      <p:sp>
        <p:nvSpPr>
          <p:cNvPr id="79" name="Shape 77"/>
          <p:cNvSpPr/>
          <p:nvPr/>
        </p:nvSpPr>
        <p:spPr>
          <a:xfrm>
            <a:off x="11103102" y="2715768"/>
            <a:ext cx="146304" cy="146304"/>
          </a:xfrm>
          <a:prstGeom prst="ellipse">
            <a:avLst/>
          </a:prstGeom>
          <a:solidFill>
            <a:srgbClr val="15803D"/>
          </a:solidFill>
          <a:ln w="19050">
            <a:solidFill>
              <a:srgbClr val="FFFFFF"/>
            </a:solidFill>
            <a:prstDash val="solid"/>
          </a:ln>
        </p:spPr>
      </p:sp>
      <p:sp>
        <p:nvSpPr>
          <p:cNvPr id="80" name="Text 78"/>
          <p:cNvSpPr/>
          <p:nvPr/>
        </p:nvSpPr>
        <p:spPr>
          <a:xfrm>
            <a:off x="10666476" y="2926080"/>
            <a:ext cx="1019556" cy="201168"/>
          </a:xfrm>
          <a:prstGeom prst="rect">
            <a:avLst/>
          </a:prstGeom>
          <a:noFill/>
          <a:ln/>
        </p:spPr>
        <p:txBody>
          <a:bodyPr wrap="square"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PDB</a:t>
            </a:r>
            <a:endParaRPr lang="en-US" sz="750" dirty="0"/>
          </a:p>
        </p:txBody>
      </p:sp>
      <p:sp>
        <p:nvSpPr>
          <p:cNvPr id="81" name="Shape 79"/>
          <p:cNvSpPr/>
          <p:nvPr/>
        </p:nvSpPr>
        <p:spPr>
          <a:xfrm>
            <a:off x="502920" y="3383280"/>
            <a:ext cx="11183112" cy="1417320"/>
          </a:xfrm>
          <a:prstGeom prst="roundRect">
            <a:avLst>
              <a:gd name="adj" fmla="val 3871"/>
            </a:avLst>
          </a:prstGeom>
          <a:solidFill>
            <a:srgbClr val="FFFFFF"/>
          </a:solidFill>
          <a:ln w="6350">
            <a:solidFill>
              <a:srgbClr val="E2E8F0"/>
            </a:solidFill>
            <a:prstDash val="solid"/>
          </a:ln>
        </p:spPr>
      </p:sp>
      <p:sp>
        <p:nvSpPr>
          <p:cNvPr id="82" name="Text 80"/>
          <p:cNvSpPr/>
          <p:nvPr/>
        </p:nvSpPr>
        <p:spPr>
          <a:xfrm>
            <a:off x="685800" y="3520440"/>
            <a:ext cx="3544824" cy="228600"/>
          </a:xfrm>
          <a:prstGeom prst="rect">
            <a:avLst/>
          </a:prstGeom>
          <a:noFill/>
          <a:ln/>
        </p:spPr>
        <p:txBody>
          <a:bodyPr wrap="square" rtlCol="0" anchor="ctr"/>
          <a:lstStyle/>
          <a:p>
            <a:pPr indent="0" marL="0">
              <a:buNone/>
            </a:pPr>
            <a:r>
              <a:rPr lang="en-US" sz="900" b="1" dirty="0">
                <a:solidFill>
                  <a:srgbClr val="D97706"/>
                </a:solidFill>
                <a:latin typeface="Calibri" pitchFamily="34" charset="0"/>
                <a:ea typeface="Calibri" pitchFamily="34" charset="-122"/>
                <a:cs typeface="Calibri" pitchFamily="34" charset="-120"/>
              </a:rPr>
              <a:t>ENTRADA · LEAD</a:t>
            </a:r>
            <a:endParaRPr lang="en-US" sz="900" dirty="0"/>
          </a:p>
        </p:txBody>
      </p:sp>
      <p:sp>
        <p:nvSpPr>
          <p:cNvPr id="83" name="Text 81"/>
          <p:cNvSpPr/>
          <p:nvPr/>
        </p:nvSpPr>
        <p:spPr>
          <a:xfrm>
            <a:off x="685800" y="3767328"/>
            <a:ext cx="3544824" cy="914400"/>
          </a:xfrm>
          <a:prstGeom prst="rect">
            <a:avLst/>
          </a:prstGeom>
          <a:noFill/>
          <a:ln/>
        </p:spPr>
        <p:txBody>
          <a:bodyPr wrap="square" rtlCol="0" anchor="t"/>
          <a:lstStyle/>
          <a:p>
            <a:pPr indent="0" marL="0">
              <a:buNone/>
            </a:pPr>
            <a:r>
              <a:rPr lang="en-US" sz="1000" dirty="0">
                <a:solidFill>
                  <a:srgbClr val="334155"/>
                </a:solidFill>
                <a:latin typeface="Calibri" pitchFamily="34" charset="0"/>
                <a:ea typeface="Calibri" pitchFamily="34" charset="-122"/>
                <a:cs typeface="Calibri" pitchFamily="34" charset="-120"/>
              </a:rPr>
              <a:t>El Lead es el origen real del funnel. Antes de él no hay nada en PDB. Captura automática desde web, portales, formularios y campañas. Se transforma en Oportunidad cuando hay Cuenta o Contacto vinculado.</a:t>
            </a:r>
            <a:endParaRPr lang="en-US" sz="1000" dirty="0"/>
          </a:p>
        </p:txBody>
      </p:sp>
      <p:sp>
        <p:nvSpPr>
          <p:cNvPr id="84" name="Text 82"/>
          <p:cNvSpPr/>
          <p:nvPr/>
        </p:nvSpPr>
        <p:spPr>
          <a:xfrm>
            <a:off x="4322064" y="3520440"/>
            <a:ext cx="3544824" cy="228600"/>
          </a:xfrm>
          <a:prstGeom prst="rect">
            <a:avLst/>
          </a:prstGeom>
          <a:noFill/>
          <a:ln/>
        </p:spPr>
        <p:txBody>
          <a:bodyPr wrap="square" rtlCol="0" anchor="ctr"/>
          <a:lstStyle/>
          <a:p>
            <a:pPr indent="0" marL="0">
              <a:buNone/>
            </a:pPr>
            <a:r>
              <a:rPr lang="en-US" sz="900" b="1" dirty="0">
                <a:solidFill>
                  <a:srgbClr val="15803D"/>
                </a:solidFill>
                <a:latin typeface="Calibri" pitchFamily="34" charset="0"/>
                <a:ea typeface="Calibri" pitchFamily="34" charset="-122"/>
                <a:cs typeface="Calibri" pitchFamily="34" charset="-120"/>
              </a:rPr>
              <a:t>OPERATIVA · PDB</a:t>
            </a:r>
            <a:endParaRPr lang="en-US" sz="900" dirty="0"/>
          </a:p>
        </p:txBody>
      </p:sp>
      <p:sp>
        <p:nvSpPr>
          <p:cNvPr id="85" name="Text 83"/>
          <p:cNvSpPr/>
          <p:nvPr/>
        </p:nvSpPr>
        <p:spPr>
          <a:xfrm>
            <a:off x="4322064" y="3767328"/>
            <a:ext cx="3544824" cy="914400"/>
          </a:xfrm>
          <a:prstGeom prst="rect">
            <a:avLst/>
          </a:prstGeom>
          <a:noFill/>
          <a:ln/>
        </p:spPr>
        <p:txBody>
          <a:bodyPr wrap="square" rtlCol="0" anchor="t"/>
          <a:lstStyle/>
          <a:p>
            <a:pPr indent="0" marL="0">
              <a:buNone/>
            </a:pPr>
            <a:r>
              <a:rPr lang="en-US" sz="1000" dirty="0">
                <a:solidFill>
                  <a:srgbClr val="334155"/>
                </a:solidFill>
                <a:latin typeface="Calibri" pitchFamily="34" charset="0"/>
                <a:ea typeface="Calibri" pitchFamily="34" charset="-122"/>
                <a:cs typeface="Calibri" pitchFamily="34" charset="-120"/>
              </a:rPr>
              <a:t>Activo (estructura), Oferta (disponibilidad) y Demanda (búsqueda) viven en PDB. La Oferta cuelga del Activo. La Demanda machea contra Ofertas vivas, no contra Activos sueltos.</a:t>
            </a:r>
            <a:endParaRPr lang="en-US" sz="1000" dirty="0"/>
          </a:p>
        </p:txBody>
      </p:sp>
      <p:sp>
        <p:nvSpPr>
          <p:cNvPr id="86" name="Text 84"/>
          <p:cNvSpPr/>
          <p:nvPr/>
        </p:nvSpPr>
        <p:spPr>
          <a:xfrm>
            <a:off x="7958328" y="3520440"/>
            <a:ext cx="3544824" cy="228600"/>
          </a:xfrm>
          <a:prstGeom prst="rect">
            <a:avLst/>
          </a:prstGeom>
          <a:noFill/>
          <a:ln/>
        </p:spPr>
        <p:txBody>
          <a:bodyPr wrap="square"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CIERRE · DYNAMICS</a:t>
            </a:r>
            <a:endParaRPr lang="en-US" sz="900" dirty="0"/>
          </a:p>
        </p:txBody>
      </p:sp>
      <p:sp>
        <p:nvSpPr>
          <p:cNvPr id="87" name="Text 85"/>
          <p:cNvSpPr/>
          <p:nvPr/>
        </p:nvSpPr>
        <p:spPr>
          <a:xfrm>
            <a:off x="7958328" y="3767328"/>
            <a:ext cx="3544824" cy="914400"/>
          </a:xfrm>
          <a:prstGeom prst="rect">
            <a:avLst/>
          </a:prstGeom>
          <a:noFill/>
          <a:ln/>
        </p:spPr>
        <p:txBody>
          <a:bodyPr wrap="square" rtlCol="0" anchor="t"/>
          <a:lstStyle/>
          <a:p>
            <a:pPr indent="0" marL="0">
              <a:buNone/>
            </a:pPr>
            <a:r>
              <a:rPr lang="en-US" sz="1000" dirty="0">
                <a:solidFill>
                  <a:srgbClr val="334155"/>
                </a:solidFill>
                <a:latin typeface="Calibri" pitchFamily="34" charset="0"/>
                <a:ea typeface="Calibri" pitchFamily="34" charset="-122"/>
                <a:cs typeface="Calibri" pitchFamily="34" charset="-120"/>
              </a:rPr>
              <a:t>Oportunidad e Instrucción son registros maestros en Dynamics. PDB lanza handoffs y consume sincronizaciones. La Instrucción factura siempre contra una Entidad Legal.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04 · Entrada</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06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Lead — origen del funnel</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Captura automática desde múltiples canales · cualificación · transformación a Oportunidad.</a:t>
            </a:r>
            <a:endParaRPr lang="en-US" sz="1150" dirty="0"/>
          </a:p>
        </p:txBody>
      </p:sp>
      <p:sp>
        <p:nvSpPr>
          <p:cNvPr id="10" name="Text 8"/>
          <p:cNvSpPr/>
          <p:nvPr/>
        </p:nvSpPr>
        <p:spPr>
          <a:xfrm>
            <a:off x="502920" y="1673352"/>
            <a:ext cx="8900770" cy="201168"/>
          </a:xfrm>
          <a:prstGeom prst="rect">
            <a:avLst/>
          </a:prstGeom>
          <a:noFill/>
          <a:ln/>
        </p:spPr>
        <p:txBody>
          <a:bodyPr wrap="square" rtlCol="0" anchor="ctr"/>
          <a:lstStyle/>
          <a:p>
            <a:pPr algn="l" indent="0" marL="0">
              <a:buNone/>
            </a:pPr>
            <a:r>
              <a:rPr lang="en-US" sz="850" b="1" dirty="0">
                <a:solidFill>
                  <a:srgbClr val="D97706"/>
                </a:solidFill>
                <a:latin typeface="Calibri" pitchFamily="34" charset="0"/>
                <a:ea typeface="Calibri" pitchFamily="34" charset="-122"/>
                <a:cs typeface="Calibri" pitchFamily="34" charset="-120"/>
              </a:rPr>
              <a:t>LEAD</a:t>
            </a:r>
            <a:endParaRPr lang="en-US" sz="850" dirty="0"/>
          </a:p>
        </p:txBody>
      </p:sp>
      <p:sp>
        <p:nvSpPr>
          <p:cNvPr id="11" name="Text 9"/>
          <p:cNvSpPr/>
          <p:nvPr/>
        </p:nvSpPr>
        <p:spPr>
          <a:xfrm>
            <a:off x="9632290" y="1673352"/>
            <a:ext cx="2053742"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2" name="Shape 10"/>
          <p:cNvSpPr/>
          <p:nvPr/>
        </p:nvSpPr>
        <p:spPr>
          <a:xfrm>
            <a:off x="502920" y="1965960"/>
            <a:ext cx="2053742" cy="1554480"/>
          </a:xfrm>
          <a:prstGeom prst="roundRect">
            <a:avLst>
              <a:gd name="adj" fmla="val 3529"/>
            </a:avLst>
          </a:prstGeom>
          <a:solidFill>
            <a:srgbClr val="FEF3C7"/>
          </a:solidFill>
          <a:ln w="12700">
            <a:solidFill>
              <a:srgbClr val="D97706"/>
            </a:solidFill>
            <a:prstDash val="solid"/>
          </a:ln>
          <a:effectLst>
            <a:outerShdw sx="100000" sy="100000" kx="0" ky="0" algn="bl" rotWithShape="0" blurRad="50800" dist="12700" dir="5400000">
              <a:srgbClr val="00000014">
                <a:alpha val="75000"/>
              </a:srgbClr>
            </a:outerShdw>
          </a:effectLst>
        </p:spPr>
      </p:sp>
      <p:sp>
        <p:nvSpPr>
          <p:cNvPr id="13" name="Shape 11"/>
          <p:cNvSpPr/>
          <p:nvPr/>
        </p:nvSpPr>
        <p:spPr>
          <a:xfrm>
            <a:off x="502920" y="1965960"/>
            <a:ext cx="2053742" cy="54864"/>
          </a:xfrm>
          <a:prstGeom prst="rect">
            <a:avLst/>
          </a:prstGeom>
          <a:solidFill>
            <a:srgbClr val="D97706"/>
          </a:solidFill>
          <a:ln w="12700">
            <a:solidFill>
              <a:srgbClr val="D97706"/>
            </a:solidFill>
            <a:prstDash val="solid"/>
          </a:ln>
        </p:spPr>
      </p:sp>
      <p:sp>
        <p:nvSpPr>
          <p:cNvPr id="14" name="Shape 12"/>
          <p:cNvSpPr/>
          <p:nvPr/>
        </p:nvSpPr>
        <p:spPr>
          <a:xfrm>
            <a:off x="374904" y="1837944"/>
            <a:ext cx="292608" cy="292608"/>
          </a:xfrm>
          <a:prstGeom prst="ellipse">
            <a:avLst/>
          </a:prstGeom>
          <a:solidFill>
            <a:srgbClr val="D97706"/>
          </a:solidFill>
          <a:ln w="19050">
            <a:solidFill>
              <a:srgbClr val="FFFFFF"/>
            </a:solidFill>
            <a:prstDash val="solid"/>
          </a:ln>
        </p:spPr>
      </p:sp>
      <p:sp>
        <p:nvSpPr>
          <p:cNvPr id="15" name="Text 13"/>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6" name="Text 14"/>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Captura</a:t>
            </a:r>
            <a:endParaRPr lang="en-US" sz="1200" dirty="0"/>
          </a:p>
        </p:txBody>
      </p:sp>
      <p:sp>
        <p:nvSpPr>
          <p:cNvPr id="17" name="Text 15"/>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Web · portales · LinkedIn · campañas · formularios · recomendaciones</a:t>
            </a:r>
            <a:endParaRPr lang="en-US" sz="950" dirty="0"/>
          </a:p>
        </p:txBody>
      </p:sp>
      <p:sp>
        <p:nvSpPr>
          <p:cNvPr id="18" name="Text 16"/>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2785262" y="1965960"/>
            <a:ext cx="2053742" cy="1554480"/>
          </a:xfrm>
          <a:prstGeom prst="roundRect">
            <a:avLst>
              <a:gd name="adj" fmla="val 3529"/>
            </a:avLst>
          </a:prstGeom>
          <a:solidFill>
            <a:srgbClr val="FEF3C7"/>
          </a:solidFill>
          <a:ln w="12700">
            <a:solidFill>
              <a:srgbClr val="D97706"/>
            </a:solidFill>
            <a:prstDash val="solid"/>
          </a:ln>
          <a:effectLst>
            <a:outerShdw sx="100000" sy="100000" kx="0" ky="0" algn="bl" rotWithShape="0" blurRad="50800" dist="12700" dir="5400000">
              <a:srgbClr val="00000014">
                <a:alpha val="75000"/>
              </a:srgbClr>
            </a:outerShdw>
          </a:effectLst>
        </p:spPr>
      </p:sp>
      <p:sp>
        <p:nvSpPr>
          <p:cNvPr id="20" name="Shape 18"/>
          <p:cNvSpPr/>
          <p:nvPr/>
        </p:nvSpPr>
        <p:spPr>
          <a:xfrm>
            <a:off x="2785262" y="1965960"/>
            <a:ext cx="2053742" cy="54864"/>
          </a:xfrm>
          <a:prstGeom prst="rect">
            <a:avLst/>
          </a:prstGeom>
          <a:solidFill>
            <a:srgbClr val="D97706"/>
          </a:solidFill>
          <a:ln w="12700">
            <a:solidFill>
              <a:srgbClr val="D97706"/>
            </a:solidFill>
            <a:prstDash val="solid"/>
          </a:ln>
        </p:spPr>
      </p:sp>
      <p:sp>
        <p:nvSpPr>
          <p:cNvPr id="21" name="Shape 19"/>
          <p:cNvSpPr/>
          <p:nvPr/>
        </p:nvSpPr>
        <p:spPr>
          <a:xfrm>
            <a:off x="2657246" y="1837944"/>
            <a:ext cx="292608" cy="292608"/>
          </a:xfrm>
          <a:prstGeom prst="ellipse">
            <a:avLst/>
          </a:prstGeom>
          <a:solidFill>
            <a:srgbClr val="D97706"/>
          </a:solidFill>
          <a:ln w="19050">
            <a:solidFill>
              <a:srgbClr val="FFFFFF"/>
            </a:solidFill>
            <a:prstDash val="solid"/>
          </a:ln>
        </p:spPr>
      </p:sp>
      <p:sp>
        <p:nvSpPr>
          <p:cNvPr id="22" name="Text 20"/>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Text 21"/>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Clasificación</a:t>
            </a:r>
            <a:endParaRPr lang="en-US" sz="1200" dirty="0"/>
          </a:p>
        </p:txBody>
      </p:sp>
      <p:sp>
        <p:nvSpPr>
          <p:cNvPr id="24" name="Text 22"/>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Tipo: Demanda · Oferta · Servicio</a:t>
            </a:r>
            <a:endParaRPr lang="en-US" sz="950" dirty="0"/>
          </a:p>
        </p:txBody>
      </p:sp>
      <p:sp>
        <p:nvSpPr>
          <p:cNvPr id="25" name="Text 23"/>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067605" y="1965960"/>
            <a:ext cx="2053742" cy="1554480"/>
          </a:xfrm>
          <a:prstGeom prst="roundRect">
            <a:avLst>
              <a:gd name="adj" fmla="val 3529"/>
            </a:avLst>
          </a:prstGeom>
          <a:solidFill>
            <a:srgbClr val="FEF3C7"/>
          </a:solidFill>
          <a:ln w="12700">
            <a:solidFill>
              <a:srgbClr val="D97706"/>
            </a:solidFill>
            <a:prstDash val="solid"/>
          </a:ln>
          <a:effectLst>
            <a:outerShdw sx="100000" sy="100000" kx="0" ky="0" algn="bl" rotWithShape="0" blurRad="50800" dist="12700" dir="5400000">
              <a:srgbClr val="00000014">
                <a:alpha val="75000"/>
              </a:srgbClr>
            </a:outerShdw>
          </a:effectLst>
        </p:spPr>
      </p:sp>
      <p:sp>
        <p:nvSpPr>
          <p:cNvPr id="27" name="Shape 25"/>
          <p:cNvSpPr/>
          <p:nvPr/>
        </p:nvSpPr>
        <p:spPr>
          <a:xfrm>
            <a:off x="5067605" y="1965960"/>
            <a:ext cx="2053742" cy="54864"/>
          </a:xfrm>
          <a:prstGeom prst="rect">
            <a:avLst/>
          </a:prstGeom>
          <a:solidFill>
            <a:srgbClr val="D97706"/>
          </a:solidFill>
          <a:ln w="12700">
            <a:solidFill>
              <a:srgbClr val="D97706"/>
            </a:solidFill>
            <a:prstDash val="solid"/>
          </a:ln>
        </p:spPr>
      </p:sp>
      <p:sp>
        <p:nvSpPr>
          <p:cNvPr id="28" name="Shape 26"/>
          <p:cNvSpPr/>
          <p:nvPr/>
        </p:nvSpPr>
        <p:spPr>
          <a:xfrm>
            <a:off x="4939589" y="1837944"/>
            <a:ext cx="292608" cy="292608"/>
          </a:xfrm>
          <a:prstGeom prst="ellipse">
            <a:avLst/>
          </a:prstGeom>
          <a:solidFill>
            <a:srgbClr val="D97706"/>
          </a:solidFill>
          <a:ln w="19050">
            <a:solidFill>
              <a:srgbClr val="FFFFFF"/>
            </a:solidFill>
            <a:prstDash val="solid"/>
          </a:ln>
        </p:spPr>
      </p:sp>
      <p:sp>
        <p:nvSpPr>
          <p:cNvPr id="29" name="Text 27"/>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0" name="Text 28"/>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Cualificación</a:t>
            </a:r>
            <a:endParaRPr lang="en-US" sz="1200" dirty="0"/>
          </a:p>
        </p:txBody>
      </p:sp>
      <p:sp>
        <p:nvSpPr>
          <p:cNvPr id="31" name="Text 29"/>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Actividades · llamadas · validación</a:t>
            </a:r>
            <a:endParaRPr lang="en-US" sz="950" dirty="0"/>
          </a:p>
        </p:txBody>
      </p:sp>
      <p:sp>
        <p:nvSpPr>
          <p:cNvPr id="32" name="Text 30"/>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7349947" y="1965960"/>
            <a:ext cx="2053742" cy="1554480"/>
          </a:xfrm>
          <a:prstGeom prst="roundRect">
            <a:avLst>
              <a:gd name="adj" fmla="val 3529"/>
            </a:avLst>
          </a:prstGeom>
          <a:solidFill>
            <a:srgbClr val="FEF3C7"/>
          </a:solidFill>
          <a:ln w="12700">
            <a:solidFill>
              <a:srgbClr val="D97706"/>
            </a:solidFill>
            <a:prstDash val="solid"/>
          </a:ln>
          <a:effectLst>
            <a:outerShdw sx="100000" sy="100000" kx="0" ky="0" algn="bl" rotWithShape="0" blurRad="50800" dist="12700" dir="5400000">
              <a:srgbClr val="00000014">
                <a:alpha val="75000"/>
              </a:srgbClr>
            </a:outerShdw>
          </a:effectLst>
        </p:spPr>
      </p:sp>
      <p:sp>
        <p:nvSpPr>
          <p:cNvPr id="34" name="Shape 32"/>
          <p:cNvSpPr/>
          <p:nvPr/>
        </p:nvSpPr>
        <p:spPr>
          <a:xfrm>
            <a:off x="7349947" y="1965960"/>
            <a:ext cx="2053742" cy="54864"/>
          </a:xfrm>
          <a:prstGeom prst="rect">
            <a:avLst/>
          </a:prstGeom>
          <a:solidFill>
            <a:srgbClr val="D97706"/>
          </a:solidFill>
          <a:ln w="12700">
            <a:solidFill>
              <a:srgbClr val="D97706"/>
            </a:solidFill>
            <a:prstDash val="solid"/>
          </a:ln>
        </p:spPr>
      </p:sp>
      <p:sp>
        <p:nvSpPr>
          <p:cNvPr id="35" name="Shape 33"/>
          <p:cNvSpPr/>
          <p:nvPr/>
        </p:nvSpPr>
        <p:spPr>
          <a:xfrm>
            <a:off x="7221931" y="1837944"/>
            <a:ext cx="292608" cy="292608"/>
          </a:xfrm>
          <a:prstGeom prst="ellipse">
            <a:avLst/>
          </a:prstGeom>
          <a:solidFill>
            <a:srgbClr val="D97706"/>
          </a:solidFill>
          <a:ln w="19050">
            <a:solidFill>
              <a:srgbClr val="FFFFFF"/>
            </a:solidFill>
            <a:prstDash val="solid"/>
          </a:ln>
        </p:spPr>
      </p:sp>
      <p:sp>
        <p:nvSpPr>
          <p:cNvPr id="36" name="Text 34"/>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Text 35"/>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Vinculación</a:t>
            </a:r>
            <a:endParaRPr lang="en-US" sz="1200" dirty="0"/>
          </a:p>
        </p:txBody>
      </p:sp>
      <p:sp>
        <p:nvSpPr>
          <p:cNvPr id="38" name="Text 36"/>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Cuenta o Contacto (obligatorio para transformar)</a:t>
            </a:r>
            <a:endParaRPr lang="en-US" sz="950" dirty="0"/>
          </a:p>
        </p:txBody>
      </p:sp>
      <p:sp>
        <p:nvSpPr>
          <p:cNvPr id="39" name="Text 37"/>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0" name="Shape 38"/>
          <p:cNvSpPr/>
          <p:nvPr/>
        </p:nvSpPr>
        <p:spPr>
          <a:xfrm>
            <a:off x="9632290"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41" name="Shape 39"/>
          <p:cNvSpPr/>
          <p:nvPr/>
        </p:nvSpPr>
        <p:spPr>
          <a:xfrm>
            <a:off x="9632290" y="1965960"/>
            <a:ext cx="2053742" cy="54864"/>
          </a:xfrm>
          <a:prstGeom prst="rect">
            <a:avLst/>
          </a:prstGeom>
          <a:solidFill>
            <a:srgbClr val="2563EB"/>
          </a:solidFill>
          <a:ln w="12700">
            <a:solidFill>
              <a:srgbClr val="2563EB"/>
            </a:solidFill>
            <a:prstDash val="solid"/>
          </a:ln>
        </p:spPr>
      </p:sp>
      <p:sp>
        <p:nvSpPr>
          <p:cNvPr id="42" name="Shape 40"/>
          <p:cNvSpPr/>
          <p:nvPr/>
        </p:nvSpPr>
        <p:spPr>
          <a:xfrm>
            <a:off x="9504274" y="1837944"/>
            <a:ext cx="292608" cy="292608"/>
          </a:xfrm>
          <a:prstGeom prst="ellipse">
            <a:avLst/>
          </a:prstGeom>
          <a:solidFill>
            <a:srgbClr val="2563EB"/>
          </a:solidFill>
          <a:ln w="19050">
            <a:solidFill>
              <a:srgbClr val="FFFFFF"/>
            </a:solidFill>
            <a:prstDash val="solid"/>
          </a:ln>
        </p:spPr>
      </p:sp>
      <p:sp>
        <p:nvSpPr>
          <p:cNvPr id="43" name="Text 41"/>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4" name="Text 42"/>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Transformar</a:t>
            </a:r>
            <a:endParaRPr lang="en-US" sz="1200" dirty="0"/>
          </a:p>
        </p:txBody>
      </p:sp>
      <p:sp>
        <p:nvSpPr>
          <p:cNvPr id="45" name="Text 43"/>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Handoff a Dynamics → crea Oportunidad</a:t>
            </a:r>
            <a:endParaRPr lang="en-US" sz="950" dirty="0"/>
          </a:p>
        </p:txBody>
      </p:sp>
      <p:sp>
        <p:nvSpPr>
          <p:cNvPr id="46" name="Shape 44"/>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7" name="Text 45"/>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8" name="Text 46"/>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El Lead es el verdadero punto de entrada. La transformación a Oportunidad exige obligatoriamente Cuenta o Contacto vinculado: sin eso no se puede crear el registro maestro en Dynamics. Tres tipos posibles: Demanda (busca espacio), Oferta (quiere comercializar), Servicio (consultoría/advisory).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05 · Entrada</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07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Cuentas y Contactos</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Núcleo relacional · Dynamics es el sistema maestro · PDB consume y enriquece operativamente.</a:t>
            </a:r>
            <a:endParaRPr lang="en-US" sz="1150" dirty="0"/>
          </a:p>
        </p:txBody>
      </p:sp>
      <p:sp>
        <p:nvSpPr>
          <p:cNvPr id="10" name="Text 8"/>
          <p:cNvSpPr/>
          <p:nvPr/>
        </p:nvSpPr>
        <p:spPr>
          <a:xfrm>
            <a:off x="502920" y="1673352"/>
            <a:ext cx="4336085"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1" name="Text 9"/>
          <p:cNvSpPr/>
          <p:nvPr/>
        </p:nvSpPr>
        <p:spPr>
          <a:xfrm>
            <a:off x="5067605" y="1673352"/>
            <a:ext cx="6618427"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2" name="Shape 10"/>
          <p:cNvSpPr/>
          <p:nvPr/>
        </p:nvSpPr>
        <p:spPr>
          <a:xfrm>
            <a:off x="502920"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13" name="Shape 11"/>
          <p:cNvSpPr/>
          <p:nvPr/>
        </p:nvSpPr>
        <p:spPr>
          <a:xfrm>
            <a:off x="502920" y="1965960"/>
            <a:ext cx="2053742" cy="54864"/>
          </a:xfrm>
          <a:prstGeom prst="rect">
            <a:avLst/>
          </a:prstGeom>
          <a:solidFill>
            <a:srgbClr val="2563EB"/>
          </a:solidFill>
          <a:ln w="12700">
            <a:solidFill>
              <a:srgbClr val="2563EB"/>
            </a:solidFill>
            <a:prstDash val="solid"/>
          </a:ln>
        </p:spPr>
      </p:sp>
      <p:sp>
        <p:nvSpPr>
          <p:cNvPr id="14" name="Shape 12"/>
          <p:cNvSpPr/>
          <p:nvPr/>
        </p:nvSpPr>
        <p:spPr>
          <a:xfrm>
            <a:off x="374904" y="1837944"/>
            <a:ext cx="292608" cy="292608"/>
          </a:xfrm>
          <a:prstGeom prst="ellipse">
            <a:avLst/>
          </a:prstGeom>
          <a:solidFill>
            <a:srgbClr val="2563EB"/>
          </a:solidFill>
          <a:ln w="19050">
            <a:solidFill>
              <a:srgbClr val="FFFFFF"/>
            </a:solidFill>
            <a:prstDash val="solid"/>
          </a:ln>
        </p:spPr>
      </p:sp>
      <p:sp>
        <p:nvSpPr>
          <p:cNvPr id="15" name="Text 13"/>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6" name="Text 14"/>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Alta Cuenta</a:t>
            </a:r>
            <a:endParaRPr lang="en-US" sz="1200" dirty="0"/>
          </a:p>
        </p:txBody>
      </p:sp>
      <p:sp>
        <p:nvSpPr>
          <p:cNvPr id="17" name="Text 15"/>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Datos fiscales y de contacto</a:t>
            </a:r>
            <a:endParaRPr lang="en-US" sz="950" dirty="0"/>
          </a:p>
        </p:txBody>
      </p:sp>
      <p:sp>
        <p:nvSpPr>
          <p:cNvPr id="18" name="Text 16"/>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2785262"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20" name="Shape 18"/>
          <p:cNvSpPr/>
          <p:nvPr/>
        </p:nvSpPr>
        <p:spPr>
          <a:xfrm>
            <a:off x="2785262" y="1965960"/>
            <a:ext cx="2053742" cy="54864"/>
          </a:xfrm>
          <a:prstGeom prst="rect">
            <a:avLst/>
          </a:prstGeom>
          <a:solidFill>
            <a:srgbClr val="2563EB"/>
          </a:solidFill>
          <a:ln w="12700">
            <a:solidFill>
              <a:srgbClr val="2563EB"/>
            </a:solidFill>
            <a:prstDash val="solid"/>
          </a:ln>
        </p:spPr>
      </p:sp>
      <p:sp>
        <p:nvSpPr>
          <p:cNvPr id="21" name="Shape 19"/>
          <p:cNvSpPr/>
          <p:nvPr/>
        </p:nvSpPr>
        <p:spPr>
          <a:xfrm>
            <a:off x="2657246" y="1837944"/>
            <a:ext cx="292608" cy="292608"/>
          </a:xfrm>
          <a:prstGeom prst="ellipse">
            <a:avLst/>
          </a:prstGeom>
          <a:solidFill>
            <a:srgbClr val="2563EB"/>
          </a:solidFill>
          <a:ln w="19050">
            <a:solidFill>
              <a:srgbClr val="FFFFFF"/>
            </a:solidFill>
            <a:prstDash val="solid"/>
          </a:ln>
        </p:spPr>
      </p:sp>
      <p:sp>
        <p:nvSpPr>
          <p:cNvPr id="22" name="Text 20"/>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Text 21"/>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Sync PDB</a:t>
            </a:r>
            <a:endParaRPr lang="en-US" sz="1200" dirty="0"/>
          </a:p>
        </p:txBody>
      </p:sp>
      <p:sp>
        <p:nvSpPr>
          <p:cNvPr id="24" name="Text 22"/>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Replicación lectura</a:t>
            </a:r>
            <a:endParaRPr lang="en-US" sz="950" dirty="0"/>
          </a:p>
        </p:txBody>
      </p:sp>
      <p:sp>
        <p:nvSpPr>
          <p:cNvPr id="25" name="Text 23"/>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7" name="Shape 25"/>
          <p:cNvSpPr/>
          <p:nvPr/>
        </p:nvSpPr>
        <p:spPr>
          <a:xfrm>
            <a:off x="5067605" y="1965960"/>
            <a:ext cx="2053742" cy="54864"/>
          </a:xfrm>
          <a:prstGeom prst="rect">
            <a:avLst/>
          </a:prstGeom>
          <a:solidFill>
            <a:srgbClr val="15803D"/>
          </a:solidFill>
          <a:ln w="12700">
            <a:solidFill>
              <a:srgbClr val="15803D"/>
            </a:solidFill>
            <a:prstDash val="solid"/>
          </a:ln>
        </p:spPr>
      </p:sp>
      <p:sp>
        <p:nvSpPr>
          <p:cNvPr id="28" name="Shape 26"/>
          <p:cNvSpPr/>
          <p:nvPr/>
        </p:nvSpPr>
        <p:spPr>
          <a:xfrm>
            <a:off x="4939589" y="1837944"/>
            <a:ext cx="292608" cy="292608"/>
          </a:xfrm>
          <a:prstGeom prst="ellipse">
            <a:avLst/>
          </a:prstGeom>
          <a:solidFill>
            <a:srgbClr val="15803D"/>
          </a:solidFill>
          <a:ln w="19050">
            <a:solidFill>
              <a:srgbClr val="FFFFFF"/>
            </a:solidFill>
            <a:prstDash val="solid"/>
          </a:ln>
        </p:spPr>
      </p:sp>
      <p:sp>
        <p:nvSpPr>
          <p:cNvPr id="29" name="Text 27"/>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0" name="Text 28"/>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Enriquecimiento</a:t>
            </a:r>
            <a:endParaRPr lang="en-US" sz="1200" dirty="0"/>
          </a:p>
        </p:txBody>
      </p:sp>
      <p:sp>
        <p:nvSpPr>
          <p:cNvPr id="31" name="Text 29"/>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Contactos · actividades · histórico</a:t>
            </a:r>
            <a:endParaRPr lang="en-US" sz="950" dirty="0"/>
          </a:p>
        </p:txBody>
      </p:sp>
      <p:sp>
        <p:nvSpPr>
          <p:cNvPr id="32" name="Text 30"/>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4" name="Shape 32"/>
          <p:cNvSpPr/>
          <p:nvPr/>
        </p:nvSpPr>
        <p:spPr>
          <a:xfrm>
            <a:off x="7349947" y="1965960"/>
            <a:ext cx="2053742" cy="54864"/>
          </a:xfrm>
          <a:prstGeom prst="rect">
            <a:avLst/>
          </a:prstGeom>
          <a:solidFill>
            <a:srgbClr val="15803D"/>
          </a:solidFill>
          <a:ln w="12700">
            <a:solidFill>
              <a:srgbClr val="15803D"/>
            </a:solidFill>
            <a:prstDash val="solid"/>
          </a:ln>
        </p:spPr>
      </p:sp>
      <p:sp>
        <p:nvSpPr>
          <p:cNvPr id="35" name="Shape 33"/>
          <p:cNvSpPr/>
          <p:nvPr/>
        </p:nvSpPr>
        <p:spPr>
          <a:xfrm>
            <a:off x="7221931" y="1837944"/>
            <a:ext cx="292608" cy="292608"/>
          </a:xfrm>
          <a:prstGeom prst="ellipse">
            <a:avLst/>
          </a:prstGeom>
          <a:solidFill>
            <a:srgbClr val="15803D"/>
          </a:solidFill>
          <a:ln w="19050">
            <a:solidFill>
              <a:srgbClr val="FFFFFF"/>
            </a:solidFill>
            <a:prstDash val="solid"/>
          </a:ln>
        </p:spPr>
      </p:sp>
      <p:sp>
        <p:nvSpPr>
          <p:cNvPr id="36" name="Text 34"/>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Text 35"/>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Vista 360º</a:t>
            </a:r>
            <a:endParaRPr lang="en-US" sz="1200" dirty="0"/>
          </a:p>
        </p:txBody>
      </p:sp>
      <p:sp>
        <p:nvSpPr>
          <p:cNvPr id="38" name="Text 36"/>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Activos · ofertas · oportunidades · operaciones</a:t>
            </a:r>
            <a:endParaRPr lang="en-US" sz="950" dirty="0"/>
          </a:p>
        </p:txBody>
      </p:sp>
      <p:sp>
        <p:nvSpPr>
          <p:cNvPr id="39" name="Text 37"/>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0" name="Shape 38"/>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1" name="Shape 39"/>
          <p:cNvSpPr/>
          <p:nvPr/>
        </p:nvSpPr>
        <p:spPr>
          <a:xfrm>
            <a:off x="9632290" y="1965960"/>
            <a:ext cx="2053742" cy="54864"/>
          </a:xfrm>
          <a:prstGeom prst="rect">
            <a:avLst/>
          </a:prstGeom>
          <a:solidFill>
            <a:srgbClr val="15803D"/>
          </a:solidFill>
          <a:ln w="12700">
            <a:solidFill>
              <a:srgbClr val="15803D"/>
            </a:solidFill>
            <a:prstDash val="solid"/>
          </a:ln>
        </p:spPr>
      </p:sp>
      <p:sp>
        <p:nvSpPr>
          <p:cNvPr id="42" name="Shape 40"/>
          <p:cNvSpPr/>
          <p:nvPr/>
        </p:nvSpPr>
        <p:spPr>
          <a:xfrm>
            <a:off x="9504274" y="1837944"/>
            <a:ext cx="292608" cy="292608"/>
          </a:xfrm>
          <a:prstGeom prst="ellipse">
            <a:avLst/>
          </a:prstGeom>
          <a:solidFill>
            <a:srgbClr val="15803D"/>
          </a:solidFill>
          <a:ln w="19050">
            <a:solidFill>
              <a:srgbClr val="FFFFFF"/>
            </a:solidFill>
            <a:prstDash val="solid"/>
          </a:ln>
        </p:spPr>
      </p:sp>
      <p:sp>
        <p:nvSpPr>
          <p:cNvPr id="43" name="Text 41"/>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4" name="Text 42"/>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Roles</a:t>
            </a:r>
            <a:endParaRPr lang="en-US" sz="1200" dirty="0"/>
          </a:p>
        </p:txBody>
      </p:sp>
      <p:sp>
        <p:nvSpPr>
          <p:cNvPr id="45" name="Text 43"/>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Propietario · Arrendatario · Inversor (no excluyentes)</a:t>
            </a:r>
            <a:endParaRPr lang="en-US" sz="950" dirty="0"/>
          </a:p>
        </p:txBody>
      </p:sp>
      <p:sp>
        <p:nvSpPr>
          <p:cNvPr id="46" name="Shape 44"/>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7" name="Text 45"/>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8" name="Text 46"/>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La Cuenta es el núcleo relacional. Sobre ella se asientan tres roles posibles: Propietario (cartera de activos), Arrendatario (demandas y contratos), Inversor (transacciones de capital). Las Entidades Legales (CIF/NIF) cuelgan como filiales fiscales.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06 · Entrada</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08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Oportunidades — WIP comercial</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Cualquier registro que pueda generar facturación · vive en Dynamics · paraguas de todo el ciclo.</a:t>
            </a:r>
            <a:endParaRPr lang="en-US" sz="1150" dirty="0"/>
          </a:p>
        </p:txBody>
      </p:sp>
      <p:sp>
        <p:nvSpPr>
          <p:cNvPr id="10" name="Text 8"/>
          <p:cNvSpPr/>
          <p:nvPr/>
        </p:nvSpPr>
        <p:spPr>
          <a:xfrm>
            <a:off x="502920" y="1673352"/>
            <a:ext cx="4336085"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Text 9"/>
          <p:cNvSpPr/>
          <p:nvPr/>
        </p:nvSpPr>
        <p:spPr>
          <a:xfrm>
            <a:off x="5067605" y="1673352"/>
            <a:ext cx="4336085"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2" name="Text 10"/>
          <p:cNvSpPr/>
          <p:nvPr/>
        </p:nvSpPr>
        <p:spPr>
          <a:xfrm>
            <a:off x="9632290" y="1673352"/>
            <a:ext cx="2053742"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3" name="Shape 11"/>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4" name="Shape 12"/>
          <p:cNvSpPr/>
          <p:nvPr/>
        </p:nvSpPr>
        <p:spPr>
          <a:xfrm>
            <a:off x="502920" y="1965960"/>
            <a:ext cx="2053742" cy="54864"/>
          </a:xfrm>
          <a:prstGeom prst="rect">
            <a:avLst/>
          </a:prstGeom>
          <a:solidFill>
            <a:srgbClr val="15803D"/>
          </a:solidFill>
          <a:ln w="12700">
            <a:solidFill>
              <a:srgbClr val="15803D"/>
            </a:solidFill>
            <a:prstDash val="solid"/>
          </a:ln>
        </p:spPr>
      </p:sp>
      <p:sp>
        <p:nvSpPr>
          <p:cNvPr id="15" name="Shape 13"/>
          <p:cNvSpPr/>
          <p:nvPr/>
        </p:nvSpPr>
        <p:spPr>
          <a:xfrm>
            <a:off x="374904" y="1837944"/>
            <a:ext cx="292608" cy="292608"/>
          </a:xfrm>
          <a:prstGeom prst="ellipse">
            <a:avLst/>
          </a:prstGeom>
          <a:solidFill>
            <a:srgbClr val="15803D"/>
          </a:solidFill>
          <a:ln w="19050">
            <a:solidFill>
              <a:srgbClr val="FFFFFF"/>
            </a:solidFill>
            <a:prstDash val="solid"/>
          </a:ln>
        </p:spPr>
      </p:sp>
      <p:sp>
        <p:nvSpPr>
          <p:cNvPr id="16" name="Text 14"/>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Text 15"/>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Origen</a:t>
            </a:r>
            <a:endParaRPr lang="en-US" sz="1200" dirty="0"/>
          </a:p>
        </p:txBody>
      </p:sp>
      <p:sp>
        <p:nvSpPr>
          <p:cNvPr id="18" name="Text 16"/>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Lead cualificado · match Of↔Dem · captación · advisory</a:t>
            </a:r>
            <a:endParaRPr lang="en-US" sz="950" dirty="0"/>
          </a:p>
        </p:txBody>
      </p:sp>
      <p:sp>
        <p:nvSpPr>
          <p:cNvPr id="19" name="Text 17"/>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1" name="Shape 19"/>
          <p:cNvSpPr/>
          <p:nvPr/>
        </p:nvSpPr>
        <p:spPr>
          <a:xfrm>
            <a:off x="2785262" y="1965960"/>
            <a:ext cx="2053742" cy="54864"/>
          </a:xfrm>
          <a:prstGeom prst="rect">
            <a:avLst/>
          </a:prstGeom>
          <a:solidFill>
            <a:srgbClr val="15803D"/>
          </a:solidFill>
          <a:ln w="12700">
            <a:solidFill>
              <a:srgbClr val="15803D"/>
            </a:solidFill>
            <a:prstDash val="solid"/>
          </a:ln>
        </p:spPr>
      </p:sp>
      <p:sp>
        <p:nvSpPr>
          <p:cNvPr id="22" name="Shape 20"/>
          <p:cNvSpPr/>
          <p:nvPr/>
        </p:nvSpPr>
        <p:spPr>
          <a:xfrm>
            <a:off x="2657246" y="1837944"/>
            <a:ext cx="292608" cy="292608"/>
          </a:xfrm>
          <a:prstGeom prst="ellipse">
            <a:avLst/>
          </a:prstGeom>
          <a:solidFill>
            <a:srgbClr val="15803D"/>
          </a:solidFill>
          <a:ln w="19050">
            <a:solidFill>
              <a:srgbClr val="FFFFFF"/>
            </a:solidFill>
            <a:prstDash val="solid"/>
          </a:ln>
        </p:spPr>
      </p:sp>
      <p:sp>
        <p:nvSpPr>
          <p:cNvPr id="23" name="Text 21"/>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4" name="Text 22"/>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Transformar</a:t>
            </a:r>
            <a:endParaRPr lang="en-US" sz="1200" dirty="0"/>
          </a:p>
        </p:txBody>
      </p:sp>
      <p:sp>
        <p:nvSpPr>
          <p:cNvPr id="25" name="Text 23"/>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"Crear oportunidad" → abre Dynamics</a:t>
            </a:r>
            <a:endParaRPr lang="en-US" sz="950" dirty="0"/>
          </a:p>
        </p:txBody>
      </p:sp>
      <p:sp>
        <p:nvSpPr>
          <p:cNvPr id="26" name="Text 24"/>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7" name="Shape 25"/>
          <p:cNvSpPr/>
          <p:nvPr/>
        </p:nvSpPr>
        <p:spPr>
          <a:xfrm>
            <a:off x="5067605"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28" name="Shape 26"/>
          <p:cNvSpPr/>
          <p:nvPr/>
        </p:nvSpPr>
        <p:spPr>
          <a:xfrm>
            <a:off x="5067605" y="1965960"/>
            <a:ext cx="2053742" cy="54864"/>
          </a:xfrm>
          <a:prstGeom prst="rect">
            <a:avLst/>
          </a:prstGeom>
          <a:solidFill>
            <a:srgbClr val="2563EB"/>
          </a:solidFill>
          <a:ln w="12700">
            <a:solidFill>
              <a:srgbClr val="2563EB"/>
            </a:solidFill>
            <a:prstDash val="solid"/>
          </a:ln>
        </p:spPr>
      </p:sp>
      <p:sp>
        <p:nvSpPr>
          <p:cNvPr id="29" name="Shape 27"/>
          <p:cNvSpPr/>
          <p:nvPr/>
        </p:nvSpPr>
        <p:spPr>
          <a:xfrm>
            <a:off x="4939589" y="1837944"/>
            <a:ext cx="292608" cy="292608"/>
          </a:xfrm>
          <a:prstGeom prst="ellipse">
            <a:avLst/>
          </a:prstGeom>
          <a:solidFill>
            <a:srgbClr val="2563EB"/>
          </a:solidFill>
          <a:ln w="19050">
            <a:solidFill>
              <a:srgbClr val="FFFFFF"/>
            </a:solidFill>
            <a:prstDash val="solid"/>
          </a:ln>
        </p:spPr>
      </p:sp>
      <p:sp>
        <p:nvSpPr>
          <p:cNvPr id="30" name="Text 28"/>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9"/>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Creación</a:t>
            </a:r>
            <a:endParaRPr lang="en-US" sz="1200" dirty="0"/>
          </a:p>
        </p:txBody>
      </p:sp>
      <p:sp>
        <p:nvSpPr>
          <p:cNvPr id="32" name="Text 30"/>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Registro maestro WIP en Dynamics</a:t>
            </a:r>
            <a:endParaRPr lang="en-US" sz="950" dirty="0"/>
          </a:p>
        </p:txBody>
      </p:sp>
      <p:sp>
        <p:nvSpPr>
          <p:cNvPr id="33" name="Text 31"/>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4" name="Shape 32"/>
          <p:cNvSpPr/>
          <p:nvPr/>
        </p:nvSpPr>
        <p:spPr>
          <a:xfrm>
            <a:off x="7349947"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35" name="Shape 33"/>
          <p:cNvSpPr/>
          <p:nvPr/>
        </p:nvSpPr>
        <p:spPr>
          <a:xfrm>
            <a:off x="7349947" y="1965960"/>
            <a:ext cx="2053742" cy="54864"/>
          </a:xfrm>
          <a:prstGeom prst="rect">
            <a:avLst/>
          </a:prstGeom>
          <a:solidFill>
            <a:srgbClr val="2563EB"/>
          </a:solidFill>
          <a:ln w="12700">
            <a:solidFill>
              <a:srgbClr val="2563EB"/>
            </a:solidFill>
            <a:prstDash val="solid"/>
          </a:ln>
        </p:spPr>
      </p:sp>
      <p:sp>
        <p:nvSpPr>
          <p:cNvPr id="36" name="Shape 34"/>
          <p:cNvSpPr/>
          <p:nvPr/>
        </p:nvSpPr>
        <p:spPr>
          <a:xfrm>
            <a:off x="7221931" y="1837944"/>
            <a:ext cx="292608" cy="292608"/>
          </a:xfrm>
          <a:prstGeom prst="ellipse">
            <a:avLst/>
          </a:prstGeom>
          <a:solidFill>
            <a:srgbClr val="2563EB"/>
          </a:solidFill>
          <a:ln w="19050">
            <a:solidFill>
              <a:srgbClr val="FFFFFF"/>
            </a:solidFill>
            <a:prstDash val="solid"/>
          </a:ln>
        </p:spPr>
      </p:sp>
      <p:sp>
        <p:nvSpPr>
          <p:cNvPr id="37" name="Text 35"/>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8" name="Text 36"/>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Sync vuelta</a:t>
            </a:r>
            <a:endParaRPr lang="en-US" sz="1200" dirty="0"/>
          </a:p>
        </p:txBody>
      </p:sp>
      <p:sp>
        <p:nvSpPr>
          <p:cNvPr id="39" name="Text 37"/>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Visible en PDB · solo lectura</a:t>
            </a:r>
            <a:endParaRPr lang="en-US" sz="950" dirty="0"/>
          </a:p>
        </p:txBody>
      </p:sp>
      <p:sp>
        <p:nvSpPr>
          <p:cNvPr id="40" name="Text 38"/>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1" name="Shape 39"/>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2" name="Shape 40"/>
          <p:cNvSpPr/>
          <p:nvPr/>
        </p:nvSpPr>
        <p:spPr>
          <a:xfrm>
            <a:off x="9632290" y="1965960"/>
            <a:ext cx="2053742" cy="54864"/>
          </a:xfrm>
          <a:prstGeom prst="rect">
            <a:avLst/>
          </a:prstGeom>
          <a:solidFill>
            <a:srgbClr val="15803D"/>
          </a:solidFill>
          <a:ln w="12700">
            <a:solidFill>
              <a:srgbClr val="15803D"/>
            </a:solidFill>
            <a:prstDash val="solid"/>
          </a:ln>
        </p:spPr>
      </p:sp>
      <p:sp>
        <p:nvSpPr>
          <p:cNvPr id="43" name="Shape 41"/>
          <p:cNvSpPr/>
          <p:nvPr/>
        </p:nvSpPr>
        <p:spPr>
          <a:xfrm>
            <a:off x="9504274" y="1837944"/>
            <a:ext cx="292608" cy="292608"/>
          </a:xfrm>
          <a:prstGeom prst="ellipse">
            <a:avLst/>
          </a:prstGeom>
          <a:solidFill>
            <a:srgbClr val="15803D"/>
          </a:solidFill>
          <a:ln w="19050">
            <a:solidFill>
              <a:srgbClr val="FFFFFF"/>
            </a:solidFill>
            <a:prstDash val="solid"/>
          </a:ln>
        </p:spPr>
      </p:sp>
      <p:sp>
        <p:nvSpPr>
          <p:cNvPr id="44" name="Text 42"/>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5" name="Text 43"/>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Seguimiento</a:t>
            </a:r>
            <a:endParaRPr lang="en-US" sz="1200" dirty="0"/>
          </a:p>
        </p:txBody>
      </p:sp>
      <p:sp>
        <p:nvSpPr>
          <p:cNvPr id="46" name="Text 44"/>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Vinculaciones · actividades · negociación</a:t>
            </a:r>
            <a:endParaRPr lang="en-US" sz="950" dirty="0"/>
          </a:p>
        </p:txBody>
      </p:sp>
      <p:sp>
        <p:nvSpPr>
          <p:cNvPr id="47" name="Shape 45"/>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8" name="Text 46"/>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9" name="Text 47"/>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La Oportunidad NO es un estadio del ciclo: es el paraguas. Desde 0% a 100% de probabilidad. Dynamics es el sistema maestro: PDB lanza la transición y consume el registro sincronizado. Mandatos, Propuestas y Negociaciones cuelgan obligatoriamente de una Oportunidad.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07 · Producto</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09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Activo — base maestra del inmueble</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Estructura física · independiente · puede existir sin Cuenta-Propietario.</a:t>
            </a:r>
            <a:endParaRPr lang="en-US" sz="1150" dirty="0"/>
          </a:p>
        </p:txBody>
      </p:sp>
      <p:sp>
        <p:nvSpPr>
          <p:cNvPr id="10" name="Text 8"/>
          <p:cNvSpPr/>
          <p:nvPr/>
        </p:nvSpPr>
        <p:spPr>
          <a:xfrm>
            <a:off x="502920" y="1673352"/>
            <a:ext cx="11183112"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Shape 9"/>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2" name="Shape 10"/>
          <p:cNvSpPr/>
          <p:nvPr/>
        </p:nvSpPr>
        <p:spPr>
          <a:xfrm>
            <a:off x="502920" y="1965960"/>
            <a:ext cx="2053742" cy="54864"/>
          </a:xfrm>
          <a:prstGeom prst="rect">
            <a:avLst/>
          </a:prstGeom>
          <a:solidFill>
            <a:srgbClr val="15803D"/>
          </a:solidFill>
          <a:ln w="12700">
            <a:solidFill>
              <a:srgbClr val="15803D"/>
            </a:solidFill>
            <a:prstDash val="solid"/>
          </a:ln>
        </p:spPr>
      </p:sp>
      <p:sp>
        <p:nvSpPr>
          <p:cNvPr id="13" name="Shape 11"/>
          <p:cNvSpPr/>
          <p:nvPr/>
        </p:nvSpPr>
        <p:spPr>
          <a:xfrm>
            <a:off x="374904" y="1837944"/>
            <a:ext cx="292608" cy="292608"/>
          </a:xfrm>
          <a:prstGeom prst="ellipse">
            <a:avLst/>
          </a:prstGeom>
          <a:solidFill>
            <a:srgbClr val="15803D"/>
          </a:solidFill>
          <a:ln w="19050">
            <a:solidFill>
              <a:srgbClr val="FFFFFF"/>
            </a:solidFill>
            <a:prstDash val="solid"/>
          </a:ln>
        </p:spPr>
      </p:sp>
      <p:sp>
        <p:nvSpPr>
          <p:cNvPr id="14" name="Text 12"/>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5" name="Text 13"/>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Alta</a:t>
            </a:r>
            <a:endParaRPr lang="en-US" sz="1200" dirty="0"/>
          </a:p>
        </p:txBody>
      </p:sp>
      <p:sp>
        <p:nvSpPr>
          <p:cNvPr id="16" name="Text 14"/>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Ref · dirección · uso · SBA</a:t>
            </a:r>
            <a:endParaRPr lang="en-US" sz="950" dirty="0"/>
          </a:p>
        </p:txBody>
      </p:sp>
      <p:sp>
        <p:nvSpPr>
          <p:cNvPr id="17" name="Text 15"/>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9" name="Shape 17"/>
          <p:cNvSpPr/>
          <p:nvPr/>
        </p:nvSpPr>
        <p:spPr>
          <a:xfrm>
            <a:off x="2785262" y="1965960"/>
            <a:ext cx="2053742" cy="54864"/>
          </a:xfrm>
          <a:prstGeom prst="rect">
            <a:avLst/>
          </a:prstGeom>
          <a:solidFill>
            <a:srgbClr val="15803D"/>
          </a:solidFill>
          <a:ln w="12700">
            <a:solidFill>
              <a:srgbClr val="15803D"/>
            </a:solidFill>
            <a:prstDash val="solid"/>
          </a:ln>
        </p:spPr>
      </p:sp>
      <p:sp>
        <p:nvSpPr>
          <p:cNvPr id="20" name="Shape 18"/>
          <p:cNvSpPr/>
          <p:nvPr/>
        </p:nvSpPr>
        <p:spPr>
          <a:xfrm>
            <a:off x="2657246" y="1837944"/>
            <a:ext cx="292608" cy="292608"/>
          </a:xfrm>
          <a:prstGeom prst="ellipse">
            <a:avLst/>
          </a:prstGeom>
          <a:solidFill>
            <a:srgbClr val="15803D"/>
          </a:solidFill>
          <a:ln w="19050">
            <a:solidFill>
              <a:srgbClr val="FFFFFF"/>
            </a:solidFill>
            <a:prstDash val="solid"/>
          </a:ln>
        </p:spPr>
      </p:sp>
      <p:sp>
        <p:nvSpPr>
          <p:cNvPr id="21" name="Text 19"/>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2" name="Text 20"/>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Stacking Plan</a:t>
            </a:r>
            <a:endParaRPr lang="en-US" sz="1200" dirty="0"/>
          </a:p>
        </p:txBody>
      </p:sp>
      <p:sp>
        <p:nvSpPr>
          <p:cNvPr id="23" name="Text 21"/>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Plantas · unidades · usos · arr/prop</a:t>
            </a:r>
            <a:endParaRPr lang="en-US" sz="950" dirty="0"/>
          </a:p>
        </p:txBody>
      </p:sp>
      <p:sp>
        <p:nvSpPr>
          <p:cNvPr id="24" name="Text 22"/>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5" name="Shape 23"/>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6" name="Shape 24"/>
          <p:cNvSpPr/>
          <p:nvPr/>
        </p:nvSpPr>
        <p:spPr>
          <a:xfrm>
            <a:off x="5067605" y="1965960"/>
            <a:ext cx="2053742" cy="54864"/>
          </a:xfrm>
          <a:prstGeom prst="rect">
            <a:avLst/>
          </a:prstGeom>
          <a:solidFill>
            <a:srgbClr val="15803D"/>
          </a:solidFill>
          <a:ln w="12700">
            <a:solidFill>
              <a:srgbClr val="15803D"/>
            </a:solidFill>
            <a:prstDash val="solid"/>
          </a:ln>
        </p:spPr>
      </p:sp>
      <p:sp>
        <p:nvSpPr>
          <p:cNvPr id="27" name="Shape 25"/>
          <p:cNvSpPr/>
          <p:nvPr/>
        </p:nvSpPr>
        <p:spPr>
          <a:xfrm>
            <a:off x="4939589" y="1837944"/>
            <a:ext cx="292608" cy="292608"/>
          </a:xfrm>
          <a:prstGeom prst="ellipse">
            <a:avLst/>
          </a:prstGeom>
          <a:solidFill>
            <a:srgbClr val="15803D"/>
          </a:solidFill>
          <a:ln w="19050">
            <a:solidFill>
              <a:srgbClr val="FFFFFF"/>
            </a:solidFill>
            <a:prstDash val="solid"/>
          </a:ln>
        </p:spPr>
      </p:sp>
      <p:sp>
        <p:nvSpPr>
          <p:cNvPr id="28" name="Text 26"/>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7"/>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Vinculación</a:t>
            </a:r>
            <a:endParaRPr lang="en-US" sz="1200" dirty="0"/>
          </a:p>
        </p:txBody>
      </p:sp>
      <p:sp>
        <p:nvSpPr>
          <p:cNvPr id="30" name="Text 28"/>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Cuenta-Propietario (opcional pero recomendado)</a:t>
            </a:r>
            <a:endParaRPr lang="en-US" sz="950" dirty="0"/>
          </a:p>
        </p:txBody>
      </p:sp>
      <p:sp>
        <p:nvSpPr>
          <p:cNvPr id="31" name="Text 29"/>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2" name="Shape 30"/>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3" name="Shape 31"/>
          <p:cNvSpPr/>
          <p:nvPr/>
        </p:nvSpPr>
        <p:spPr>
          <a:xfrm>
            <a:off x="7349947" y="1965960"/>
            <a:ext cx="2053742" cy="54864"/>
          </a:xfrm>
          <a:prstGeom prst="rect">
            <a:avLst/>
          </a:prstGeom>
          <a:solidFill>
            <a:srgbClr val="15803D"/>
          </a:solidFill>
          <a:ln w="12700">
            <a:solidFill>
              <a:srgbClr val="15803D"/>
            </a:solidFill>
            <a:prstDash val="solid"/>
          </a:ln>
        </p:spPr>
      </p:sp>
      <p:sp>
        <p:nvSpPr>
          <p:cNvPr id="34" name="Shape 32"/>
          <p:cNvSpPr/>
          <p:nvPr/>
        </p:nvSpPr>
        <p:spPr>
          <a:xfrm>
            <a:off x="7221931" y="1837944"/>
            <a:ext cx="292608" cy="292608"/>
          </a:xfrm>
          <a:prstGeom prst="ellipse">
            <a:avLst/>
          </a:prstGeom>
          <a:solidFill>
            <a:srgbClr val="15803D"/>
          </a:solidFill>
          <a:ln w="19050">
            <a:solidFill>
              <a:srgbClr val="FFFFFF"/>
            </a:solidFill>
            <a:prstDash val="solid"/>
          </a:ln>
        </p:spPr>
      </p:sp>
      <p:sp>
        <p:nvSpPr>
          <p:cNvPr id="35" name="Text 33"/>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Publicación</a:t>
            </a:r>
            <a:endParaRPr lang="en-US" sz="1200" dirty="0"/>
          </a:p>
        </p:txBody>
      </p:sp>
      <p:sp>
        <p:nvSpPr>
          <p:cNvPr id="37" name="Text 35"/>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Vía Oferta · disponibilidad al mercado</a:t>
            </a:r>
            <a:endParaRPr lang="en-US" sz="950" dirty="0"/>
          </a:p>
        </p:txBody>
      </p:sp>
      <p:sp>
        <p:nvSpPr>
          <p:cNvPr id="38" name="Text 36"/>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9" name="Shape 37"/>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0" name="Shape 38"/>
          <p:cNvSpPr/>
          <p:nvPr/>
        </p:nvSpPr>
        <p:spPr>
          <a:xfrm>
            <a:off x="9632290" y="1965960"/>
            <a:ext cx="2053742" cy="54864"/>
          </a:xfrm>
          <a:prstGeom prst="rect">
            <a:avLst/>
          </a:prstGeom>
          <a:solidFill>
            <a:srgbClr val="15803D"/>
          </a:solidFill>
          <a:ln w="12700">
            <a:solidFill>
              <a:srgbClr val="15803D"/>
            </a:solidFill>
            <a:prstDash val="solid"/>
          </a:ln>
        </p:spPr>
      </p:sp>
      <p:sp>
        <p:nvSpPr>
          <p:cNvPr id="41" name="Shape 39"/>
          <p:cNvSpPr/>
          <p:nvPr/>
        </p:nvSpPr>
        <p:spPr>
          <a:xfrm>
            <a:off x="9504274" y="1837944"/>
            <a:ext cx="292608" cy="292608"/>
          </a:xfrm>
          <a:prstGeom prst="ellipse">
            <a:avLst/>
          </a:prstGeom>
          <a:solidFill>
            <a:srgbClr val="15803D"/>
          </a:solidFill>
          <a:ln w="19050">
            <a:solidFill>
              <a:srgbClr val="FFFFFF"/>
            </a:solidFill>
            <a:prstDash val="solid"/>
          </a:ln>
        </p:spPr>
      </p:sp>
      <p:sp>
        <p:nvSpPr>
          <p:cNvPr id="42" name="Text 40"/>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3" name="Text 41"/>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KPIs derivados</a:t>
            </a:r>
            <a:endParaRPr lang="en-US" sz="1200" dirty="0"/>
          </a:p>
        </p:txBody>
      </p:sp>
      <p:sp>
        <p:nvSpPr>
          <p:cNvPr id="44" name="Text 42"/>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Ocupación · días en mercado (de Ofertas)</a:t>
            </a:r>
            <a:endParaRPr lang="en-US" sz="950" dirty="0"/>
          </a:p>
        </p:txBody>
      </p:sp>
      <p:sp>
        <p:nvSpPr>
          <p:cNvPr id="45" name="Shape 43"/>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6" name="Text 44"/>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7" name="Text 45"/>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Activo NO almacena disponibilidad: vive siempre en la Oferta. La ficha del Activo puede mostrar KPIs agregados (ocupación, renta promedio) calculados desde las Ofertas vinculadas, pero los datos no se persisten en él. El Stacking Plan se construye aunque no haya propietario conocido.</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08 · Producto</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10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Stacking Plan — distribución del edificio</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Visualización por plantas · usos · propietarios · arrendatarios · ofertas. Componente único compartido.</a:t>
            </a:r>
            <a:endParaRPr lang="en-US" sz="1150" dirty="0"/>
          </a:p>
        </p:txBody>
      </p:sp>
      <p:sp>
        <p:nvSpPr>
          <p:cNvPr id="10" name="Text 8"/>
          <p:cNvSpPr/>
          <p:nvPr/>
        </p:nvSpPr>
        <p:spPr>
          <a:xfrm>
            <a:off x="502920" y="1673352"/>
            <a:ext cx="11183112"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Shape 9"/>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2" name="Shape 10"/>
          <p:cNvSpPr/>
          <p:nvPr/>
        </p:nvSpPr>
        <p:spPr>
          <a:xfrm>
            <a:off x="502920" y="1965960"/>
            <a:ext cx="2053742" cy="54864"/>
          </a:xfrm>
          <a:prstGeom prst="rect">
            <a:avLst/>
          </a:prstGeom>
          <a:solidFill>
            <a:srgbClr val="15803D"/>
          </a:solidFill>
          <a:ln w="12700">
            <a:solidFill>
              <a:srgbClr val="15803D"/>
            </a:solidFill>
            <a:prstDash val="solid"/>
          </a:ln>
        </p:spPr>
      </p:sp>
      <p:sp>
        <p:nvSpPr>
          <p:cNvPr id="13" name="Shape 11"/>
          <p:cNvSpPr/>
          <p:nvPr/>
        </p:nvSpPr>
        <p:spPr>
          <a:xfrm>
            <a:off x="374904" y="1837944"/>
            <a:ext cx="292608" cy="292608"/>
          </a:xfrm>
          <a:prstGeom prst="ellipse">
            <a:avLst/>
          </a:prstGeom>
          <a:solidFill>
            <a:srgbClr val="15803D"/>
          </a:solidFill>
          <a:ln w="19050">
            <a:solidFill>
              <a:srgbClr val="FFFFFF"/>
            </a:solidFill>
            <a:prstDash val="solid"/>
          </a:ln>
        </p:spPr>
      </p:sp>
      <p:sp>
        <p:nvSpPr>
          <p:cNvPr id="14" name="Text 12"/>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5" name="Text 13"/>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Configuración</a:t>
            </a:r>
            <a:endParaRPr lang="en-US" sz="1200" dirty="0"/>
          </a:p>
        </p:txBody>
      </p:sp>
      <p:sp>
        <p:nvSpPr>
          <p:cNvPr id="16" name="Text 14"/>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Edificios · plantas sobre/bajo rasante · sup. planta tipo</a:t>
            </a:r>
            <a:endParaRPr lang="en-US" sz="950" dirty="0"/>
          </a:p>
        </p:txBody>
      </p:sp>
      <p:sp>
        <p:nvSpPr>
          <p:cNvPr id="17" name="Text 15"/>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9" name="Shape 17"/>
          <p:cNvSpPr/>
          <p:nvPr/>
        </p:nvSpPr>
        <p:spPr>
          <a:xfrm>
            <a:off x="2785262" y="1965960"/>
            <a:ext cx="2053742" cy="54864"/>
          </a:xfrm>
          <a:prstGeom prst="rect">
            <a:avLst/>
          </a:prstGeom>
          <a:solidFill>
            <a:srgbClr val="15803D"/>
          </a:solidFill>
          <a:ln w="12700">
            <a:solidFill>
              <a:srgbClr val="15803D"/>
            </a:solidFill>
            <a:prstDash val="solid"/>
          </a:ln>
        </p:spPr>
      </p:sp>
      <p:sp>
        <p:nvSpPr>
          <p:cNvPr id="20" name="Shape 18"/>
          <p:cNvSpPr/>
          <p:nvPr/>
        </p:nvSpPr>
        <p:spPr>
          <a:xfrm>
            <a:off x="2657246" y="1837944"/>
            <a:ext cx="292608" cy="292608"/>
          </a:xfrm>
          <a:prstGeom prst="ellipse">
            <a:avLst/>
          </a:prstGeom>
          <a:solidFill>
            <a:srgbClr val="15803D"/>
          </a:solidFill>
          <a:ln w="19050">
            <a:solidFill>
              <a:srgbClr val="FFFFFF"/>
            </a:solidFill>
            <a:prstDash val="solid"/>
          </a:ln>
        </p:spPr>
      </p:sp>
      <p:sp>
        <p:nvSpPr>
          <p:cNvPr id="21" name="Text 19"/>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2" name="Text 20"/>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Capa Uso</a:t>
            </a:r>
            <a:endParaRPr lang="en-US" sz="1200" dirty="0"/>
          </a:p>
        </p:txBody>
      </p:sp>
      <p:sp>
        <p:nvSpPr>
          <p:cNvPr id="23" name="Text 21"/>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Usos por planta: oficinas · retail · parking · común</a:t>
            </a:r>
            <a:endParaRPr lang="en-US" sz="950" dirty="0"/>
          </a:p>
        </p:txBody>
      </p:sp>
      <p:sp>
        <p:nvSpPr>
          <p:cNvPr id="24" name="Text 22"/>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5" name="Shape 23"/>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6" name="Shape 24"/>
          <p:cNvSpPr/>
          <p:nvPr/>
        </p:nvSpPr>
        <p:spPr>
          <a:xfrm>
            <a:off x="5067605" y="1965960"/>
            <a:ext cx="2053742" cy="54864"/>
          </a:xfrm>
          <a:prstGeom prst="rect">
            <a:avLst/>
          </a:prstGeom>
          <a:solidFill>
            <a:srgbClr val="15803D"/>
          </a:solidFill>
          <a:ln w="12700">
            <a:solidFill>
              <a:srgbClr val="15803D"/>
            </a:solidFill>
            <a:prstDash val="solid"/>
          </a:ln>
        </p:spPr>
      </p:sp>
      <p:sp>
        <p:nvSpPr>
          <p:cNvPr id="27" name="Shape 25"/>
          <p:cNvSpPr/>
          <p:nvPr/>
        </p:nvSpPr>
        <p:spPr>
          <a:xfrm>
            <a:off x="4939589" y="1837944"/>
            <a:ext cx="292608" cy="292608"/>
          </a:xfrm>
          <a:prstGeom prst="ellipse">
            <a:avLst/>
          </a:prstGeom>
          <a:solidFill>
            <a:srgbClr val="15803D"/>
          </a:solidFill>
          <a:ln w="19050">
            <a:solidFill>
              <a:srgbClr val="FFFFFF"/>
            </a:solidFill>
            <a:prstDash val="solid"/>
          </a:ln>
        </p:spPr>
      </p:sp>
      <p:sp>
        <p:nvSpPr>
          <p:cNvPr id="28" name="Text 26"/>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7"/>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Capa Propiedad</a:t>
            </a:r>
            <a:endParaRPr lang="en-US" sz="1200" dirty="0"/>
          </a:p>
        </p:txBody>
      </p:sp>
      <p:sp>
        <p:nvSpPr>
          <p:cNvPr id="30" name="Text 28"/>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Propietarios asignados a plantas o unidades</a:t>
            </a:r>
            <a:endParaRPr lang="en-US" sz="950" dirty="0"/>
          </a:p>
        </p:txBody>
      </p:sp>
      <p:sp>
        <p:nvSpPr>
          <p:cNvPr id="31" name="Text 29"/>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2" name="Shape 30"/>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3" name="Shape 31"/>
          <p:cNvSpPr/>
          <p:nvPr/>
        </p:nvSpPr>
        <p:spPr>
          <a:xfrm>
            <a:off x="7349947" y="1965960"/>
            <a:ext cx="2053742" cy="54864"/>
          </a:xfrm>
          <a:prstGeom prst="rect">
            <a:avLst/>
          </a:prstGeom>
          <a:solidFill>
            <a:srgbClr val="15803D"/>
          </a:solidFill>
          <a:ln w="12700">
            <a:solidFill>
              <a:srgbClr val="15803D"/>
            </a:solidFill>
            <a:prstDash val="solid"/>
          </a:ln>
        </p:spPr>
      </p:sp>
      <p:sp>
        <p:nvSpPr>
          <p:cNvPr id="34" name="Shape 32"/>
          <p:cNvSpPr/>
          <p:nvPr/>
        </p:nvSpPr>
        <p:spPr>
          <a:xfrm>
            <a:off x="7221931" y="1837944"/>
            <a:ext cx="292608" cy="292608"/>
          </a:xfrm>
          <a:prstGeom prst="ellipse">
            <a:avLst/>
          </a:prstGeom>
          <a:solidFill>
            <a:srgbClr val="15803D"/>
          </a:solidFill>
          <a:ln w="19050">
            <a:solidFill>
              <a:srgbClr val="FFFFFF"/>
            </a:solidFill>
            <a:prstDash val="solid"/>
          </a:ln>
        </p:spPr>
      </p:sp>
      <p:sp>
        <p:nvSpPr>
          <p:cNvPr id="35" name="Text 33"/>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Capa Arr/Of.</a:t>
            </a:r>
            <a:endParaRPr lang="en-US" sz="1200" dirty="0"/>
          </a:p>
        </p:txBody>
      </p:sp>
      <p:sp>
        <p:nvSpPr>
          <p:cNvPr id="37" name="Text 35"/>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Arrendatarios actuales + Ofertas activas</a:t>
            </a:r>
            <a:endParaRPr lang="en-US" sz="950" dirty="0"/>
          </a:p>
        </p:txBody>
      </p:sp>
      <p:sp>
        <p:nvSpPr>
          <p:cNvPr id="38" name="Text 36"/>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9" name="Shape 37"/>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0" name="Shape 38"/>
          <p:cNvSpPr/>
          <p:nvPr/>
        </p:nvSpPr>
        <p:spPr>
          <a:xfrm>
            <a:off x="9632290" y="1965960"/>
            <a:ext cx="2053742" cy="54864"/>
          </a:xfrm>
          <a:prstGeom prst="rect">
            <a:avLst/>
          </a:prstGeom>
          <a:solidFill>
            <a:srgbClr val="15803D"/>
          </a:solidFill>
          <a:ln w="12700">
            <a:solidFill>
              <a:srgbClr val="15803D"/>
            </a:solidFill>
            <a:prstDash val="solid"/>
          </a:ln>
        </p:spPr>
      </p:sp>
      <p:sp>
        <p:nvSpPr>
          <p:cNvPr id="41" name="Shape 39"/>
          <p:cNvSpPr/>
          <p:nvPr/>
        </p:nvSpPr>
        <p:spPr>
          <a:xfrm>
            <a:off x="9504274" y="1837944"/>
            <a:ext cx="292608" cy="292608"/>
          </a:xfrm>
          <a:prstGeom prst="ellipse">
            <a:avLst/>
          </a:prstGeom>
          <a:solidFill>
            <a:srgbClr val="15803D"/>
          </a:solidFill>
          <a:ln w="19050">
            <a:solidFill>
              <a:srgbClr val="FFFFFF"/>
            </a:solidFill>
            <a:prstDash val="solid"/>
          </a:ln>
        </p:spPr>
      </p:sp>
      <p:sp>
        <p:nvSpPr>
          <p:cNvPr id="42" name="Text 40"/>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3" name="Text 41"/>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Edición</a:t>
            </a:r>
            <a:endParaRPr lang="en-US" sz="1200" dirty="0"/>
          </a:p>
        </p:txBody>
      </p:sp>
      <p:sp>
        <p:nvSpPr>
          <p:cNvPr id="44" name="Text 42"/>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Drag &amp; drop · split · convertir Oferta → Arrendatario</a:t>
            </a:r>
            <a:endParaRPr lang="en-US" sz="950" dirty="0"/>
          </a:p>
        </p:txBody>
      </p:sp>
      <p:sp>
        <p:nvSpPr>
          <p:cNvPr id="45" name="Shape 43"/>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6" name="Text 44"/>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7" name="Text 45"/>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El Stacking Plan es un componente único reutilizable. Se accede desde la ficha del Activo y desde la ficha de la Oferta — siempre el mismo componente, solo cambia la capa por defecto. Editar desde Oferta persiste igual que desde Activo (autosave a stacking_data).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09 · Producto</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11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Oferta — disponibilidad al mercado</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Producto comercial · cuelga del Activo · existe antes que la demanda concreta que la captura.</a:t>
            </a:r>
            <a:endParaRPr lang="en-US" sz="1150" dirty="0"/>
          </a:p>
        </p:txBody>
      </p:sp>
      <p:sp>
        <p:nvSpPr>
          <p:cNvPr id="10" name="Text 8"/>
          <p:cNvSpPr/>
          <p:nvPr/>
        </p:nvSpPr>
        <p:spPr>
          <a:xfrm>
            <a:off x="502920" y="1673352"/>
            <a:ext cx="11183112"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Shape 9"/>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2" name="Shape 10"/>
          <p:cNvSpPr/>
          <p:nvPr/>
        </p:nvSpPr>
        <p:spPr>
          <a:xfrm>
            <a:off x="502920" y="1965960"/>
            <a:ext cx="2053742" cy="54864"/>
          </a:xfrm>
          <a:prstGeom prst="rect">
            <a:avLst/>
          </a:prstGeom>
          <a:solidFill>
            <a:srgbClr val="15803D"/>
          </a:solidFill>
          <a:ln w="12700">
            <a:solidFill>
              <a:srgbClr val="15803D"/>
            </a:solidFill>
            <a:prstDash val="solid"/>
          </a:ln>
        </p:spPr>
      </p:sp>
      <p:sp>
        <p:nvSpPr>
          <p:cNvPr id="13" name="Shape 11"/>
          <p:cNvSpPr/>
          <p:nvPr/>
        </p:nvSpPr>
        <p:spPr>
          <a:xfrm>
            <a:off x="374904" y="1837944"/>
            <a:ext cx="292608" cy="292608"/>
          </a:xfrm>
          <a:prstGeom prst="ellipse">
            <a:avLst/>
          </a:prstGeom>
          <a:solidFill>
            <a:srgbClr val="15803D"/>
          </a:solidFill>
          <a:ln w="19050">
            <a:solidFill>
              <a:srgbClr val="FFFFFF"/>
            </a:solidFill>
            <a:prstDash val="solid"/>
          </a:ln>
        </p:spPr>
      </p:sp>
      <p:sp>
        <p:nvSpPr>
          <p:cNvPr id="14" name="Text 12"/>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5" name="Text 13"/>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Creación</a:t>
            </a:r>
            <a:endParaRPr lang="en-US" sz="1200" dirty="0"/>
          </a:p>
        </p:txBody>
      </p:sp>
      <p:sp>
        <p:nvSpPr>
          <p:cNvPr id="16" name="Text 14"/>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Sobre el Activo (FK obligatorio)</a:t>
            </a:r>
            <a:endParaRPr lang="en-US" sz="950" dirty="0"/>
          </a:p>
        </p:txBody>
      </p:sp>
      <p:sp>
        <p:nvSpPr>
          <p:cNvPr id="17" name="Text 15"/>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9" name="Shape 17"/>
          <p:cNvSpPr/>
          <p:nvPr/>
        </p:nvSpPr>
        <p:spPr>
          <a:xfrm>
            <a:off x="2785262" y="1965960"/>
            <a:ext cx="2053742" cy="54864"/>
          </a:xfrm>
          <a:prstGeom prst="rect">
            <a:avLst/>
          </a:prstGeom>
          <a:solidFill>
            <a:srgbClr val="15803D"/>
          </a:solidFill>
          <a:ln w="12700">
            <a:solidFill>
              <a:srgbClr val="15803D"/>
            </a:solidFill>
            <a:prstDash val="solid"/>
          </a:ln>
        </p:spPr>
      </p:sp>
      <p:sp>
        <p:nvSpPr>
          <p:cNvPr id="20" name="Shape 18"/>
          <p:cNvSpPr/>
          <p:nvPr/>
        </p:nvSpPr>
        <p:spPr>
          <a:xfrm>
            <a:off x="2657246" y="1837944"/>
            <a:ext cx="292608" cy="292608"/>
          </a:xfrm>
          <a:prstGeom prst="ellipse">
            <a:avLst/>
          </a:prstGeom>
          <a:solidFill>
            <a:srgbClr val="15803D"/>
          </a:solidFill>
          <a:ln w="19050">
            <a:solidFill>
              <a:srgbClr val="FFFFFF"/>
            </a:solidFill>
            <a:prstDash val="solid"/>
          </a:ln>
        </p:spPr>
      </p:sp>
      <p:sp>
        <p:nvSpPr>
          <p:cNvPr id="21" name="Text 19"/>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2" name="Text 20"/>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Publicación</a:t>
            </a:r>
            <a:endParaRPr lang="en-US" sz="1200" dirty="0"/>
          </a:p>
        </p:txBody>
      </p:sp>
      <p:sp>
        <p:nvSpPr>
          <p:cNvPr id="23" name="Text 21"/>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Activa al mercado · espacios · renta</a:t>
            </a:r>
            <a:endParaRPr lang="en-US" sz="950" dirty="0"/>
          </a:p>
        </p:txBody>
      </p:sp>
      <p:sp>
        <p:nvSpPr>
          <p:cNvPr id="24" name="Text 22"/>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5" name="Shape 23"/>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6" name="Shape 24"/>
          <p:cNvSpPr/>
          <p:nvPr/>
        </p:nvSpPr>
        <p:spPr>
          <a:xfrm>
            <a:off x="5067605" y="1965960"/>
            <a:ext cx="2053742" cy="54864"/>
          </a:xfrm>
          <a:prstGeom prst="rect">
            <a:avLst/>
          </a:prstGeom>
          <a:solidFill>
            <a:srgbClr val="15803D"/>
          </a:solidFill>
          <a:ln w="12700">
            <a:solidFill>
              <a:srgbClr val="15803D"/>
            </a:solidFill>
            <a:prstDash val="solid"/>
          </a:ln>
        </p:spPr>
      </p:sp>
      <p:sp>
        <p:nvSpPr>
          <p:cNvPr id="27" name="Shape 25"/>
          <p:cNvSpPr/>
          <p:nvPr/>
        </p:nvSpPr>
        <p:spPr>
          <a:xfrm>
            <a:off x="4939589" y="1837944"/>
            <a:ext cx="292608" cy="292608"/>
          </a:xfrm>
          <a:prstGeom prst="ellipse">
            <a:avLst/>
          </a:prstGeom>
          <a:solidFill>
            <a:srgbClr val="15803D"/>
          </a:solidFill>
          <a:ln w="19050">
            <a:solidFill>
              <a:srgbClr val="FFFFFF"/>
            </a:solidFill>
            <a:prstDash val="solid"/>
          </a:ln>
        </p:spPr>
      </p:sp>
      <p:sp>
        <p:nvSpPr>
          <p:cNvPr id="28" name="Text 26"/>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7"/>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Recepción</a:t>
            </a:r>
            <a:endParaRPr lang="en-US" sz="1200" dirty="0"/>
          </a:p>
        </p:txBody>
      </p:sp>
      <p:sp>
        <p:nvSpPr>
          <p:cNvPr id="30" name="Text 28"/>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Demandas que machean · interés</a:t>
            </a:r>
            <a:endParaRPr lang="en-US" sz="950" dirty="0"/>
          </a:p>
        </p:txBody>
      </p:sp>
      <p:sp>
        <p:nvSpPr>
          <p:cNvPr id="31" name="Text 29"/>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2" name="Shape 30"/>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3" name="Shape 31"/>
          <p:cNvSpPr/>
          <p:nvPr/>
        </p:nvSpPr>
        <p:spPr>
          <a:xfrm>
            <a:off x="7349947" y="1965960"/>
            <a:ext cx="2053742" cy="54864"/>
          </a:xfrm>
          <a:prstGeom prst="rect">
            <a:avLst/>
          </a:prstGeom>
          <a:solidFill>
            <a:srgbClr val="15803D"/>
          </a:solidFill>
          <a:ln w="12700">
            <a:solidFill>
              <a:srgbClr val="15803D"/>
            </a:solidFill>
            <a:prstDash val="solid"/>
          </a:ln>
        </p:spPr>
      </p:sp>
      <p:sp>
        <p:nvSpPr>
          <p:cNvPr id="34" name="Shape 32"/>
          <p:cNvSpPr/>
          <p:nvPr/>
        </p:nvSpPr>
        <p:spPr>
          <a:xfrm>
            <a:off x="7221931" y="1837944"/>
            <a:ext cx="292608" cy="292608"/>
          </a:xfrm>
          <a:prstGeom prst="ellipse">
            <a:avLst/>
          </a:prstGeom>
          <a:solidFill>
            <a:srgbClr val="15803D"/>
          </a:solidFill>
          <a:ln w="19050">
            <a:solidFill>
              <a:srgbClr val="FFFFFF"/>
            </a:solidFill>
            <a:prstDash val="solid"/>
          </a:ln>
        </p:spPr>
      </p:sp>
      <p:sp>
        <p:nvSpPr>
          <p:cNvPr id="35" name="Text 33"/>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Match</a:t>
            </a:r>
            <a:endParaRPr lang="en-US" sz="1200" dirty="0"/>
          </a:p>
        </p:txBody>
      </p:sp>
      <p:sp>
        <p:nvSpPr>
          <p:cNvPr id="37" name="Text 35"/>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Demanda concreta seleccionada</a:t>
            </a:r>
            <a:endParaRPr lang="en-US" sz="950" dirty="0"/>
          </a:p>
        </p:txBody>
      </p:sp>
      <p:sp>
        <p:nvSpPr>
          <p:cNvPr id="38" name="Text 36"/>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9" name="Shape 37"/>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0" name="Shape 38"/>
          <p:cNvSpPr/>
          <p:nvPr/>
        </p:nvSpPr>
        <p:spPr>
          <a:xfrm>
            <a:off x="9632290" y="1965960"/>
            <a:ext cx="2053742" cy="54864"/>
          </a:xfrm>
          <a:prstGeom prst="rect">
            <a:avLst/>
          </a:prstGeom>
          <a:solidFill>
            <a:srgbClr val="15803D"/>
          </a:solidFill>
          <a:ln w="12700">
            <a:solidFill>
              <a:srgbClr val="15803D"/>
            </a:solidFill>
            <a:prstDash val="solid"/>
          </a:ln>
        </p:spPr>
      </p:sp>
      <p:sp>
        <p:nvSpPr>
          <p:cNvPr id="41" name="Shape 39"/>
          <p:cNvSpPr/>
          <p:nvPr/>
        </p:nvSpPr>
        <p:spPr>
          <a:xfrm>
            <a:off x="9504274" y="1837944"/>
            <a:ext cx="292608" cy="292608"/>
          </a:xfrm>
          <a:prstGeom prst="ellipse">
            <a:avLst/>
          </a:prstGeom>
          <a:solidFill>
            <a:srgbClr val="15803D"/>
          </a:solidFill>
          <a:ln w="19050">
            <a:solidFill>
              <a:srgbClr val="FFFFFF"/>
            </a:solidFill>
            <a:prstDash val="solid"/>
          </a:ln>
        </p:spPr>
      </p:sp>
      <p:sp>
        <p:nvSpPr>
          <p:cNvPr id="42" name="Text 40"/>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3" name="Text 41"/>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Cierre</a:t>
            </a:r>
            <a:endParaRPr lang="en-US" sz="1200" dirty="0"/>
          </a:p>
        </p:txBody>
      </p:sp>
      <p:sp>
        <p:nvSpPr>
          <p:cNvPr id="44" name="Text 42"/>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Lockeada · handoff Op · retirada</a:t>
            </a:r>
            <a:endParaRPr lang="en-US" sz="950" dirty="0"/>
          </a:p>
        </p:txBody>
      </p:sp>
      <p:sp>
        <p:nvSpPr>
          <p:cNvPr id="45" name="Shape 43"/>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6" name="Text 44"/>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7" name="Text 45"/>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La Oferta es el contenedor de mercado, no el de la transacción. La transacción se cierra en la Negociación → Instrucción. Una Oferta puede dar de baja un espacio convirtiéndolo en Arrendatario sobre el Activo (flujo "cerrar oferta → crear arrendatario").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10 · Comercialización</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12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Demanda — perfil de búsqueda</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Búsqueda activa de un Cuenta-Arrendatario · matching contra Ofertas (no contra Activos sueltos).</a:t>
            </a:r>
            <a:endParaRPr lang="en-US" sz="1150" dirty="0"/>
          </a:p>
        </p:txBody>
      </p:sp>
      <p:sp>
        <p:nvSpPr>
          <p:cNvPr id="10" name="Text 8"/>
          <p:cNvSpPr/>
          <p:nvPr/>
        </p:nvSpPr>
        <p:spPr>
          <a:xfrm>
            <a:off x="502920" y="1673352"/>
            <a:ext cx="2053742"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1" name="Text 9"/>
          <p:cNvSpPr/>
          <p:nvPr/>
        </p:nvSpPr>
        <p:spPr>
          <a:xfrm>
            <a:off x="2785262" y="1673352"/>
            <a:ext cx="8900770"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2" name="Shape 10"/>
          <p:cNvSpPr/>
          <p:nvPr/>
        </p:nvSpPr>
        <p:spPr>
          <a:xfrm>
            <a:off x="502920"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13" name="Shape 11"/>
          <p:cNvSpPr/>
          <p:nvPr/>
        </p:nvSpPr>
        <p:spPr>
          <a:xfrm>
            <a:off x="502920" y="1965960"/>
            <a:ext cx="2053742" cy="54864"/>
          </a:xfrm>
          <a:prstGeom prst="rect">
            <a:avLst/>
          </a:prstGeom>
          <a:solidFill>
            <a:srgbClr val="2563EB"/>
          </a:solidFill>
          <a:ln w="12700">
            <a:solidFill>
              <a:srgbClr val="2563EB"/>
            </a:solidFill>
            <a:prstDash val="solid"/>
          </a:ln>
        </p:spPr>
      </p:sp>
      <p:sp>
        <p:nvSpPr>
          <p:cNvPr id="14" name="Shape 12"/>
          <p:cNvSpPr/>
          <p:nvPr/>
        </p:nvSpPr>
        <p:spPr>
          <a:xfrm>
            <a:off x="374904" y="1837944"/>
            <a:ext cx="292608" cy="292608"/>
          </a:xfrm>
          <a:prstGeom prst="ellipse">
            <a:avLst/>
          </a:prstGeom>
          <a:solidFill>
            <a:srgbClr val="2563EB"/>
          </a:solidFill>
          <a:ln w="19050">
            <a:solidFill>
              <a:srgbClr val="FFFFFF"/>
            </a:solidFill>
            <a:prstDash val="solid"/>
          </a:ln>
        </p:spPr>
      </p:sp>
      <p:sp>
        <p:nvSpPr>
          <p:cNvPr id="15" name="Text 13"/>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6" name="Text 14"/>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Cuenta-Arr.</a:t>
            </a:r>
            <a:endParaRPr lang="en-US" sz="1200" dirty="0"/>
          </a:p>
        </p:txBody>
      </p:sp>
      <p:sp>
        <p:nvSpPr>
          <p:cNvPr id="17" name="Text 15"/>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FK obligatorio</a:t>
            </a:r>
            <a:endParaRPr lang="en-US" sz="950" dirty="0"/>
          </a:p>
        </p:txBody>
      </p:sp>
      <p:sp>
        <p:nvSpPr>
          <p:cNvPr id="18" name="Text 16"/>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0" name="Shape 18"/>
          <p:cNvSpPr/>
          <p:nvPr/>
        </p:nvSpPr>
        <p:spPr>
          <a:xfrm>
            <a:off x="2785262" y="1965960"/>
            <a:ext cx="2053742" cy="54864"/>
          </a:xfrm>
          <a:prstGeom prst="rect">
            <a:avLst/>
          </a:prstGeom>
          <a:solidFill>
            <a:srgbClr val="15803D"/>
          </a:solidFill>
          <a:ln w="12700">
            <a:solidFill>
              <a:srgbClr val="15803D"/>
            </a:solidFill>
            <a:prstDash val="solid"/>
          </a:ln>
        </p:spPr>
      </p:sp>
      <p:sp>
        <p:nvSpPr>
          <p:cNvPr id="21" name="Shape 19"/>
          <p:cNvSpPr/>
          <p:nvPr/>
        </p:nvSpPr>
        <p:spPr>
          <a:xfrm>
            <a:off x="2657246" y="1837944"/>
            <a:ext cx="292608" cy="292608"/>
          </a:xfrm>
          <a:prstGeom prst="ellipse">
            <a:avLst/>
          </a:prstGeom>
          <a:solidFill>
            <a:srgbClr val="15803D"/>
          </a:solidFill>
          <a:ln w="19050">
            <a:solidFill>
              <a:srgbClr val="FFFFFF"/>
            </a:solidFill>
            <a:prstDash val="solid"/>
          </a:ln>
        </p:spPr>
      </p:sp>
      <p:sp>
        <p:nvSpPr>
          <p:cNvPr id="22" name="Text 20"/>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Text 21"/>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Alta Demanda</a:t>
            </a:r>
            <a:endParaRPr lang="en-US" sz="1200" dirty="0"/>
          </a:p>
        </p:txBody>
      </p:sp>
      <p:sp>
        <p:nvSpPr>
          <p:cNvPr id="24" name="Text 22"/>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Uso · sup · renta máx · zona · break</a:t>
            </a:r>
            <a:endParaRPr lang="en-US" sz="950" dirty="0"/>
          </a:p>
        </p:txBody>
      </p:sp>
      <p:sp>
        <p:nvSpPr>
          <p:cNvPr id="25" name="Text 23"/>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7" name="Shape 25"/>
          <p:cNvSpPr/>
          <p:nvPr/>
        </p:nvSpPr>
        <p:spPr>
          <a:xfrm>
            <a:off x="5067605" y="1965960"/>
            <a:ext cx="2053742" cy="54864"/>
          </a:xfrm>
          <a:prstGeom prst="rect">
            <a:avLst/>
          </a:prstGeom>
          <a:solidFill>
            <a:srgbClr val="15803D"/>
          </a:solidFill>
          <a:ln w="12700">
            <a:solidFill>
              <a:srgbClr val="15803D"/>
            </a:solidFill>
            <a:prstDash val="solid"/>
          </a:ln>
        </p:spPr>
      </p:sp>
      <p:sp>
        <p:nvSpPr>
          <p:cNvPr id="28" name="Shape 26"/>
          <p:cNvSpPr/>
          <p:nvPr/>
        </p:nvSpPr>
        <p:spPr>
          <a:xfrm>
            <a:off x="4939589" y="1837944"/>
            <a:ext cx="292608" cy="292608"/>
          </a:xfrm>
          <a:prstGeom prst="ellipse">
            <a:avLst/>
          </a:prstGeom>
          <a:solidFill>
            <a:srgbClr val="15803D"/>
          </a:solidFill>
          <a:ln w="19050">
            <a:solidFill>
              <a:srgbClr val="FFFFFF"/>
            </a:solidFill>
            <a:prstDash val="solid"/>
          </a:ln>
        </p:spPr>
      </p:sp>
      <p:sp>
        <p:nvSpPr>
          <p:cNvPr id="29" name="Text 27"/>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0" name="Text 28"/>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Matching</a:t>
            </a:r>
            <a:endParaRPr lang="en-US" sz="1200" dirty="0"/>
          </a:p>
        </p:txBody>
      </p:sp>
      <p:sp>
        <p:nvSpPr>
          <p:cNvPr id="31" name="Text 29"/>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contra Ofertas vigentes · flexible</a:t>
            </a:r>
            <a:endParaRPr lang="en-US" sz="950" dirty="0"/>
          </a:p>
        </p:txBody>
      </p:sp>
      <p:sp>
        <p:nvSpPr>
          <p:cNvPr id="32" name="Text 30"/>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4" name="Shape 32"/>
          <p:cNvSpPr/>
          <p:nvPr/>
        </p:nvSpPr>
        <p:spPr>
          <a:xfrm>
            <a:off x="7349947" y="1965960"/>
            <a:ext cx="2053742" cy="54864"/>
          </a:xfrm>
          <a:prstGeom prst="rect">
            <a:avLst/>
          </a:prstGeom>
          <a:solidFill>
            <a:srgbClr val="15803D"/>
          </a:solidFill>
          <a:ln w="12700">
            <a:solidFill>
              <a:srgbClr val="15803D"/>
            </a:solidFill>
            <a:prstDash val="solid"/>
          </a:ln>
        </p:spPr>
      </p:sp>
      <p:sp>
        <p:nvSpPr>
          <p:cNvPr id="35" name="Shape 33"/>
          <p:cNvSpPr/>
          <p:nvPr/>
        </p:nvSpPr>
        <p:spPr>
          <a:xfrm>
            <a:off x="7221931" y="1837944"/>
            <a:ext cx="292608" cy="292608"/>
          </a:xfrm>
          <a:prstGeom prst="ellipse">
            <a:avLst/>
          </a:prstGeom>
          <a:solidFill>
            <a:srgbClr val="15803D"/>
          </a:solidFill>
          <a:ln w="19050">
            <a:solidFill>
              <a:srgbClr val="FFFFFF"/>
            </a:solidFill>
            <a:prstDash val="solid"/>
          </a:ln>
        </p:spPr>
      </p:sp>
      <p:sp>
        <p:nvSpPr>
          <p:cNvPr id="36" name="Text 34"/>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Text 35"/>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Visitas</a:t>
            </a:r>
            <a:endParaRPr lang="en-US" sz="1200" dirty="0"/>
          </a:p>
        </p:txBody>
      </p:sp>
      <p:sp>
        <p:nvSpPr>
          <p:cNvPr id="38" name="Text 36"/>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Presencial · virtual · resultados</a:t>
            </a:r>
            <a:endParaRPr lang="en-US" sz="950" dirty="0"/>
          </a:p>
        </p:txBody>
      </p:sp>
      <p:sp>
        <p:nvSpPr>
          <p:cNvPr id="39" name="Text 37"/>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0" name="Shape 38"/>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1" name="Shape 39"/>
          <p:cNvSpPr/>
          <p:nvPr/>
        </p:nvSpPr>
        <p:spPr>
          <a:xfrm>
            <a:off x="9632290" y="1965960"/>
            <a:ext cx="2053742" cy="54864"/>
          </a:xfrm>
          <a:prstGeom prst="rect">
            <a:avLst/>
          </a:prstGeom>
          <a:solidFill>
            <a:srgbClr val="15803D"/>
          </a:solidFill>
          <a:ln w="12700">
            <a:solidFill>
              <a:srgbClr val="15803D"/>
            </a:solidFill>
            <a:prstDash val="solid"/>
          </a:ln>
        </p:spPr>
      </p:sp>
      <p:sp>
        <p:nvSpPr>
          <p:cNvPr id="42" name="Shape 40"/>
          <p:cNvSpPr/>
          <p:nvPr/>
        </p:nvSpPr>
        <p:spPr>
          <a:xfrm>
            <a:off x="9504274" y="1837944"/>
            <a:ext cx="292608" cy="292608"/>
          </a:xfrm>
          <a:prstGeom prst="ellipse">
            <a:avLst/>
          </a:prstGeom>
          <a:solidFill>
            <a:srgbClr val="15803D"/>
          </a:solidFill>
          <a:ln w="19050">
            <a:solidFill>
              <a:srgbClr val="FFFFFF"/>
            </a:solidFill>
            <a:prstDash val="solid"/>
          </a:ln>
        </p:spPr>
      </p:sp>
      <p:sp>
        <p:nvSpPr>
          <p:cNvPr id="43" name="Text 41"/>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4" name="Text 42"/>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Shortlist</a:t>
            </a:r>
            <a:endParaRPr lang="en-US" sz="1200" dirty="0"/>
          </a:p>
        </p:txBody>
      </p:sp>
      <p:sp>
        <p:nvSpPr>
          <p:cNvPr id="45" name="Text 43"/>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Selección final · handoff a Op WIP</a:t>
            </a:r>
            <a:endParaRPr lang="en-US" sz="950" dirty="0"/>
          </a:p>
        </p:txBody>
      </p:sp>
      <p:sp>
        <p:nvSpPr>
          <p:cNvPr id="46" name="Shape 44"/>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7" name="Text 45"/>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8" name="Text 46"/>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El matching parte de los requisitos pero permite flexibilidad comercial: rangos ampliados, alternativas razonables, opciones algo más caras o de superficie próxima. Nunca recomienda Activos sin Oferta vigente.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11 · Comercialización</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13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Visitas — inspección física</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Inspección presencial o virtual de espacios · feedback comercial estructurado.</a:t>
            </a:r>
            <a:endParaRPr lang="en-US" sz="1150" dirty="0"/>
          </a:p>
        </p:txBody>
      </p:sp>
      <p:sp>
        <p:nvSpPr>
          <p:cNvPr id="10" name="Text 8"/>
          <p:cNvSpPr/>
          <p:nvPr/>
        </p:nvSpPr>
        <p:spPr>
          <a:xfrm>
            <a:off x="502920" y="1673352"/>
            <a:ext cx="11183112"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Shape 9"/>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2" name="Shape 10"/>
          <p:cNvSpPr/>
          <p:nvPr/>
        </p:nvSpPr>
        <p:spPr>
          <a:xfrm>
            <a:off x="502920" y="1965960"/>
            <a:ext cx="2053742" cy="54864"/>
          </a:xfrm>
          <a:prstGeom prst="rect">
            <a:avLst/>
          </a:prstGeom>
          <a:solidFill>
            <a:srgbClr val="15803D"/>
          </a:solidFill>
          <a:ln w="12700">
            <a:solidFill>
              <a:srgbClr val="15803D"/>
            </a:solidFill>
            <a:prstDash val="solid"/>
          </a:ln>
        </p:spPr>
      </p:sp>
      <p:sp>
        <p:nvSpPr>
          <p:cNvPr id="13" name="Shape 11"/>
          <p:cNvSpPr/>
          <p:nvPr/>
        </p:nvSpPr>
        <p:spPr>
          <a:xfrm>
            <a:off x="374904" y="1837944"/>
            <a:ext cx="292608" cy="292608"/>
          </a:xfrm>
          <a:prstGeom prst="ellipse">
            <a:avLst/>
          </a:prstGeom>
          <a:solidFill>
            <a:srgbClr val="15803D"/>
          </a:solidFill>
          <a:ln w="19050">
            <a:solidFill>
              <a:srgbClr val="FFFFFF"/>
            </a:solidFill>
            <a:prstDash val="solid"/>
          </a:ln>
        </p:spPr>
      </p:sp>
      <p:sp>
        <p:nvSpPr>
          <p:cNvPr id="14" name="Text 12"/>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5" name="Text 13"/>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Programación</a:t>
            </a:r>
            <a:endParaRPr lang="en-US" sz="1200" dirty="0"/>
          </a:p>
        </p:txBody>
      </p:sp>
      <p:sp>
        <p:nvSpPr>
          <p:cNvPr id="16" name="Text 14"/>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Activo · Demanda · asistentes · fecha</a:t>
            </a:r>
            <a:endParaRPr lang="en-US" sz="950" dirty="0"/>
          </a:p>
        </p:txBody>
      </p:sp>
      <p:sp>
        <p:nvSpPr>
          <p:cNvPr id="17" name="Text 15"/>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9" name="Shape 17"/>
          <p:cNvSpPr/>
          <p:nvPr/>
        </p:nvSpPr>
        <p:spPr>
          <a:xfrm>
            <a:off x="2785262" y="1965960"/>
            <a:ext cx="2053742" cy="54864"/>
          </a:xfrm>
          <a:prstGeom prst="rect">
            <a:avLst/>
          </a:prstGeom>
          <a:solidFill>
            <a:srgbClr val="15803D"/>
          </a:solidFill>
          <a:ln w="12700">
            <a:solidFill>
              <a:srgbClr val="15803D"/>
            </a:solidFill>
            <a:prstDash val="solid"/>
          </a:ln>
        </p:spPr>
      </p:sp>
      <p:sp>
        <p:nvSpPr>
          <p:cNvPr id="20" name="Shape 18"/>
          <p:cNvSpPr/>
          <p:nvPr/>
        </p:nvSpPr>
        <p:spPr>
          <a:xfrm>
            <a:off x="2657246" y="1837944"/>
            <a:ext cx="292608" cy="292608"/>
          </a:xfrm>
          <a:prstGeom prst="ellipse">
            <a:avLst/>
          </a:prstGeom>
          <a:solidFill>
            <a:srgbClr val="15803D"/>
          </a:solidFill>
          <a:ln w="19050">
            <a:solidFill>
              <a:srgbClr val="FFFFFF"/>
            </a:solidFill>
            <a:prstDash val="solid"/>
          </a:ln>
        </p:spPr>
      </p:sp>
      <p:sp>
        <p:nvSpPr>
          <p:cNvPr id="21" name="Text 19"/>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2" name="Text 20"/>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Confirmación</a:t>
            </a:r>
            <a:endParaRPr lang="en-US" sz="1200" dirty="0"/>
          </a:p>
        </p:txBody>
      </p:sp>
      <p:sp>
        <p:nvSpPr>
          <p:cNvPr id="23" name="Text 21"/>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Calendario · invitaciones · NDA si aplica</a:t>
            </a:r>
            <a:endParaRPr lang="en-US" sz="950" dirty="0"/>
          </a:p>
        </p:txBody>
      </p:sp>
      <p:sp>
        <p:nvSpPr>
          <p:cNvPr id="24" name="Text 22"/>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5" name="Shape 23"/>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6" name="Shape 24"/>
          <p:cNvSpPr/>
          <p:nvPr/>
        </p:nvSpPr>
        <p:spPr>
          <a:xfrm>
            <a:off x="5067605" y="1965960"/>
            <a:ext cx="2053742" cy="54864"/>
          </a:xfrm>
          <a:prstGeom prst="rect">
            <a:avLst/>
          </a:prstGeom>
          <a:solidFill>
            <a:srgbClr val="15803D"/>
          </a:solidFill>
          <a:ln w="12700">
            <a:solidFill>
              <a:srgbClr val="15803D"/>
            </a:solidFill>
            <a:prstDash val="solid"/>
          </a:ln>
        </p:spPr>
      </p:sp>
      <p:sp>
        <p:nvSpPr>
          <p:cNvPr id="27" name="Shape 25"/>
          <p:cNvSpPr/>
          <p:nvPr/>
        </p:nvSpPr>
        <p:spPr>
          <a:xfrm>
            <a:off x="4939589" y="1837944"/>
            <a:ext cx="292608" cy="292608"/>
          </a:xfrm>
          <a:prstGeom prst="ellipse">
            <a:avLst/>
          </a:prstGeom>
          <a:solidFill>
            <a:srgbClr val="15803D"/>
          </a:solidFill>
          <a:ln w="19050">
            <a:solidFill>
              <a:srgbClr val="FFFFFF"/>
            </a:solidFill>
            <a:prstDash val="solid"/>
          </a:ln>
        </p:spPr>
      </p:sp>
      <p:sp>
        <p:nvSpPr>
          <p:cNvPr id="28" name="Text 26"/>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7"/>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Realización</a:t>
            </a:r>
            <a:endParaRPr lang="en-US" sz="1200" dirty="0"/>
          </a:p>
        </p:txBody>
      </p:sp>
      <p:sp>
        <p:nvSpPr>
          <p:cNvPr id="30" name="Text 28"/>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Tour · demo · documentación entregada</a:t>
            </a:r>
            <a:endParaRPr lang="en-US" sz="950" dirty="0"/>
          </a:p>
        </p:txBody>
      </p:sp>
      <p:sp>
        <p:nvSpPr>
          <p:cNvPr id="31" name="Text 29"/>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2" name="Shape 30"/>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3" name="Shape 31"/>
          <p:cNvSpPr/>
          <p:nvPr/>
        </p:nvSpPr>
        <p:spPr>
          <a:xfrm>
            <a:off x="7349947" y="1965960"/>
            <a:ext cx="2053742" cy="54864"/>
          </a:xfrm>
          <a:prstGeom prst="rect">
            <a:avLst/>
          </a:prstGeom>
          <a:solidFill>
            <a:srgbClr val="15803D"/>
          </a:solidFill>
          <a:ln w="12700">
            <a:solidFill>
              <a:srgbClr val="15803D"/>
            </a:solidFill>
            <a:prstDash val="solid"/>
          </a:ln>
        </p:spPr>
      </p:sp>
      <p:sp>
        <p:nvSpPr>
          <p:cNvPr id="34" name="Shape 32"/>
          <p:cNvSpPr/>
          <p:nvPr/>
        </p:nvSpPr>
        <p:spPr>
          <a:xfrm>
            <a:off x="7221931" y="1837944"/>
            <a:ext cx="292608" cy="292608"/>
          </a:xfrm>
          <a:prstGeom prst="ellipse">
            <a:avLst/>
          </a:prstGeom>
          <a:solidFill>
            <a:srgbClr val="15803D"/>
          </a:solidFill>
          <a:ln w="19050">
            <a:solidFill>
              <a:srgbClr val="FFFFFF"/>
            </a:solidFill>
            <a:prstDash val="solid"/>
          </a:ln>
        </p:spPr>
      </p:sp>
      <p:sp>
        <p:nvSpPr>
          <p:cNvPr id="35" name="Text 33"/>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Feedback</a:t>
            </a:r>
            <a:endParaRPr lang="en-US" sz="1200" dirty="0"/>
          </a:p>
        </p:txBody>
      </p:sp>
      <p:sp>
        <p:nvSpPr>
          <p:cNvPr id="37" name="Text 35"/>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Valoración cliente · interés · objeciones</a:t>
            </a:r>
            <a:endParaRPr lang="en-US" sz="950" dirty="0"/>
          </a:p>
        </p:txBody>
      </p:sp>
      <p:sp>
        <p:nvSpPr>
          <p:cNvPr id="38" name="Text 36"/>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9" name="Shape 37"/>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0" name="Shape 38"/>
          <p:cNvSpPr/>
          <p:nvPr/>
        </p:nvSpPr>
        <p:spPr>
          <a:xfrm>
            <a:off x="9632290" y="1965960"/>
            <a:ext cx="2053742" cy="54864"/>
          </a:xfrm>
          <a:prstGeom prst="rect">
            <a:avLst/>
          </a:prstGeom>
          <a:solidFill>
            <a:srgbClr val="15803D"/>
          </a:solidFill>
          <a:ln w="12700">
            <a:solidFill>
              <a:srgbClr val="15803D"/>
            </a:solidFill>
            <a:prstDash val="solid"/>
          </a:ln>
        </p:spPr>
      </p:sp>
      <p:sp>
        <p:nvSpPr>
          <p:cNvPr id="41" name="Shape 39"/>
          <p:cNvSpPr/>
          <p:nvPr/>
        </p:nvSpPr>
        <p:spPr>
          <a:xfrm>
            <a:off x="9504274" y="1837944"/>
            <a:ext cx="292608" cy="292608"/>
          </a:xfrm>
          <a:prstGeom prst="ellipse">
            <a:avLst/>
          </a:prstGeom>
          <a:solidFill>
            <a:srgbClr val="15803D"/>
          </a:solidFill>
          <a:ln w="19050">
            <a:solidFill>
              <a:srgbClr val="FFFFFF"/>
            </a:solidFill>
            <a:prstDash val="solid"/>
          </a:ln>
        </p:spPr>
      </p:sp>
      <p:sp>
        <p:nvSpPr>
          <p:cNvPr id="42" name="Text 40"/>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3" name="Text 41"/>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Acción</a:t>
            </a:r>
            <a:endParaRPr lang="en-US" sz="1200" dirty="0"/>
          </a:p>
        </p:txBody>
      </p:sp>
      <p:sp>
        <p:nvSpPr>
          <p:cNvPr id="44" name="Text 42"/>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Oferta · 2ª visita · descartar · cualificar más</a:t>
            </a:r>
            <a:endParaRPr lang="en-US" sz="950" dirty="0"/>
          </a:p>
        </p:txBody>
      </p:sp>
      <p:sp>
        <p:nvSpPr>
          <p:cNvPr id="45" name="Shape 43"/>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6" name="Text 44"/>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7" name="Text 45"/>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Toda visita queda vinculada al Activo, a la Demanda y al usuario responsable. El feedback alimenta la cualificación: si el interés es alto, se acelera la oferta; si hay objeciones recurrentes, se ajustan los criterios de matching.</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12 · Comercialización</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14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Negociación — hilo formal</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Intercambio versionado de condiciones · tabla evolutiva con todas las rondas.</a:t>
            </a:r>
            <a:endParaRPr lang="en-US" sz="1150" dirty="0"/>
          </a:p>
        </p:txBody>
      </p:sp>
      <p:sp>
        <p:nvSpPr>
          <p:cNvPr id="10" name="Text 8"/>
          <p:cNvSpPr/>
          <p:nvPr/>
        </p:nvSpPr>
        <p:spPr>
          <a:xfrm>
            <a:off x="502920" y="1673352"/>
            <a:ext cx="8900770"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Text 9"/>
          <p:cNvSpPr/>
          <p:nvPr/>
        </p:nvSpPr>
        <p:spPr>
          <a:xfrm>
            <a:off x="9632290" y="1673352"/>
            <a:ext cx="2053742"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2" name="Shape 10"/>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3" name="Shape 11"/>
          <p:cNvSpPr/>
          <p:nvPr/>
        </p:nvSpPr>
        <p:spPr>
          <a:xfrm>
            <a:off x="502920" y="1965960"/>
            <a:ext cx="2053742" cy="54864"/>
          </a:xfrm>
          <a:prstGeom prst="rect">
            <a:avLst/>
          </a:prstGeom>
          <a:solidFill>
            <a:srgbClr val="15803D"/>
          </a:solidFill>
          <a:ln w="12700">
            <a:solidFill>
              <a:srgbClr val="15803D"/>
            </a:solidFill>
            <a:prstDash val="solid"/>
          </a:ln>
        </p:spPr>
      </p:sp>
      <p:sp>
        <p:nvSpPr>
          <p:cNvPr id="14" name="Shape 12"/>
          <p:cNvSpPr/>
          <p:nvPr/>
        </p:nvSpPr>
        <p:spPr>
          <a:xfrm>
            <a:off x="374904" y="1837944"/>
            <a:ext cx="292608" cy="292608"/>
          </a:xfrm>
          <a:prstGeom prst="ellipse">
            <a:avLst/>
          </a:prstGeom>
          <a:solidFill>
            <a:srgbClr val="15803D"/>
          </a:solidFill>
          <a:ln w="19050">
            <a:solidFill>
              <a:srgbClr val="FFFFFF"/>
            </a:solidFill>
            <a:prstDash val="solid"/>
          </a:ln>
        </p:spPr>
      </p:sp>
      <p:sp>
        <p:nvSpPr>
          <p:cNvPr id="15" name="Text 13"/>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6" name="Text 14"/>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Apertura</a:t>
            </a:r>
            <a:endParaRPr lang="en-US" sz="1200" dirty="0"/>
          </a:p>
        </p:txBody>
      </p:sp>
      <p:sp>
        <p:nvSpPr>
          <p:cNvPr id="17" name="Text 15"/>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Desde Oportunidad WIP · participantes</a:t>
            </a:r>
            <a:endParaRPr lang="en-US" sz="950" dirty="0"/>
          </a:p>
        </p:txBody>
      </p:sp>
      <p:sp>
        <p:nvSpPr>
          <p:cNvPr id="18" name="Text 16"/>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0" name="Shape 18"/>
          <p:cNvSpPr/>
          <p:nvPr/>
        </p:nvSpPr>
        <p:spPr>
          <a:xfrm>
            <a:off x="2785262" y="1965960"/>
            <a:ext cx="2053742" cy="54864"/>
          </a:xfrm>
          <a:prstGeom prst="rect">
            <a:avLst/>
          </a:prstGeom>
          <a:solidFill>
            <a:srgbClr val="15803D"/>
          </a:solidFill>
          <a:ln w="12700">
            <a:solidFill>
              <a:srgbClr val="15803D"/>
            </a:solidFill>
            <a:prstDash val="solid"/>
          </a:ln>
        </p:spPr>
      </p:sp>
      <p:sp>
        <p:nvSpPr>
          <p:cNvPr id="21" name="Shape 19"/>
          <p:cNvSpPr/>
          <p:nvPr/>
        </p:nvSpPr>
        <p:spPr>
          <a:xfrm>
            <a:off x="2657246" y="1837944"/>
            <a:ext cx="292608" cy="292608"/>
          </a:xfrm>
          <a:prstGeom prst="ellipse">
            <a:avLst/>
          </a:prstGeom>
          <a:solidFill>
            <a:srgbClr val="15803D"/>
          </a:solidFill>
          <a:ln w="19050">
            <a:solidFill>
              <a:srgbClr val="FFFFFF"/>
            </a:solidFill>
            <a:prstDash val="solid"/>
          </a:ln>
        </p:spPr>
      </p:sp>
      <p:sp>
        <p:nvSpPr>
          <p:cNvPr id="22" name="Text 20"/>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Text 21"/>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Intercambio</a:t>
            </a:r>
            <a:endParaRPr lang="en-US" sz="1200" dirty="0"/>
          </a:p>
        </p:txBody>
      </p:sp>
      <p:sp>
        <p:nvSpPr>
          <p:cNvPr id="24" name="Text 22"/>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Chat · adjuntos · contraofertas</a:t>
            </a:r>
            <a:endParaRPr lang="en-US" sz="950" dirty="0"/>
          </a:p>
        </p:txBody>
      </p:sp>
      <p:sp>
        <p:nvSpPr>
          <p:cNvPr id="25" name="Text 23"/>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7" name="Shape 25"/>
          <p:cNvSpPr/>
          <p:nvPr/>
        </p:nvSpPr>
        <p:spPr>
          <a:xfrm>
            <a:off x="5067605" y="1965960"/>
            <a:ext cx="2053742" cy="54864"/>
          </a:xfrm>
          <a:prstGeom prst="rect">
            <a:avLst/>
          </a:prstGeom>
          <a:solidFill>
            <a:srgbClr val="15803D"/>
          </a:solidFill>
          <a:ln w="12700">
            <a:solidFill>
              <a:srgbClr val="15803D"/>
            </a:solidFill>
            <a:prstDash val="solid"/>
          </a:ln>
        </p:spPr>
      </p:sp>
      <p:sp>
        <p:nvSpPr>
          <p:cNvPr id="28" name="Shape 26"/>
          <p:cNvSpPr/>
          <p:nvPr/>
        </p:nvSpPr>
        <p:spPr>
          <a:xfrm>
            <a:off x="4939589" y="1837944"/>
            <a:ext cx="292608" cy="292608"/>
          </a:xfrm>
          <a:prstGeom prst="ellipse">
            <a:avLst/>
          </a:prstGeom>
          <a:solidFill>
            <a:srgbClr val="15803D"/>
          </a:solidFill>
          <a:ln w="19050">
            <a:solidFill>
              <a:srgbClr val="FFFFFF"/>
            </a:solidFill>
            <a:prstDash val="solid"/>
          </a:ln>
        </p:spPr>
      </p:sp>
      <p:sp>
        <p:nvSpPr>
          <p:cNvPr id="29" name="Text 27"/>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0" name="Text 28"/>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Versionado</a:t>
            </a:r>
            <a:endParaRPr lang="en-US" sz="1200" dirty="0"/>
          </a:p>
        </p:txBody>
      </p:sp>
      <p:sp>
        <p:nvSpPr>
          <p:cNvPr id="31" name="Text 29"/>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Tabla evolutiva · diff de borradores</a:t>
            </a:r>
            <a:endParaRPr lang="en-US" sz="950" dirty="0"/>
          </a:p>
        </p:txBody>
      </p:sp>
      <p:sp>
        <p:nvSpPr>
          <p:cNvPr id="32" name="Text 30"/>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4" name="Shape 32"/>
          <p:cNvSpPr/>
          <p:nvPr/>
        </p:nvSpPr>
        <p:spPr>
          <a:xfrm>
            <a:off x="7349947" y="1965960"/>
            <a:ext cx="2053742" cy="54864"/>
          </a:xfrm>
          <a:prstGeom prst="rect">
            <a:avLst/>
          </a:prstGeom>
          <a:solidFill>
            <a:srgbClr val="15803D"/>
          </a:solidFill>
          <a:ln w="12700">
            <a:solidFill>
              <a:srgbClr val="15803D"/>
            </a:solidFill>
            <a:prstDash val="solid"/>
          </a:ln>
        </p:spPr>
      </p:sp>
      <p:sp>
        <p:nvSpPr>
          <p:cNvPr id="35" name="Shape 33"/>
          <p:cNvSpPr/>
          <p:nvPr/>
        </p:nvSpPr>
        <p:spPr>
          <a:xfrm>
            <a:off x="7221931" y="1837944"/>
            <a:ext cx="292608" cy="292608"/>
          </a:xfrm>
          <a:prstGeom prst="ellipse">
            <a:avLst/>
          </a:prstGeom>
          <a:solidFill>
            <a:srgbClr val="15803D"/>
          </a:solidFill>
          <a:ln w="19050">
            <a:solidFill>
              <a:srgbClr val="FFFFFF"/>
            </a:solidFill>
            <a:prstDash val="solid"/>
          </a:ln>
        </p:spPr>
      </p:sp>
      <p:sp>
        <p:nvSpPr>
          <p:cNvPr id="36" name="Text 34"/>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Text 35"/>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Acuerdo</a:t>
            </a:r>
            <a:endParaRPr lang="en-US" sz="1200" dirty="0"/>
          </a:p>
        </p:txBody>
      </p:sp>
      <p:sp>
        <p:nvSpPr>
          <p:cNvPr id="38" name="Text 36"/>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Firma de condiciones finales</a:t>
            </a:r>
            <a:endParaRPr lang="en-US" sz="950" dirty="0"/>
          </a:p>
        </p:txBody>
      </p:sp>
      <p:sp>
        <p:nvSpPr>
          <p:cNvPr id="39" name="Text 37"/>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0" name="Shape 38"/>
          <p:cNvSpPr/>
          <p:nvPr/>
        </p:nvSpPr>
        <p:spPr>
          <a:xfrm>
            <a:off x="9632290"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41" name="Shape 39"/>
          <p:cNvSpPr/>
          <p:nvPr/>
        </p:nvSpPr>
        <p:spPr>
          <a:xfrm>
            <a:off x="9632290" y="1965960"/>
            <a:ext cx="2053742" cy="54864"/>
          </a:xfrm>
          <a:prstGeom prst="rect">
            <a:avLst/>
          </a:prstGeom>
          <a:solidFill>
            <a:srgbClr val="2563EB"/>
          </a:solidFill>
          <a:ln w="12700">
            <a:solidFill>
              <a:srgbClr val="2563EB"/>
            </a:solidFill>
            <a:prstDash val="solid"/>
          </a:ln>
        </p:spPr>
      </p:sp>
      <p:sp>
        <p:nvSpPr>
          <p:cNvPr id="42" name="Shape 40"/>
          <p:cNvSpPr/>
          <p:nvPr/>
        </p:nvSpPr>
        <p:spPr>
          <a:xfrm>
            <a:off x="9504274" y="1837944"/>
            <a:ext cx="292608" cy="292608"/>
          </a:xfrm>
          <a:prstGeom prst="ellipse">
            <a:avLst/>
          </a:prstGeom>
          <a:solidFill>
            <a:srgbClr val="2563EB"/>
          </a:solidFill>
          <a:ln w="19050">
            <a:solidFill>
              <a:srgbClr val="FFFFFF"/>
            </a:solidFill>
            <a:prstDash val="solid"/>
          </a:ln>
        </p:spPr>
      </p:sp>
      <p:sp>
        <p:nvSpPr>
          <p:cNvPr id="43" name="Text 41"/>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4" name="Text 42"/>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Handoff #2</a:t>
            </a:r>
            <a:endParaRPr lang="en-US" sz="1200" dirty="0"/>
          </a:p>
        </p:txBody>
      </p:sp>
      <p:sp>
        <p:nvSpPr>
          <p:cNvPr id="45" name="Text 43"/>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Crear Instrucción en Dynamics</a:t>
            </a:r>
            <a:endParaRPr lang="en-US" sz="950" dirty="0"/>
          </a:p>
        </p:txBody>
      </p:sp>
      <p:sp>
        <p:nvSpPr>
          <p:cNvPr id="46" name="Shape 44"/>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7" name="Text 45"/>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8" name="Text 46"/>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No existe contrato sin Instrucción en Dynamics. La Negociación es la última fase operativa en PDB; el cierre formal y la facturación se gestionan exclusivamente desde el sistema maestro. La tabla evolutiva mantiene auditabilidad completa de cada ronda.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13 · Cierre</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15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Instrucción / Transacción — cierre formal</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Facturación · única vía válida para registrar revenue · contra Entidad Legal.</a:t>
            </a:r>
            <a:endParaRPr lang="en-US" sz="1150" dirty="0"/>
          </a:p>
        </p:txBody>
      </p:sp>
      <p:sp>
        <p:nvSpPr>
          <p:cNvPr id="10" name="Text 8"/>
          <p:cNvSpPr/>
          <p:nvPr/>
        </p:nvSpPr>
        <p:spPr>
          <a:xfrm>
            <a:off x="502920" y="1673352"/>
            <a:ext cx="2053742"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Text 9"/>
          <p:cNvSpPr/>
          <p:nvPr/>
        </p:nvSpPr>
        <p:spPr>
          <a:xfrm>
            <a:off x="2785262" y="1673352"/>
            <a:ext cx="4336085"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2" name="Text 10"/>
          <p:cNvSpPr/>
          <p:nvPr/>
        </p:nvSpPr>
        <p:spPr>
          <a:xfrm>
            <a:off x="7349947" y="1673352"/>
            <a:ext cx="4336085"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3" name="Shape 11"/>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4" name="Shape 12"/>
          <p:cNvSpPr/>
          <p:nvPr/>
        </p:nvSpPr>
        <p:spPr>
          <a:xfrm>
            <a:off x="502920" y="1965960"/>
            <a:ext cx="2053742" cy="54864"/>
          </a:xfrm>
          <a:prstGeom prst="rect">
            <a:avLst/>
          </a:prstGeom>
          <a:solidFill>
            <a:srgbClr val="15803D"/>
          </a:solidFill>
          <a:ln w="12700">
            <a:solidFill>
              <a:srgbClr val="15803D"/>
            </a:solidFill>
            <a:prstDash val="solid"/>
          </a:ln>
        </p:spPr>
      </p:sp>
      <p:sp>
        <p:nvSpPr>
          <p:cNvPr id="15" name="Shape 13"/>
          <p:cNvSpPr/>
          <p:nvPr/>
        </p:nvSpPr>
        <p:spPr>
          <a:xfrm>
            <a:off x="374904" y="1837944"/>
            <a:ext cx="292608" cy="292608"/>
          </a:xfrm>
          <a:prstGeom prst="ellipse">
            <a:avLst/>
          </a:prstGeom>
          <a:solidFill>
            <a:srgbClr val="15803D"/>
          </a:solidFill>
          <a:ln w="19050">
            <a:solidFill>
              <a:srgbClr val="FFFFFF"/>
            </a:solidFill>
            <a:prstDash val="solid"/>
          </a:ln>
        </p:spPr>
      </p:sp>
      <p:sp>
        <p:nvSpPr>
          <p:cNvPr id="16" name="Text 14"/>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Text 15"/>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Cierre Neg.</a:t>
            </a:r>
            <a:endParaRPr lang="en-US" sz="1200" dirty="0"/>
          </a:p>
        </p:txBody>
      </p:sp>
      <p:sp>
        <p:nvSpPr>
          <p:cNvPr id="18" name="Text 16"/>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Acuerdo final alcanzado</a:t>
            </a:r>
            <a:endParaRPr lang="en-US" sz="950" dirty="0"/>
          </a:p>
        </p:txBody>
      </p:sp>
      <p:sp>
        <p:nvSpPr>
          <p:cNvPr id="19" name="Text 17"/>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2785262"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21" name="Shape 19"/>
          <p:cNvSpPr/>
          <p:nvPr/>
        </p:nvSpPr>
        <p:spPr>
          <a:xfrm>
            <a:off x="2785262" y="1965960"/>
            <a:ext cx="2053742" cy="54864"/>
          </a:xfrm>
          <a:prstGeom prst="rect">
            <a:avLst/>
          </a:prstGeom>
          <a:solidFill>
            <a:srgbClr val="2563EB"/>
          </a:solidFill>
          <a:ln w="12700">
            <a:solidFill>
              <a:srgbClr val="2563EB"/>
            </a:solidFill>
            <a:prstDash val="solid"/>
          </a:ln>
        </p:spPr>
      </p:sp>
      <p:sp>
        <p:nvSpPr>
          <p:cNvPr id="22" name="Shape 20"/>
          <p:cNvSpPr/>
          <p:nvPr/>
        </p:nvSpPr>
        <p:spPr>
          <a:xfrm>
            <a:off x="2657246" y="1837944"/>
            <a:ext cx="292608" cy="292608"/>
          </a:xfrm>
          <a:prstGeom prst="ellipse">
            <a:avLst/>
          </a:prstGeom>
          <a:solidFill>
            <a:srgbClr val="2563EB"/>
          </a:solidFill>
          <a:ln w="19050">
            <a:solidFill>
              <a:srgbClr val="FFFFFF"/>
            </a:solidFill>
            <a:prstDash val="solid"/>
          </a:ln>
        </p:spPr>
      </p:sp>
      <p:sp>
        <p:nvSpPr>
          <p:cNvPr id="23" name="Text 21"/>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4" name="Text 22"/>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Instrucción</a:t>
            </a:r>
            <a:endParaRPr lang="en-US" sz="1200" dirty="0"/>
          </a:p>
        </p:txBody>
      </p:sp>
      <p:sp>
        <p:nvSpPr>
          <p:cNvPr id="25" name="Text 23"/>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Registro maestro en Dynamics</a:t>
            </a:r>
            <a:endParaRPr lang="en-US" sz="950" dirty="0"/>
          </a:p>
        </p:txBody>
      </p:sp>
      <p:sp>
        <p:nvSpPr>
          <p:cNvPr id="26" name="Text 24"/>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7" name="Shape 25"/>
          <p:cNvSpPr/>
          <p:nvPr/>
        </p:nvSpPr>
        <p:spPr>
          <a:xfrm>
            <a:off x="5067605"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28" name="Shape 26"/>
          <p:cNvSpPr/>
          <p:nvPr/>
        </p:nvSpPr>
        <p:spPr>
          <a:xfrm>
            <a:off x="5067605" y="1965960"/>
            <a:ext cx="2053742" cy="54864"/>
          </a:xfrm>
          <a:prstGeom prst="rect">
            <a:avLst/>
          </a:prstGeom>
          <a:solidFill>
            <a:srgbClr val="2563EB"/>
          </a:solidFill>
          <a:ln w="12700">
            <a:solidFill>
              <a:srgbClr val="2563EB"/>
            </a:solidFill>
            <a:prstDash val="solid"/>
          </a:ln>
        </p:spPr>
      </p:sp>
      <p:sp>
        <p:nvSpPr>
          <p:cNvPr id="29" name="Shape 27"/>
          <p:cNvSpPr/>
          <p:nvPr/>
        </p:nvSpPr>
        <p:spPr>
          <a:xfrm>
            <a:off x="4939589" y="1837944"/>
            <a:ext cx="292608" cy="292608"/>
          </a:xfrm>
          <a:prstGeom prst="ellipse">
            <a:avLst/>
          </a:prstGeom>
          <a:solidFill>
            <a:srgbClr val="2563EB"/>
          </a:solidFill>
          <a:ln w="19050">
            <a:solidFill>
              <a:srgbClr val="FFFFFF"/>
            </a:solidFill>
            <a:prstDash val="solid"/>
          </a:ln>
        </p:spPr>
      </p:sp>
      <p:sp>
        <p:nvSpPr>
          <p:cNvPr id="30" name="Text 28"/>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9"/>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Contrato</a:t>
            </a:r>
            <a:endParaRPr lang="en-US" sz="1200" dirty="0"/>
          </a:p>
        </p:txBody>
      </p:sp>
      <p:sp>
        <p:nvSpPr>
          <p:cNvPr id="32" name="Text 30"/>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Formalización + visto bueno legal</a:t>
            </a:r>
            <a:endParaRPr lang="en-US" sz="950" dirty="0"/>
          </a:p>
        </p:txBody>
      </p:sp>
      <p:sp>
        <p:nvSpPr>
          <p:cNvPr id="33" name="Text 31"/>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4" name="Shape 32"/>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5" name="Shape 33"/>
          <p:cNvSpPr/>
          <p:nvPr/>
        </p:nvSpPr>
        <p:spPr>
          <a:xfrm>
            <a:off x="7349947" y="1965960"/>
            <a:ext cx="2053742" cy="54864"/>
          </a:xfrm>
          <a:prstGeom prst="rect">
            <a:avLst/>
          </a:prstGeom>
          <a:solidFill>
            <a:srgbClr val="15803D"/>
          </a:solidFill>
          <a:ln w="12700">
            <a:solidFill>
              <a:srgbClr val="15803D"/>
            </a:solidFill>
            <a:prstDash val="solid"/>
          </a:ln>
        </p:spPr>
      </p:sp>
      <p:sp>
        <p:nvSpPr>
          <p:cNvPr id="36" name="Shape 34"/>
          <p:cNvSpPr/>
          <p:nvPr/>
        </p:nvSpPr>
        <p:spPr>
          <a:xfrm>
            <a:off x="7221931" y="1837944"/>
            <a:ext cx="292608" cy="292608"/>
          </a:xfrm>
          <a:prstGeom prst="ellipse">
            <a:avLst/>
          </a:prstGeom>
          <a:solidFill>
            <a:srgbClr val="15803D"/>
          </a:solidFill>
          <a:ln w="19050">
            <a:solidFill>
              <a:srgbClr val="FFFFFF"/>
            </a:solidFill>
            <a:prstDash val="solid"/>
          </a:ln>
        </p:spPr>
      </p:sp>
      <p:sp>
        <p:nvSpPr>
          <p:cNvPr id="37" name="Text 35"/>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8" name="Text 36"/>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Transacción</a:t>
            </a:r>
            <a:endParaRPr lang="en-US" sz="1200" dirty="0"/>
          </a:p>
        </p:txBody>
      </p:sp>
      <p:sp>
        <p:nvSpPr>
          <p:cNvPr id="39" name="Text 37"/>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Sync de vuelta · vista lectura</a:t>
            </a:r>
            <a:endParaRPr lang="en-US" sz="950" dirty="0"/>
          </a:p>
        </p:txBody>
      </p:sp>
      <p:sp>
        <p:nvSpPr>
          <p:cNvPr id="40" name="Text 38"/>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1" name="Shape 39"/>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2" name="Shape 40"/>
          <p:cNvSpPr/>
          <p:nvPr/>
        </p:nvSpPr>
        <p:spPr>
          <a:xfrm>
            <a:off x="9632290" y="1965960"/>
            <a:ext cx="2053742" cy="54864"/>
          </a:xfrm>
          <a:prstGeom prst="rect">
            <a:avLst/>
          </a:prstGeom>
          <a:solidFill>
            <a:srgbClr val="15803D"/>
          </a:solidFill>
          <a:ln w="12700">
            <a:solidFill>
              <a:srgbClr val="15803D"/>
            </a:solidFill>
            <a:prstDash val="solid"/>
          </a:ln>
        </p:spPr>
      </p:sp>
      <p:sp>
        <p:nvSpPr>
          <p:cNvPr id="43" name="Shape 41"/>
          <p:cNvSpPr/>
          <p:nvPr/>
        </p:nvSpPr>
        <p:spPr>
          <a:xfrm>
            <a:off x="9504274" y="1837944"/>
            <a:ext cx="292608" cy="292608"/>
          </a:xfrm>
          <a:prstGeom prst="ellipse">
            <a:avLst/>
          </a:prstGeom>
          <a:solidFill>
            <a:srgbClr val="15803D"/>
          </a:solidFill>
          <a:ln w="19050">
            <a:solidFill>
              <a:srgbClr val="FFFFFF"/>
            </a:solidFill>
            <a:prstDash val="solid"/>
          </a:ln>
        </p:spPr>
      </p:sp>
      <p:sp>
        <p:nvSpPr>
          <p:cNvPr id="44" name="Text 42"/>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5" name="Text 43"/>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Honorarios</a:t>
            </a:r>
            <a:endParaRPr lang="en-US" sz="1200" dirty="0"/>
          </a:p>
        </p:txBody>
      </p:sp>
      <p:sp>
        <p:nvSpPr>
          <p:cNvPr id="46" name="Text 44"/>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Cálculo · emisión · archivo</a:t>
            </a:r>
            <a:endParaRPr lang="en-US" sz="950" dirty="0"/>
          </a:p>
        </p:txBody>
      </p:sp>
      <p:sp>
        <p:nvSpPr>
          <p:cNvPr id="47" name="Shape 45"/>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8" name="Text 46"/>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9" name="Text 47"/>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La Instrucción se emite contra una Entidad Legal (sociedad fiscal con CIF/NIF), nunca contra la Cuenta directamente. Esto cierra el ciclo y permite registrar revenue en el reporting. Cualquier modificación posterior a la firma debe gestionarse en Dynamics.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14 · Cierre</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16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Mandatos y Propuestas</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Procesos derivados que cuelgan siempre de una Oportunidad existente.</a:t>
            </a:r>
            <a:endParaRPr lang="en-US" sz="1150" dirty="0"/>
          </a:p>
        </p:txBody>
      </p:sp>
      <p:sp>
        <p:nvSpPr>
          <p:cNvPr id="10" name="Text 8"/>
          <p:cNvSpPr/>
          <p:nvPr/>
        </p:nvSpPr>
        <p:spPr>
          <a:xfrm>
            <a:off x="502920" y="1673352"/>
            <a:ext cx="2053742"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1" name="Text 9"/>
          <p:cNvSpPr/>
          <p:nvPr/>
        </p:nvSpPr>
        <p:spPr>
          <a:xfrm>
            <a:off x="2785262" y="1673352"/>
            <a:ext cx="8900770"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2" name="Shape 10"/>
          <p:cNvSpPr/>
          <p:nvPr/>
        </p:nvSpPr>
        <p:spPr>
          <a:xfrm>
            <a:off x="502920"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13" name="Shape 11"/>
          <p:cNvSpPr/>
          <p:nvPr/>
        </p:nvSpPr>
        <p:spPr>
          <a:xfrm>
            <a:off x="502920" y="1965960"/>
            <a:ext cx="2053742" cy="54864"/>
          </a:xfrm>
          <a:prstGeom prst="rect">
            <a:avLst/>
          </a:prstGeom>
          <a:solidFill>
            <a:srgbClr val="2563EB"/>
          </a:solidFill>
          <a:ln w="12700">
            <a:solidFill>
              <a:srgbClr val="2563EB"/>
            </a:solidFill>
            <a:prstDash val="solid"/>
          </a:ln>
        </p:spPr>
      </p:sp>
      <p:sp>
        <p:nvSpPr>
          <p:cNvPr id="14" name="Shape 12"/>
          <p:cNvSpPr/>
          <p:nvPr/>
        </p:nvSpPr>
        <p:spPr>
          <a:xfrm>
            <a:off x="374904" y="1837944"/>
            <a:ext cx="292608" cy="292608"/>
          </a:xfrm>
          <a:prstGeom prst="ellipse">
            <a:avLst/>
          </a:prstGeom>
          <a:solidFill>
            <a:srgbClr val="2563EB"/>
          </a:solidFill>
          <a:ln w="19050">
            <a:solidFill>
              <a:srgbClr val="FFFFFF"/>
            </a:solidFill>
            <a:prstDash val="solid"/>
          </a:ln>
        </p:spPr>
      </p:sp>
      <p:sp>
        <p:nvSpPr>
          <p:cNvPr id="15" name="Text 13"/>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6" name="Text 14"/>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Oportunidad</a:t>
            </a:r>
            <a:endParaRPr lang="en-US" sz="1200" dirty="0"/>
          </a:p>
        </p:txBody>
      </p:sp>
      <p:sp>
        <p:nvSpPr>
          <p:cNvPr id="17" name="Text 15"/>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FK obligatorio para todo lo siguiente</a:t>
            </a:r>
            <a:endParaRPr lang="en-US" sz="950" dirty="0"/>
          </a:p>
        </p:txBody>
      </p:sp>
      <p:sp>
        <p:nvSpPr>
          <p:cNvPr id="18" name="Text 16"/>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0" name="Shape 18"/>
          <p:cNvSpPr/>
          <p:nvPr/>
        </p:nvSpPr>
        <p:spPr>
          <a:xfrm>
            <a:off x="2785262" y="1965960"/>
            <a:ext cx="2053742" cy="54864"/>
          </a:xfrm>
          <a:prstGeom prst="rect">
            <a:avLst/>
          </a:prstGeom>
          <a:solidFill>
            <a:srgbClr val="15803D"/>
          </a:solidFill>
          <a:ln w="12700">
            <a:solidFill>
              <a:srgbClr val="15803D"/>
            </a:solidFill>
            <a:prstDash val="solid"/>
          </a:ln>
        </p:spPr>
      </p:sp>
      <p:sp>
        <p:nvSpPr>
          <p:cNvPr id="21" name="Shape 19"/>
          <p:cNvSpPr/>
          <p:nvPr/>
        </p:nvSpPr>
        <p:spPr>
          <a:xfrm>
            <a:off x="2657246" y="1837944"/>
            <a:ext cx="292608" cy="292608"/>
          </a:xfrm>
          <a:prstGeom prst="ellipse">
            <a:avLst/>
          </a:prstGeom>
          <a:solidFill>
            <a:srgbClr val="15803D"/>
          </a:solidFill>
          <a:ln w="19050">
            <a:solidFill>
              <a:srgbClr val="FFFFFF"/>
            </a:solidFill>
            <a:prstDash val="solid"/>
          </a:ln>
        </p:spPr>
      </p:sp>
      <p:sp>
        <p:nvSpPr>
          <p:cNvPr id="22" name="Text 20"/>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Text 21"/>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Propuesta</a:t>
            </a:r>
            <a:endParaRPr lang="en-US" sz="1200" dirty="0"/>
          </a:p>
        </p:txBody>
      </p:sp>
      <p:sp>
        <p:nvSpPr>
          <p:cNvPr id="24" name="Text 22"/>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Pitch · RFP · advisory · valoración (FK Op)</a:t>
            </a:r>
            <a:endParaRPr lang="en-US" sz="950" dirty="0"/>
          </a:p>
        </p:txBody>
      </p:sp>
      <p:sp>
        <p:nvSpPr>
          <p:cNvPr id="25" name="Text 23"/>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7" name="Shape 25"/>
          <p:cNvSpPr/>
          <p:nvPr/>
        </p:nvSpPr>
        <p:spPr>
          <a:xfrm>
            <a:off x="5067605" y="1965960"/>
            <a:ext cx="2053742" cy="54864"/>
          </a:xfrm>
          <a:prstGeom prst="rect">
            <a:avLst/>
          </a:prstGeom>
          <a:solidFill>
            <a:srgbClr val="15803D"/>
          </a:solidFill>
          <a:ln w="12700">
            <a:solidFill>
              <a:srgbClr val="15803D"/>
            </a:solidFill>
            <a:prstDash val="solid"/>
          </a:ln>
        </p:spPr>
      </p:sp>
      <p:sp>
        <p:nvSpPr>
          <p:cNvPr id="28" name="Shape 26"/>
          <p:cNvSpPr/>
          <p:nvPr/>
        </p:nvSpPr>
        <p:spPr>
          <a:xfrm>
            <a:off x="4939589" y="1837944"/>
            <a:ext cx="292608" cy="292608"/>
          </a:xfrm>
          <a:prstGeom prst="ellipse">
            <a:avLst/>
          </a:prstGeom>
          <a:solidFill>
            <a:srgbClr val="15803D"/>
          </a:solidFill>
          <a:ln w="19050">
            <a:solidFill>
              <a:srgbClr val="FFFFFF"/>
            </a:solidFill>
            <a:prstDash val="solid"/>
          </a:ln>
        </p:spPr>
      </p:sp>
      <p:sp>
        <p:nvSpPr>
          <p:cNvPr id="29" name="Text 27"/>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0" name="Text 28"/>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Mandato</a:t>
            </a:r>
            <a:endParaRPr lang="en-US" sz="1200" dirty="0"/>
          </a:p>
        </p:txBody>
      </p:sp>
      <p:sp>
        <p:nvSpPr>
          <p:cNvPr id="31" name="Text 29"/>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Necesita Op + Oferta + Activo (triple FK)</a:t>
            </a:r>
            <a:endParaRPr lang="en-US" sz="950" dirty="0"/>
          </a:p>
        </p:txBody>
      </p:sp>
      <p:sp>
        <p:nvSpPr>
          <p:cNvPr id="32" name="Text 30"/>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4" name="Shape 32"/>
          <p:cNvSpPr/>
          <p:nvPr/>
        </p:nvSpPr>
        <p:spPr>
          <a:xfrm>
            <a:off x="7349947" y="1965960"/>
            <a:ext cx="2053742" cy="54864"/>
          </a:xfrm>
          <a:prstGeom prst="rect">
            <a:avLst/>
          </a:prstGeom>
          <a:solidFill>
            <a:srgbClr val="15803D"/>
          </a:solidFill>
          <a:ln w="12700">
            <a:solidFill>
              <a:srgbClr val="15803D"/>
            </a:solidFill>
            <a:prstDash val="solid"/>
          </a:ln>
        </p:spPr>
      </p:sp>
      <p:sp>
        <p:nvSpPr>
          <p:cNvPr id="35" name="Shape 33"/>
          <p:cNvSpPr/>
          <p:nvPr/>
        </p:nvSpPr>
        <p:spPr>
          <a:xfrm>
            <a:off x="7221931" y="1837944"/>
            <a:ext cx="292608" cy="292608"/>
          </a:xfrm>
          <a:prstGeom prst="ellipse">
            <a:avLst/>
          </a:prstGeom>
          <a:solidFill>
            <a:srgbClr val="15803D"/>
          </a:solidFill>
          <a:ln w="19050">
            <a:solidFill>
              <a:srgbClr val="FFFFFF"/>
            </a:solidFill>
            <a:prstDash val="solid"/>
          </a:ln>
        </p:spPr>
      </p:sp>
      <p:sp>
        <p:nvSpPr>
          <p:cNvPr id="36" name="Text 34"/>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Text 35"/>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Ejecución</a:t>
            </a:r>
            <a:endParaRPr lang="en-US" sz="1200" dirty="0"/>
          </a:p>
        </p:txBody>
      </p:sp>
      <p:sp>
        <p:nvSpPr>
          <p:cNvPr id="38" name="Text 36"/>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Comercialización · seguimiento · entregables</a:t>
            </a:r>
            <a:endParaRPr lang="en-US" sz="950" dirty="0"/>
          </a:p>
        </p:txBody>
      </p:sp>
      <p:sp>
        <p:nvSpPr>
          <p:cNvPr id="39" name="Text 37"/>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0" name="Shape 38"/>
          <p:cNvSpPr/>
          <p:nvPr/>
        </p:nvSpPr>
        <p:spPr>
          <a:xfrm>
            <a:off x="963229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41" name="Shape 39"/>
          <p:cNvSpPr/>
          <p:nvPr/>
        </p:nvSpPr>
        <p:spPr>
          <a:xfrm>
            <a:off x="9632290" y="1965960"/>
            <a:ext cx="2053742" cy="54864"/>
          </a:xfrm>
          <a:prstGeom prst="rect">
            <a:avLst/>
          </a:prstGeom>
          <a:solidFill>
            <a:srgbClr val="15803D"/>
          </a:solidFill>
          <a:ln w="12700">
            <a:solidFill>
              <a:srgbClr val="15803D"/>
            </a:solidFill>
            <a:prstDash val="solid"/>
          </a:ln>
        </p:spPr>
      </p:sp>
      <p:sp>
        <p:nvSpPr>
          <p:cNvPr id="42" name="Shape 40"/>
          <p:cNvSpPr/>
          <p:nvPr/>
        </p:nvSpPr>
        <p:spPr>
          <a:xfrm>
            <a:off x="9504274" y="1837944"/>
            <a:ext cx="292608" cy="292608"/>
          </a:xfrm>
          <a:prstGeom prst="ellipse">
            <a:avLst/>
          </a:prstGeom>
          <a:solidFill>
            <a:srgbClr val="15803D"/>
          </a:solidFill>
          <a:ln w="19050">
            <a:solidFill>
              <a:srgbClr val="FFFFFF"/>
            </a:solidFill>
            <a:prstDash val="solid"/>
          </a:ln>
        </p:spPr>
      </p:sp>
      <p:sp>
        <p:nvSpPr>
          <p:cNvPr id="43" name="Text 41"/>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4" name="Text 42"/>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Honorarios</a:t>
            </a:r>
            <a:endParaRPr lang="en-US" sz="1200" dirty="0"/>
          </a:p>
        </p:txBody>
      </p:sp>
      <p:sp>
        <p:nvSpPr>
          <p:cNvPr id="45" name="Text 43"/>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Cálculo · facturación contra E. Legal</a:t>
            </a:r>
            <a:endParaRPr lang="en-US" sz="950" dirty="0"/>
          </a:p>
        </p:txBody>
      </p:sp>
      <p:sp>
        <p:nvSpPr>
          <p:cNvPr id="46" name="Shape 44"/>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7" name="Text 45"/>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8" name="Text 46"/>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Mandato y Propuesta nunca nacen solos: ambos exigen FK Oportunidad obligatorio. Mandato exige además FK Oferta y Activo (triple anclaje). Una Propuesta ganada típicamente se transforma en Mandato — y de ahí en operación.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15 · Cierre</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17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Vencimientos — reactivación del ciclo</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Detección automática de break/fin de contrato · alertas · reentrada en el funnel.</a:t>
            </a:r>
            <a:endParaRPr lang="en-US" sz="1150" dirty="0"/>
          </a:p>
        </p:txBody>
      </p:sp>
      <p:sp>
        <p:nvSpPr>
          <p:cNvPr id="10" name="Text 8"/>
          <p:cNvSpPr/>
          <p:nvPr/>
        </p:nvSpPr>
        <p:spPr>
          <a:xfrm>
            <a:off x="502920" y="1673352"/>
            <a:ext cx="8900770" cy="201168"/>
          </a:xfrm>
          <a:prstGeom prst="rect">
            <a:avLst/>
          </a:prstGeom>
          <a:noFill/>
          <a:ln/>
        </p:spPr>
        <p:txBody>
          <a:bodyPr wrap="square" rtlCol="0" anchor="ctr"/>
          <a:lstStyle/>
          <a:p>
            <a:pPr algn="l" indent="0" marL="0">
              <a:buNone/>
            </a:pPr>
            <a:r>
              <a:rPr lang="en-US" sz="850" b="1" dirty="0">
                <a:solidFill>
                  <a:srgbClr val="15803D"/>
                </a:solidFill>
                <a:latin typeface="Calibri" pitchFamily="34" charset="0"/>
                <a:ea typeface="Calibri" pitchFamily="34" charset="-122"/>
                <a:cs typeface="Calibri" pitchFamily="34" charset="-120"/>
              </a:rPr>
              <a:t>PDB</a:t>
            </a:r>
            <a:endParaRPr lang="en-US" sz="850" dirty="0"/>
          </a:p>
        </p:txBody>
      </p:sp>
      <p:sp>
        <p:nvSpPr>
          <p:cNvPr id="11" name="Text 9"/>
          <p:cNvSpPr/>
          <p:nvPr/>
        </p:nvSpPr>
        <p:spPr>
          <a:xfrm>
            <a:off x="9632290" y="1673352"/>
            <a:ext cx="2053742" cy="201168"/>
          </a:xfrm>
          <a:prstGeom prst="rect">
            <a:avLst/>
          </a:prstGeom>
          <a:noFill/>
          <a:ln/>
        </p:spPr>
        <p:txBody>
          <a:bodyPr wrap="square" rtlCol="0" anchor="ctr"/>
          <a:lstStyle/>
          <a:p>
            <a:pPr algn="l" indent="0" marL="0">
              <a:buNone/>
            </a:pPr>
            <a:r>
              <a:rPr lang="en-US" sz="850" b="1" dirty="0">
                <a:solidFill>
                  <a:srgbClr val="2563EB"/>
                </a:solidFill>
                <a:latin typeface="Calibri" pitchFamily="34" charset="0"/>
                <a:ea typeface="Calibri" pitchFamily="34" charset="-122"/>
                <a:cs typeface="Calibri" pitchFamily="34" charset="-120"/>
              </a:rPr>
              <a:t>DYNAMICS</a:t>
            </a:r>
            <a:endParaRPr lang="en-US" sz="850" dirty="0"/>
          </a:p>
        </p:txBody>
      </p:sp>
      <p:sp>
        <p:nvSpPr>
          <p:cNvPr id="12" name="Shape 10"/>
          <p:cNvSpPr/>
          <p:nvPr/>
        </p:nvSpPr>
        <p:spPr>
          <a:xfrm>
            <a:off x="502920"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13" name="Shape 11"/>
          <p:cNvSpPr/>
          <p:nvPr/>
        </p:nvSpPr>
        <p:spPr>
          <a:xfrm>
            <a:off x="502920" y="1965960"/>
            <a:ext cx="2053742" cy="54864"/>
          </a:xfrm>
          <a:prstGeom prst="rect">
            <a:avLst/>
          </a:prstGeom>
          <a:solidFill>
            <a:srgbClr val="15803D"/>
          </a:solidFill>
          <a:ln w="12700">
            <a:solidFill>
              <a:srgbClr val="15803D"/>
            </a:solidFill>
            <a:prstDash val="solid"/>
          </a:ln>
        </p:spPr>
      </p:sp>
      <p:sp>
        <p:nvSpPr>
          <p:cNvPr id="14" name="Shape 12"/>
          <p:cNvSpPr/>
          <p:nvPr/>
        </p:nvSpPr>
        <p:spPr>
          <a:xfrm>
            <a:off x="374904" y="1837944"/>
            <a:ext cx="292608" cy="292608"/>
          </a:xfrm>
          <a:prstGeom prst="ellipse">
            <a:avLst/>
          </a:prstGeom>
          <a:solidFill>
            <a:srgbClr val="15803D"/>
          </a:solidFill>
          <a:ln w="19050">
            <a:solidFill>
              <a:srgbClr val="FFFFFF"/>
            </a:solidFill>
            <a:prstDash val="solid"/>
          </a:ln>
        </p:spPr>
      </p:sp>
      <p:sp>
        <p:nvSpPr>
          <p:cNvPr id="15" name="Text 13"/>
          <p:cNvSpPr/>
          <p:nvPr/>
        </p:nvSpPr>
        <p:spPr>
          <a:xfrm>
            <a:off x="37490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6" name="Text 14"/>
          <p:cNvSpPr/>
          <p:nvPr/>
        </p:nvSpPr>
        <p:spPr>
          <a:xfrm>
            <a:off x="64008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Detección</a:t>
            </a:r>
            <a:endParaRPr lang="en-US" sz="1200" dirty="0"/>
          </a:p>
        </p:txBody>
      </p:sp>
      <p:sp>
        <p:nvSpPr>
          <p:cNvPr id="17" name="Text 15"/>
          <p:cNvSpPr/>
          <p:nvPr/>
        </p:nvSpPr>
        <p:spPr>
          <a:xfrm>
            <a:off x="64008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Motor de fechas · break option · fin contrato</a:t>
            </a:r>
            <a:endParaRPr lang="en-US" sz="950" dirty="0"/>
          </a:p>
        </p:txBody>
      </p:sp>
      <p:sp>
        <p:nvSpPr>
          <p:cNvPr id="18" name="Text 16"/>
          <p:cNvSpPr/>
          <p:nvPr/>
        </p:nvSpPr>
        <p:spPr>
          <a:xfrm>
            <a:off x="2542946"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2785262"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0" name="Shape 18"/>
          <p:cNvSpPr/>
          <p:nvPr/>
        </p:nvSpPr>
        <p:spPr>
          <a:xfrm>
            <a:off x="2785262" y="1965960"/>
            <a:ext cx="2053742" cy="54864"/>
          </a:xfrm>
          <a:prstGeom prst="rect">
            <a:avLst/>
          </a:prstGeom>
          <a:solidFill>
            <a:srgbClr val="15803D"/>
          </a:solidFill>
          <a:ln w="12700">
            <a:solidFill>
              <a:srgbClr val="15803D"/>
            </a:solidFill>
            <a:prstDash val="solid"/>
          </a:ln>
        </p:spPr>
      </p:sp>
      <p:sp>
        <p:nvSpPr>
          <p:cNvPr id="21" name="Shape 19"/>
          <p:cNvSpPr/>
          <p:nvPr/>
        </p:nvSpPr>
        <p:spPr>
          <a:xfrm>
            <a:off x="2657246" y="1837944"/>
            <a:ext cx="292608" cy="292608"/>
          </a:xfrm>
          <a:prstGeom prst="ellipse">
            <a:avLst/>
          </a:prstGeom>
          <a:solidFill>
            <a:srgbClr val="15803D"/>
          </a:solidFill>
          <a:ln w="19050">
            <a:solidFill>
              <a:srgbClr val="FFFFFF"/>
            </a:solidFill>
            <a:prstDash val="solid"/>
          </a:ln>
        </p:spPr>
      </p:sp>
      <p:sp>
        <p:nvSpPr>
          <p:cNvPr id="22" name="Text 20"/>
          <p:cNvSpPr/>
          <p:nvPr/>
        </p:nvSpPr>
        <p:spPr>
          <a:xfrm>
            <a:off x="2657246"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Text 21"/>
          <p:cNvSpPr/>
          <p:nvPr/>
        </p:nvSpPr>
        <p:spPr>
          <a:xfrm>
            <a:off x="2922422"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Alerta</a:t>
            </a:r>
            <a:endParaRPr lang="en-US" sz="1200" dirty="0"/>
          </a:p>
        </p:txBody>
      </p:sp>
      <p:sp>
        <p:nvSpPr>
          <p:cNvPr id="24" name="Text 22"/>
          <p:cNvSpPr/>
          <p:nvPr/>
        </p:nvSpPr>
        <p:spPr>
          <a:xfrm>
            <a:off x="2922422"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Badge días restantes · tabla vencimientos</a:t>
            </a:r>
            <a:endParaRPr lang="en-US" sz="950" dirty="0"/>
          </a:p>
        </p:txBody>
      </p:sp>
      <p:sp>
        <p:nvSpPr>
          <p:cNvPr id="25" name="Text 23"/>
          <p:cNvSpPr/>
          <p:nvPr/>
        </p:nvSpPr>
        <p:spPr>
          <a:xfrm>
            <a:off x="4825289"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067605"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27" name="Shape 25"/>
          <p:cNvSpPr/>
          <p:nvPr/>
        </p:nvSpPr>
        <p:spPr>
          <a:xfrm>
            <a:off x="5067605" y="1965960"/>
            <a:ext cx="2053742" cy="54864"/>
          </a:xfrm>
          <a:prstGeom prst="rect">
            <a:avLst/>
          </a:prstGeom>
          <a:solidFill>
            <a:srgbClr val="15803D"/>
          </a:solidFill>
          <a:ln w="12700">
            <a:solidFill>
              <a:srgbClr val="15803D"/>
            </a:solidFill>
            <a:prstDash val="solid"/>
          </a:ln>
        </p:spPr>
      </p:sp>
      <p:sp>
        <p:nvSpPr>
          <p:cNvPr id="28" name="Shape 26"/>
          <p:cNvSpPr/>
          <p:nvPr/>
        </p:nvSpPr>
        <p:spPr>
          <a:xfrm>
            <a:off x="4939589" y="1837944"/>
            <a:ext cx="292608" cy="292608"/>
          </a:xfrm>
          <a:prstGeom prst="ellipse">
            <a:avLst/>
          </a:prstGeom>
          <a:solidFill>
            <a:srgbClr val="15803D"/>
          </a:solidFill>
          <a:ln w="19050">
            <a:solidFill>
              <a:srgbClr val="FFFFFF"/>
            </a:solidFill>
            <a:prstDash val="solid"/>
          </a:ln>
        </p:spPr>
      </p:sp>
      <p:sp>
        <p:nvSpPr>
          <p:cNvPr id="29" name="Text 27"/>
          <p:cNvSpPr/>
          <p:nvPr/>
        </p:nvSpPr>
        <p:spPr>
          <a:xfrm>
            <a:off x="4939589"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0" name="Text 28"/>
          <p:cNvSpPr/>
          <p:nvPr/>
        </p:nvSpPr>
        <p:spPr>
          <a:xfrm>
            <a:off x="5204765"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Acción</a:t>
            </a:r>
            <a:endParaRPr lang="en-US" sz="1200" dirty="0"/>
          </a:p>
        </p:txBody>
      </p:sp>
      <p:sp>
        <p:nvSpPr>
          <p:cNvPr id="31" name="Text 29"/>
          <p:cNvSpPr/>
          <p:nvPr/>
        </p:nvSpPr>
        <p:spPr>
          <a:xfrm>
            <a:off x="5204765"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Contacto con arrendatario o propietario</a:t>
            </a:r>
            <a:endParaRPr lang="en-US" sz="950" dirty="0"/>
          </a:p>
        </p:txBody>
      </p:sp>
      <p:sp>
        <p:nvSpPr>
          <p:cNvPr id="32" name="Text 30"/>
          <p:cNvSpPr/>
          <p:nvPr/>
        </p:nvSpPr>
        <p:spPr>
          <a:xfrm>
            <a:off x="7107631"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7349947" y="1965960"/>
            <a:ext cx="2053742" cy="1554480"/>
          </a:xfrm>
          <a:prstGeom prst="roundRect">
            <a:avLst>
              <a:gd name="adj" fmla="val 3529"/>
            </a:avLst>
          </a:prstGeom>
          <a:solidFill>
            <a:srgbClr val="FFFFFF"/>
          </a:solidFill>
          <a:ln w="12700">
            <a:solidFill>
              <a:srgbClr val="15803D"/>
            </a:solidFill>
            <a:prstDash val="solid"/>
          </a:ln>
          <a:effectLst>
            <a:outerShdw sx="100000" sy="100000" kx="0" ky="0" algn="bl" rotWithShape="0" blurRad="50800" dist="12700" dir="5400000">
              <a:srgbClr val="00000014">
                <a:alpha val="75000"/>
              </a:srgbClr>
            </a:outerShdw>
          </a:effectLst>
        </p:spPr>
      </p:sp>
      <p:sp>
        <p:nvSpPr>
          <p:cNvPr id="34" name="Shape 32"/>
          <p:cNvSpPr/>
          <p:nvPr/>
        </p:nvSpPr>
        <p:spPr>
          <a:xfrm>
            <a:off x="7349947" y="1965960"/>
            <a:ext cx="2053742" cy="54864"/>
          </a:xfrm>
          <a:prstGeom prst="rect">
            <a:avLst/>
          </a:prstGeom>
          <a:solidFill>
            <a:srgbClr val="15803D"/>
          </a:solidFill>
          <a:ln w="12700">
            <a:solidFill>
              <a:srgbClr val="15803D"/>
            </a:solidFill>
            <a:prstDash val="solid"/>
          </a:ln>
        </p:spPr>
      </p:sp>
      <p:sp>
        <p:nvSpPr>
          <p:cNvPr id="35" name="Shape 33"/>
          <p:cNvSpPr/>
          <p:nvPr/>
        </p:nvSpPr>
        <p:spPr>
          <a:xfrm>
            <a:off x="7221931" y="1837944"/>
            <a:ext cx="292608" cy="292608"/>
          </a:xfrm>
          <a:prstGeom prst="ellipse">
            <a:avLst/>
          </a:prstGeom>
          <a:solidFill>
            <a:srgbClr val="15803D"/>
          </a:solidFill>
          <a:ln w="19050">
            <a:solidFill>
              <a:srgbClr val="FFFFFF"/>
            </a:solidFill>
            <a:prstDash val="solid"/>
          </a:ln>
        </p:spPr>
      </p:sp>
      <p:sp>
        <p:nvSpPr>
          <p:cNvPr id="36" name="Text 34"/>
          <p:cNvSpPr/>
          <p:nvPr/>
        </p:nvSpPr>
        <p:spPr>
          <a:xfrm>
            <a:off x="7221931"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Text 35"/>
          <p:cNvSpPr/>
          <p:nvPr/>
        </p:nvSpPr>
        <p:spPr>
          <a:xfrm>
            <a:off x="7487107"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Resolución</a:t>
            </a:r>
            <a:endParaRPr lang="en-US" sz="1200" dirty="0"/>
          </a:p>
        </p:txBody>
      </p:sp>
      <p:sp>
        <p:nvSpPr>
          <p:cNvPr id="38" name="Text 36"/>
          <p:cNvSpPr/>
          <p:nvPr/>
        </p:nvSpPr>
        <p:spPr>
          <a:xfrm>
            <a:off x="7487107"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Renovación · relocation · nueva oportunidad</a:t>
            </a:r>
            <a:endParaRPr lang="en-US" sz="950" dirty="0"/>
          </a:p>
        </p:txBody>
      </p:sp>
      <p:sp>
        <p:nvSpPr>
          <p:cNvPr id="39" name="Text 37"/>
          <p:cNvSpPr/>
          <p:nvPr/>
        </p:nvSpPr>
        <p:spPr>
          <a:xfrm>
            <a:off x="9389974" y="2596896"/>
            <a:ext cx="274320" cy="292608"/>
          </a:xfrm>
          <a:prstGeom prst="rect">
            <a:avLst/>
          </a:prstGeom>
          <a:noFill/>
          <a:ln/>
        </p:spPr>
        <p:txBody>
          <a:bodyPr wrap="square" rtlCol="0" anchor="ctr"/>
          <a:lstStyle/>
          <a:p>
            <a:pPr algn="ctr" indent="0" marL="0">
              <a:buNone/>
            </a:pPr>
            <a:r>
              <a:rPr lang="en-US" sz="2200" b="1" dirty="0">
                <a:solidFill>
                  <a:srgbClr val="94A3B8"/>
                </a:solidFill>
                <a:latin typeface="Calibri" pitchFamily="34" charset="0"/>
                <a:ea typeface="Calibri" pitchFamily="34" charset="-122"/>
                <a:cs typeface="Calibri" pitchFamily="34" charset="-120"/>
              </a:rPr>
              <a:t>›</a:t>
            </a:r>
            <a:endParaRPr lang="en-US" sz="2200" dirty="0"/>
          </a:p>
        </p:txBody>
      </p:sp>
      <p:sp>
        <p:nvSpPr>
          <p:cNvPr id="40" name="Shape 38"/>
          <p:cNvSpPr/>
          <p:nvPr/>
        </p:nvSpPr>
        <p:spPr>
          <a:xfrm>
            <a:off x="9632290" y="1965960"/>
            <a:ext cx="2053742" cy="1554480"/>
          </a:xfrm>
          <a:prstGeom prst="roundRect">
            <a:avLst>
              <a:gd name="adj" fmla="val 3529"/>
            </a:avLst>
          </a:prstGeom>
          <a:solidFill>
            <a:srgbClr val="EFF6FF"/>
          </a:solidFill>
          <a:ln w="12700">
            <a:solidFill>
              <a:srgbClr val="2563EB"/>
            </a:solidFill>
            <a:prstDash val="solid"/>
          </a:ln>
          <a:effectLst>
            <a:outerShdw sx="100000" sy="100000" kx="0" ky="0" algn="bl" rotWithShape="0" blurRad="50800" dist="12700" dir="5400000">
              <a:srgbClr val="00000014">
                <a:alpha val="75000"/>
              </a:srgbClr>
            </a:outerShdw>
          </a:effectLst>
        </p:spPr>
      </p:sp>
      <p:sp>
        <p:nvSpPr>
          <p:cNvPr id="41" name="Shape 39"/>
          <p:cNvSpPr/>
          <p:nvPr/>
        </p:nvSpPr>
        <p:spPr>
          <a:xfrm>
            <a:off x="9632290" y="1965960"/>
            <a:ext cx="2053742" cy="54864"/>
          </a:xfrm>
          <a:prstGeom prst="rect">
            <a:avLst/>
          </a:prstGeom>
          <a:solidFill>
            <a:srgbClr val="2563EB"/>
          </a:solidFill>
          <a:ln w="12700">
            <a:solidFill>
              <a:srgbClr val="2563EB"/>
            </a:solidFill>
            <a:prstDash val="solid"/>
          </a:ln>
        </p:spPr>
      </p:sp>
      <p:sp>
        <p:nvSpPr>
          <p:cNvPr id="42" name="Shape 40"/>
          <p:cNvSpPr/>
          <p:nvPr/>
        </p:nvSpPr>
        <p:spPr>
          <a:xfrm>
            <a:off x="9504274" y="1837944"/>
            <a:ext cx="292608" cy="292608"/>
          </a:xfrm>
          <a:prstGeom prst="ellipse">
            <a:avLst/>
          </a:prstGeom>
          <a:solidFill>
            <a:srgbClr val="2563EB"/>
          </a:solidFill>
          <a:ln w="19050">
            <a:solidFill>
              <a:srgbClr val="FFFFFF"/>
            </a:solidFill>
            <a:prstDash val="solid"/>
          </a:ln>
        </p:spPr>
      </p:sp>
      <p:sp>
        <p:nvSpPr>
          <p:cNvPr id="43" name="Text 41"/>
          <p:cNvSpPr/>
          <p:nvPr/>
        </p:nvSpPr>
        <p:spPr>
          <a:xfrm>
            <a:off x="9504274" y="1837944"/>
            <a:ext cx="29260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4" name="Text 42"/>
          <p:cNvSpPr/>
          <p:nvPr/>
        </p:nvSpPr>
        <p:spPr>
          <a:xfrm>
            <a:off x="9769450" y="2130552"/>
            <a:ext cx="1825142" cy="29260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Sync</a:t>
            </a:r>
            <a:endParaRPr lang="en-US" sz="1200" dirty="0"/>
          </a:p>
        </p:txBody>
      </p:sp>
      <p:sp>
        <p:nvSpPr>
          <p:cNvPr id="45" name="Text 43"/>
          <p:cNvSpPr/>
          <p:nvPr/>
        </p:nvSpPr>
        <p:spPr>
          <a:xfrm>
            <a:off x="9769450" y="2468880"/>
            <a:ext cx="1825142" cy="960120"/>
          </a:xfrm>
          <a:prstGeom prst="rect">
            <a:avLst/>
          </a:prstGeom>
          <a:noFill/>
          <a:ln/>
        </p:spPr>
        <p:txBody>
          <a:bodyPr wrap="square"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Update contrato o nueva Oportunidad en Dynamics</a:t>
            </a:r>
            <a:endParaRPr lang="en-US" sz="950" dirty="0"/>
          </a:p>
        </p:txBody>
      </p:sp>
      <p:sp>
        <p:nvSpPr>
          <p:cNvPr id="46" name="Shape 44"/>
          <p:cNvSpPr/>
          <p:nvPr/>
        </p:nvSpPr>
        <p:spPr>
          <a:xfrm>
            <a:off x="502920" y="5669280"/>
            <a:ext cx="11183112" cy="640080"/>
          </a:xfrm>
          <a:prstGeom prst="roundRect">
            <a:avLst>
              <a:gd name="adj" fmla="val 8571"/>
            </a:avLst>
          </a:prstGeom>
          <a:solidFill>
            <a:srgbClr val="FFFFFF"/>
          </a:solidFill>
          <a:ln w="6350">
            <a:solidFill>
              <a:srgbClr val="E2E8F0"/>
            </a:solidFill>
            <a:prstDash val="solid"/>
          </a:ln>
        </p:spPr>
      </p:sp>
      <p:sp>
        <p:nvSpPr>
          <p:cNvPr id="47" name="Text 45"/>
          <p:cNvSpPr/>
          <p:nvPr/>
        </p:nvSpPr>
        <p:spPr>
          <a:xfrm>
            <a:off x="685800" y="5724144"/>
            <a:ext cx="10817352" cy="182880"/>
          </a:xfrm>
          <a:prstGeom prst="rect">
            <a:avLst/>
          </a:prstGeom>
          <a:noFill/>
          <a:ln/>
        </p:spPr>
        <p:txBody>
          <a:bodyPr wrap="square" rtlCol="0" anchor="ctr"/>
          <a:lstStyle/>
          <a:p>
            <a:pPr indent="0" marL="0">
              <a:buNone/>
            </a:pPr>
            <a:r>
              <a:rPr lang="en-US" sz="850" b="1" dirty="0">
                <a:solidFill>
                  <a:srgbClr val="64748B"/>
                </a:solidFill>
                <a:latin typeface="Calibri" pitchFamily="34" charset="0"/>
                <a:ea typeface="Calibri" pitchFamily="34" charset="-122"/>
                <a:cs typeface="Calibri" pitchFamily="34" charset="-120"/>
              </a:rPr>
              <a:t>LECTURA DEL PROCESO</a:t>
            </a:r>
            <a:endParaRPr lang="en-US" sz="850" dirty="0"/>
          </a:p>
        </p:txBody>
      </p:sp>
      <p:sp>
        <p:nvSpPr>
          <p:cNvPr id="48" name="Text 46"/>
          <p:cNvSpPr/>
          <p:nvPr/>
        </p:nvSpPr>
        <p:spPr>
          <a:xfrm>
            <a:off x="685800" y="5916168"/>
            <a:ext cx="10817352" cy="365760"/>
          </a:xfrm>
          <a:prstGeom prst="rect">
            <a:avLst/>
          </a:prstGeom>
          <a:noFill/>
          <a:ln/>
        </p:spPr>
        <p:txBody>
          <a:bodyPr wrap="square" rtlCol="0" anchor="t"/>
          <a:lstStyle/>
          <a:p>
            <a:pPr indent="0" marL="0">
              <a:buNone/>
            </a:pPr>
            <a:r>
              <a:rPr lang="en-US" sz="1050" dirty="0">
                <a:solidFill>
                  <a:srgbClr val="334155"/>
                </a:solidFill>
                <a:latin typeface="Calibri" pitchFamily="34" charset="0"/>
                <a:ea typeface="Calibri" pitchFamily="34" charset="-122"/>
                <a:cs typeface="Calibri" pitchFamily="34" charset="-120"/>
              </a:rPr>
              <a:t>El motor de vencimientos actúa como reactivador del ciclo comercial: detecta contratos próximos a expirar y dispara alertas con días restantes. La acción comercial deriva en renovación (update contrato Dynamics) o en una nueva Oportunidad (relocation, tenant alternativo, salida).</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411480"/>
          </a:xfrm>
          <a:prstGeom prst="rect">
            <a:avLst/>
          </a:prstGeom>
          <a:solidFill>
            <a:srgbClr val="0B1F3F"/>
          </a:solidFill>
          <a:ln w="12700">
            <a:solidFill>
              <a:srgbClr val="0B1F3F"/>
            </a:solidFill>
            <a:prstDash val="solid"/>
          </a:ln>
        </p:spPr>
      </p:sp>
      <p:sp>
        <p:nvSpPr>
          <p:cNvPr id="3" name="Text 1"/>
          <p:cNvSpPr/>
          <p:nvPr/>
        </p:nvSpPr>
        <p:spPr>
          <a:xfrm>
            <a:off x="502920" y="0"/>
            <a:ext cx="548640" cy="41148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PDB</a:t>
            </a:r>
            <a:endParaRPr lang="en-US" sz="1300" dirty="0"/>
          </a:p>
        </p:txBody>
      </p:sp>
      <p:sp>
        <p:nvSpPr>
          <p:cNvPr id="4" name="Text 2"/>
          <p:cNvSpPr/>
          <p:nvPr/>
        </p:nvSpPr>
        <p:spPr>
          <a:xfrm>
            <a:off x="1143000" y="0"/>
            <a:ext cx="7315200" cy="411480"/>
          </a:xfrm>
          <a:prstGeom prst="rect">
            <a:avLst/>
          </a:prstGeom>
          <a:noFill/>
          <a:ln/>
        </p:spPr>
        <p:txBody>
          <a:bodyPr wrap="square"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Cierre</a:t>
            </a:r>
            <a:endParaRPr lang="en-US" sz="1050" dirty="0"/>
          </a:p>
        </p:txBody>
      </p:sp>
      <p:sp>
        <p:nvSpPr>
          <p:cNvPr id="5" name="Text 3"/>
          <p:cNvSpPr/>
          <p:nvPr/>
        </p:nvSpPr>
        <p:spPr>
          <a:xfrm>
            <a:off x="10771632" y="0"/>
            <a:ext cx="914400" cy="411480"/>
          </a:xfrm>
          <a:prstGeom prst="rect">
            <a:avLst/>
          </a:prstGeom>
          <a:noFill/>
          <a:ln/>
        </p:spPr>
        <p:txBody>
          <a:bodyPr wrap="square"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18 / 18</a:t>
            </a:r>
            <a:endParaRPr lang="en-US" sz="950" dirty="0"/>
          </a:p>
        </p:txBody>
      </p:sp>
      <p:sp>
        <p:nvSpPr>
          <p:cNvPr id="6" name="Text 4"/>
          <p:cNvSpPr/>
          <p:nvPr/>
        </p:nvSpPr>
        <p:spPr>
          <a:xfrm>
            <a:off x="502920" y="6583680"/>
            <a:ext cx="5486400" cy="274320"/>
          </a:xfrm>
          <a:prstGeom prst="rect">
            <a:avLst/>
          </a:prstGeom>
          <a:noFill/>
          <a:ln/>
        </p:spPr>
        <p:txBody>
          <a:bodyPr wrap="square" rtlCol="0" anchor="ctr"/>
          <a:lstStyle/>
          <a:p>
            <a:pPr algn="l" indent="0" marL="0">
              <a:buNone/>
            </a:pPr>
            <a:r>
              <a:rPr lang="en-US" sz="850" dirty="0">
                <a:solidFill>
                  <a:srgbClr val="94A3B8"/>
                </a:solidFill>
                <a:latin typeface="Calibri" pitchFamily="34" charset="0"/>
                <a:ea typeface="Calibri" pitchFamily="34" charset="-122"/>
                <a:cs typeface="Calibri" pitchFamily="34" charset="-120"/>
              </a:rPr>
              <a:t>Savills · PDB CRM · 2026</a:t>
            </a:r>
            <a:endParaRPr lang="en-US" sz="850" dirty="0"/>
          </a:p>
        </p:txBody>
      </p:sp>
      <p:sp>
        <p:nvSpPr>
          <p:cNvPr id="7" name="Text 5"/>
          <p:cNvSpPr/>
          <p:nvPr/>
        </p:nvSpPr>
        <p:spPr>
          <a:xfrm>
            <a:off x="8028432" y="6583680"/>
            <a:ext cx="3657600" cy="274320"/>
          </a:xfrm>
          <a:prstGeom prst="rect">
            <a:avLst/>
          </a:prstGeom>
          <a:noFill/>
          <a:ln/>
        </p:spPr>
        <p:txBody>
          <a:bodyPr wrap="square" rtlCol="0" anchor="ctr"/>
          <a:lstStyle/>
          <a:p>
            <a:pPr algn="r" indent="0" marL="0">
              <a:buNone/>
            </a:pPr>
            <a:r>
              <a:rPr lang="en-US" sz="850" i="1" dirty="0">
                <a:solidFill>
                  <a:srgbClr val="94A3B8"/>
                </a:solidFill>
                <a:latin typeface="Calibri" pitchFamily="34" charset="0"/>
                <a:ea typeface="Calibri" pitchFamily="34" charset="-122"/>
                <a:cs typeface="Calibri" pitchFamily="34" charset="-120"/>
              </a:rPr>
              <a:t>Confidencial — uso interno</a:t>
            </a:r>
            <a:endParaRPr lang="en-US" sz="850" dirty="0"/>
          </a:p>
        </p:txBody>
      </p:sp>
      <p:sp>
        <p:nvSpPr>
          <p:cNvPr id="8" name="Text 6"/>
          <p:cNvSpPr/>
          <p:nvPr/>
        </p:nvSpPr>
        <p:spPr>
          <a:xfrm>
            <a:off x="502920" y="576072"/>
            <a:ext cx="11183112" cy="457200"/>
          </a:xfrm>
          <a:prstGeom prst="rect">
            <a:avLst/>
          </a:prstGeom>
          <a:noFill/>
          <a:ln/>
        </p:spPr>
        <p:txBody>
          <a:bodyPr wrap="square" rtlCol="0" anchor="t"/>
          <a:lstStyle/>
          <a:p>
            <a:pPr algn="l" indent="0" marL="0">
              <a:buNone/>
            </a:pPr>
            <a:r>
              <a:rPr lang="en-US" sz="2200" b="1" dirty="0">
                <a:solidFill>
                  <a:srgbClr val="0F172A"/>
                </a:solidFill>
                <a:latin typeface="Calibri" pitchFamily="34" charset="0"/>
                <a:ea typeface="Calibri" pitchFamily="34" charset="-122"/>
                <a:cs typeface="Calibri" pitchFamily="34" charset="-120"/>
              </a:rPr>
              <a:t>Vínculos críticos · Regla de oro</a:t>
            </a:r>
            <a:endParaRPr lang="en-US" sz="2200" dirty="0"/>
          </a:p>
        </p:txBody>
      </p:sp>
      <p:sp>
        <p:nvSpPr>
          <p:cNvPr id="9" name="Text 7"/>
          <p:cNvSpPr/>
          <p:nvPr/>
        </p:nvSpPr>
        <p:spPr>
          <a:xfrm>
            <a:off x="502920" y="1124712"/>
            <a:ext cx="11183112" cy="292608"/>
          </a:xfrm>
          <a:prstGeom prst="rect">
            <a:avLst/>
          </a:prstGeom>
          <a:noFill/>
          <a:ln/>
        </p:spPr>
        <p:txBody>
          <a:bodyPr wrap="square" rtlCol="0" anchor="t"/>
          <a:lstStyle/>
          <a:p>
            <a:pPr algn="l" indent="0" marL="0">
              <a:buNone/>
            </a:pPr>
            <a:r>
              <a:rPr lang="en-US" sz="1150" i="1" dirty="0">
                <a:solidFill>
                  <a:srgbClr val="64748B"/>
                </a:solidFill>
                <a:latin typeface="Calibri" pitchFamily="34" charset="0"/>
                <a:ea typeface="Calibri" pitchFamily="34" charset="-122"/>
                <a:cs typeface="Calibri" pitchFamily="34" charset="-120"/>
              </a:rPr>
              <a:t>Las tres reglas duras que mantienen la integridad del ciclo comercial.</a:t>
            </a:r>
            <a:endParaRPr lang="en-US" sz="1150" dirty="0"/>
          </a:p>
        </p:txBody>
      </p:sp>
      <p:sp>
        <p:nvSpPr>
          <p:cNvPr id="10" name="Shape 8"/>
          <p:cNvSpPr/>
          <p:nvPr/>
        </p:nvSpPr>
        <p:spPr>
          <a:xfrm>
            <a:off x="502920" y="1600200"/>
            <a:ext cx="3605784" cy="2377440"/>
          </a:xfrm>
          <a:prstGeom prst="roundRect">
            <a:avLst>
              <a:gd name="adj" fmla="val 2308"/>
            </a:avLst>
          </a:prstGeom>
          <a:solidFill>
            <a:srgbClr val="FFFFFF"/>
          </a:solidFill>
          <a:ln w="9525">
            <a:solidFill>
              <a:srgbClr val="B91C1C"/>
            </a:solidFill>
            <a:prstDash val="solid"/>
          </a:ln>
          <a:effectLst>
            <a:outerShdw sx="100000" sy="100000" kx="0" ky="0" algn="bl" rotWithShape="0" blurRad="63500" dist="12700" dir="5400000">
              <a:srgbClr val="00000018">
                <a:alpha val="75000"/>
              </a:srgbClr>
            </a:outerShdw>
          </a:effectLst>
        </p:spPr>
      </p:sp>
      <p:sp>
        <p:nvSpPr>
          <p:cNvPr id="11" name="Shape 9"/>
          <p:cNvSpPr/>
          <p:nvPr/>
        </p:nvSpPr>
        <p:spPr>
          <a:xfrm>
            <a:off x="502920" y="1600200"/>
            <a:ext cx="3605784" cy="54864"/>
          </a:xfrm>
          <a:prstGeom prst="rect">
            <a:avLst/>
          </a:prstGeom>
          <a:solidFill>
            <a:srgbClr val="B91C1C"/>
          </a:solidFill>
          <a:ln w="12700">
            <a:solidFill>
              <a:srgbClr val="B91C1C"/>
            </a:solidFill>
            <a:prstDash val="solid"/>
          </a:ln>
        </p:spPr>
      </p:sp>
      <p:sp>
        <p:nvSpPr>
          <p:cNvPr id="12" name="Text 10"/>
          <p:cNvSpPr/>
          <p:nvPr/>
        </p:nvSpPr>
        <p:spPr>
          <a:xfrm>
            <a:off x="731520" y="1783080"/>
            <a:ext cx="914400" cy="457200"/>
          </a:xfrm>
          <a:prstGeom prst="rect">
            <a:avLst/>
          </a:prstGeom>
          <a:noFill/>
          <a:ln/>
        </p:spPr>
        <p:txBody>
          <a:bodyPr wrap="square" rtlCol="0" anchor="ctr"/>
          <a:lstStyle/>
          <a:p>
            <a:pPr indent="0" marL="0">
              <a:buNone/>
            </a:pPr>
            <a:r>
              <a:rPr lang="en-US" sz="2800" b="1" dirty="0">
                <a:solidFill>
                  <a:srgbClr val="B91C1C"/>
                </a:solidFill>
                <a:latin typeface="Calibri" pitchFamily="34" charset="0"/>
                <a:ea typeface="Calibri" pitchFamily="34" charset="-122"/>
                <a:cs typeface="Calibri" pitchFamily="34" charset="-120"/>
              </a:rPr>
              <a:t>01</a:t>
            </a:r>
            <a:endParaRPr lang="en-US" sz="2800" dirty="0"/>
          </a:p>
        </p:txBody>
      </p:sp>
      <p:sp>
        <p:nvSpPr>
          <p:cNvPr id="13" name="Text 11"/>
          <p:cNvSpPr/>
          <p:nvPr/>
        </p:nvSpPr>
        <p:spPr>
          <a:xfrm>
            <a:off x="731520" y="2286000"/>
            <a:ext cx="3148584" cy="457200"/>
          </a:xfrm>
          <a:prstGeom prst="rect">
            <a:avLst/>
          </a:prstGeom>
          <a:noFill/>
          <a:ln/>
        </p:spPr>
        <p:txBody>
          <a:bodyPr wrap="square"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Activo + Cuenta-Propietario</a:t>
            </a:r>
            <a:endParaRPr lang="en-US" sz="1400" dirty="0"/>
          </a:p>
        </p:txBody>
      </p:sp>
      <p:sp>
        <p:nvSpPr>
          <p:cNvPr id="14" name="Text 12"/>
          <p:cNvSpPr/>
          <p:nvPr/>
        </p:nvSpPr>
        <p:spPr>
          <a:xfrm>
            <a:off x="731520" y="2788920"/>
            <a:ext cx="3148584" cy="1097280"/>
          </a:xfrm>
          <a:prstGeom prst="rect">
            <a:avLst/>
          </a:prstGeom>
          <a:noFill/>
          <a:ln/>
        </p:spPr>
        <p:txBody>
          <a:bodyPr wrap="square" rtlCol="0" anchor="t"/>
          <a:lstStyle/>
          <a:p>
            <a:pPr indent="0" marL="0">
              <a:buNone/>
            </a:pPr>
            <a:r>
              <a:rPr lang="en-US" sz="1100" dirty="0">
                <a:solidFill>
                  <a:srgbClr val="334155"/>
                </a:solidFill>
                <a:latin typeface="Calibri" pitchFamily="34" charset="0"/>
                <a:ea typeface="Calibri" pitchFamily="34" charset="-122"/>
                <a:cs typeface="Calibri" pitchFamily="34" charset="-120"/>
              </a:rPr>
              <a:t>Aunque el Activo puede existir sin Cuenta, vincularlo desbloquea la vista 360º del Propietario, el cross-selling, el reporting agregado y la facturación. Un Activo sin Cuenta queda como dato incompleto.</a:t>
            </a:r>
            <a:endParaRPr lang="en-US" sz="1100" dirty="0"/>
          </a:p>
        </p:txBody>
      </p:sp>
      <p:sp>
        <p:nvSpPr>
          <p:cNvPr id="15" name="Shape 13"/>
          <p:cNvSpPr/>
          <p:nvPr/>
        </p:nvSpPr>
        <p:spPr>
          <a:xfrm>
            <a:off x="4291584" y="1600200"/>
            <a:ext cx="3605784" cy="2377440"/>
          </a:xfrm>
          <a:prstGeom prst="roundRect">
            <a:avLst>
              <a:gd name="adj" fmla="val 2308"/>
            </a:avLst>
          </a:prstGeom>
          <a:solidFill>
            <a:srgbClr val="FFFFFF"/>
          </a:solidFill>
          <a:ln w="9525">
            <a:solidFill>
              <a:srgbClr val="D97706"/>
            </a:solidFill>
            <a:prstDash val="solid"/>
          </a:ln>
          <a:effectLst>
            <a:outerShdw sx="100000" sy="100000" kx="0" ky="0" algn="bl" rotWithShape="0" blurRad="63500" dist="12700" dir="5400000">
              <a:srgbClr val="00000018">
                <a:alpha val="75000"/>
              </a:srgbClr>
            </a:outerShdw>
          </a:effectLst>
        </p:spPr>
      </p:sp>
      <p:sp>
        <p:nvSpPr>
          <p:cNvPr id="16" name="Shape 14"/>
          <p:cNvSpPr/>
          <p:nvPr/>
        </p:nvSpPr>
        <p:spPr>
          <a:xfrm>
            <a:off x="4291584" y="1600200"/>
            <a:ext cx="3605784" cy="54864"/>
          </a:xfrm>
          <a:prstGeom prst="rect">
            <a:avLst/>
          </a:prstGeom>
          <a:solidFill>
            <a:srgbClr val="D97706"/>
          </a:solidFill>
          <a:ln w="12700">
            <a:solidFill>
              <a:srgbClr val="D97706"/>
            </a:solidFill>
            <a:prstDash val="solid"/>
          </a:ln>
        </p:spPr>
      </p:sp>
      <p:sp>
        <p:nvSpPr>
          <p:cNvPr id="17" name="Text 15"/>
          <p:cNvSpPr/>
          <p:nvPr/>
        </p:nvSpPr>
        <p:spPr>
          <a:xfrm>
            <a:off x="4520184" y="1783080"/>
            <a:ext cx="914400" cy="457200"/>
          </a:xfrm>
          <a:prstGeom prst="rect">
            <a:avLst/>
          </a:prstGeom>
          <a:noFill/>
          <a:ln/>
        </p:spPr>
        <p:txBody>
          <a:bodyPr wrap="square"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02</a:t>
            </a:r>
            <a:endParaRPr lang="en-US" sz="2800" dirty="0"/>
          </a:p>
        </p:txBody>
      </p:sp>
      <p:sp>
        <p:nvSpPr>
          <p:cNvPr id="18" name="Text 16"/>
          <p:cNvSpPr/>
          <p:nvPr/>
        </p:nvSpPr>
        <p:spPr>
          <a:xfrm>
            <a:off x="4520184" y="2286000"/>
            <a:ext cx="3148584" cy="457200"/>
          </a:xfrm>
          <a:prstGeom prst="rect">
            <a:avLst/>
          </a:prstGeom>
          <a:noFill/>
          <a:ln/>
        </p:spPr>
        <p:txBody>
          <a:bodyPr wrap="square"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Demanda + Cuenta-Arrendatario</a:t>
            </a:r>
            <a:endParaRPr lang="en-US" sz="1400" dirty="0"/>
          </a:p>
        </p:txBody>
      </p:sp>
      <p:sp>
        <p:nvSpPr>
          <p:cNvPr id="19" name="Text 17"/>
          <p:cNvSpPr/>
          <p:nvPr/>
        </p:nvSpPr>
        <p:spPr>
          <a:xfrm>
            <a:off x="4520184" y="2788920"/>
            <a:ext cx="3148584" cy="1097280"/>
          </a:xfrm>
          <a:prstGeom prst="rect">
            <a:avLst/>
          </a:prstGeom>
          <a:noFill/>
          <a:ln/>
        </p:spPr>
        <p:txBody>
          <a:bodyPr wrap="square" rtlCol="0" anchor="t"/>
          <a:lstStyle/>
          <a:p>
            <a:pPr indent="0" marL="0">
              <a:buNone/>
            </a:pPr>
            <a:r>
              <a:rPr lang="en-US" sz="1100" dirty="0">
                <a:solidFill>
                  <a:srgbClr val="334155"/>
                </a:solidFill>
                <a:latin typeface="Calibri" pitchFamily="34" charset="0"/>
                <a:ea typeface="Calibri" pitchFamily="34" charset="-122"/>
                <a:cs typeface="Calibri" pitchFamily="34" charset="-120"/>
              </a:rPr>
              <a:t>No existe Demanda sin Cuenta-Arrendatario. La Cuenta es el origen del interés comercial y permite segmentar, hacer reporting y mantener trazabilidad cuando la búsqueda evoluciona.</a:t>
            </a:r>
            <a:endParaRPr lang="en-US" sz="1100" dirty="0"/>
          </a:p>
        </p:txBody>
      </p:sp>
      <p:sp>
        <p:nvSpPr>
          <p:cNvPr id="20" name="Shape 18"/>
          <p:cNvSpPr/>
          <p:nvPr/>
        </p:nvSpPr>
        <p:spPr>
          <a:xfrm>
            <a:off x="8080248" y="1600200"/>
            <a:ext cx="3605784" cy="2377440"/>
          </a:xfrm>
          <a:prstGeom prst="roundRect">
            <a:avLst>
              <a:gd name="adj" fmla="val 2308"/>
            </a:avLst>
          </a:prstGeom>
          <a:solidFill>
            <a:srgbClr val="FFFFFF"/>
          </a:solidFill>
          <a:ln w="9525">
            <a:solidFill>
              <a:srgbClr val="15803D"/>
            </a:solidFill>
            <a:prstDash val="solid"/>
          </a:ln>
          <a:effectLst>
            <a:outerShdw sx="100000" sy="100000" kx="0" ky="0" algn="bl" rotWithShape="0" blurRad="63500" dist="12700" dir="5400000">
              <a:srgbClr val="00000018">
                <a:alpha val="75000"/>
              </a:srgbClr>
            </a:outerShdw>
          </a:effectLst>
        </p:spPr>
      </p:sp>
      <p:sp>
        <p:nvSpPr>
          <p:cNvPr id="21" name="Shape 19"/>
          <p:cNvSpPr/>
          <p:nvPr/>
        </p:nvSpPr>
        <p:spPr>
          <a:xfrm>
            <a:off x="8080248" y="1600200"/>
            <a:ext cx="3605784" cy="54864"/>
          </a:xfrm>
          <a:prstGeom prst="rect">
            <a:avLst/>
          </a:prstGeom>
          <a:solidFill>
            <a:srgbClr val="15803D"/>
          </a:solidFill>
          <a:ln w="12700">
            <a:solidFill>
              <a:srgbClr val="15803D"/>
            </a:solidFill>
            <a:prstDash val="solid"/>
          </a:ln>
        </p:spPr>
      </p:sp>
      <p:sp>
        <p:nvSpPr>
          <p:cNvPr id="22" name="Text 20"/>
          <p:cNvSpPr/>
          <p:nvPr/>
        </p:nvSpPr>
        <p:spPr>
          <a:xfrm>
            <a:off x="8308848" y="1783080"/>
            <a:ext cx="914400" cy="457200"/>
          </a:xfrm>
          <a:prstGeom prst="rect">
            <a:avLst/>
          </a:prstGeom>
          <a:noFill/>
          <a:ln/>
        </p:spPr>
        <p:txBody>
          <a:bodyPr wrap="square" rtlCol="0" anchor="ctr"/>
          <a:lstStyle/>
          <a:p>
            <a:pPr indent="0" marL="0">
              <a:buNone/>
            </a:pPr>
            <a:r>
              <a:rPr lang="en-US" sz="2800" b="1" dirty="0">
                <a:solidFill>
                  <a:srgbClr val="15803D"/>
                </a:solidFill>
                <a:latin typeface="Calibri" pitchFamily="34" charset="0"/>
                <a:ea typeface="Calibri" pitchFamily="34" charset="-122"/>
                <a:cs typeface="Calibri" pitchFamily="34" charset="-120"/>
              </a:rPr>
              <a:t>03</a:t>
            </a:r>
            <a:endParaRPr lang="en-US" sz="2800" dirty="0"/>
          </a:p>
        </p:txBody>
      </p:sp>
      <p:sp>
        <p:nvSpPr>
          <p:cNvPr id="23" name="Text 21"/>
          <p:cNvSpPr/>
          <p:nvPr/>
        </p:nvSpPr>
        <p:spPr>
          <a:xfrm>
            <a:off x="8308848" y="2286000"/>
            <a:ext cx="3148584" cy="457200"/>
          </a:xfrm>
          <a:prstGeom prst="rect">
            <a:avLst/>
          </a:prstGeom>
          <a:noFill/>
          <a:ln/>
        </p:spPr>
        <p:txBody>
          <a:bodyPr wrap="square"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Oferta + Demanda + Activo</a:t>
            </a:r>
            <a:endParaRPr lang="en-US" sz="1400" dirty="0"/>
          </a:p>
        </p:txBody>
      </p:sp>
      <p:sp>
        <p:nvSpPr>
          <p:cNvPr id="24" name="Text 22"/>
          <p:cNvSpPr/>
          <p:nvPr/>
        </p:nvSpPr>
        <p:spPr>
          <a:xfrm>
            <a:off x="8308848" y="2788920"/>
            <a:ext cx="3148584" cy="1097280"/>
          </a:xfrm>
          <a:prstGeom prst="rect">
            <a:avLst/>
          </a:prstGeom>
          <a:noFill/>
          <a:ln/>
        </p:spPr>
        <p:txBody>
          <a:bodyPr wrap="square" rtlCol="0" anchor="t"/>
          <a:lstStyle/>
          <a:p>
            <a:pPr indent="0" marL="0">
              <a:buNone/>
            </a:pPr>
            <a:r>
              <a:rPr lang="en-US" sz="1100" dirty="0">
                <a:solidFill>
                  <a:srgbClr val="334155"/>
                </a:solidFill>
                <a:latin typeface="Calibri" pitchFamily="34" charset="0"/>
                <a:ea typeface="Calibri" pitchFamily="34" charset="-122"/>
                <a:cs typeface="Calibri" pitchFamily="34" charset="-120"/>
              </a:rPr>
              <a:t>Toda Oferta debe colgar de un Activo. La Demanda machea siempre contra Ofertas vivas. El triángulo Oferta-Demanda-Activo es la unidad mínima que permite cerrar una operación.</a:t>
            </a:r>
            <a:endParaRPr lang="en-US" sz="1100" dirty="0"/>
          </a:p>
        </p:txBody>
      </p:sp>
      <p:sp>
        <p:nvSpPr>
          <p:cNvPr id="25" name="Shape 23"/>
          <p:cNvSpPr/>
          <p:nvPr/>
        </p:nvSpPr>
        <p:spPr>
          <a:xfrm>
            <a:off x="502920" y="4343400"/>
            <a:ext cx="11183112" cy="1371600"/>
          </a:xfrm>
          <a:prstGeom prst="roundRect">
            <a:avLst>
              <a:gd name="adj" fmla="val 5333"/>
            </a:avLst>
          </a:prstGeom>
          <a:solidFill>
            <a:srgbClr val="0B1F3F"/>
          </a:solidFill>
          <a:ln w="12700">
            <a:solidFill>
              <a:srgbClr val="0B1F3F"/>
            </a:solidFill>
            <a:prstDash val="solid"/>
          </a:ln>
        </p:spPr>
      </p:sp>
      <p:sp>
        <p:nvSpPr>
          <p:cNvPr id="26" name="Text 24"/>
          <p:cNvSpPr/>
          <p:nvPr/>
        </p:nvSpPr>
        <p:spPr>
          <a:xfrm>
            <a:off x="502920" y="4480560"/>
            <a:ext cx="11183112" cy="274320"/>
          </a:xfrm>
          <a:prstGeom prst="rect">
            <a:avLst/>
          </a:prstGeom>
          <a:noFill/>
          <a:ln/>
        </p:spPr>
        <p:txBody>
          <a:bodyPr wrap="square" rtlCol="0" anchor="ctr"/>
          <a:lstStyle/>
          <a:p>
            <a:pPr algn="ctr" indent="0" marL="0">
              <a:buNone/>
            </a:pPr>
            <a:r>
              <a:rPr lang="en-US" sz="1100" b="1" dirty="0">
                <a:solidFill>
                  <a:srgbClr val="60A5FA"/>
                </a:solidFill>
                <a:latin typeface="Calibri" pitchFamily="34" charset="0"/>
                <a:ea typeface="Calibri" pitchFamily="34" charset="-122"/>
                <a:cs typeface="Calibri" pitchFamily="34" charset="-120"/>
              </a:rPr>
              <a:t>REGLA DE ORO</a:t>
            </a:r>
            <a:endParaRPr lang="en-US" sz="1100" dirty="0"/>
          </a:p>
        </p:txBody>
      </p:sp>
      <p:sp>
        <p:nvSpPr>
          <p:cNvPr id="27" name="Text 25"/>
          <p:cNvSpPr/>
          <p:nvPr/>
        </p:nvSpPr>
        <p:spPr>
          <a:xfrm>
            <a:off x="868680" y="4800600"/>
            <a:ext cx="10451592" cy="868680"/>
          </a:xfrm>
          <a:prstGeom prst="rect">
            <a:avLst/>
          </a:prstGeom>
          <a:noFill/>
          <a:ln/>
        </p:spPr>
        <p:txBody>
          <a:bodyPr wrap="square" rtlCol="0" anchor="ctr"/>
          <a:lstStyle/>
          <a:p>
            <a:pPr algn="ctr" indent="0" marL="0">
              <a:buNone/>
            </a:pPr>
            <a:r>
              <a:rPr lang="en-US" sz="1800" dirty="0">
                <a:solidFill>
                  <a:srgbClr val="FFFFFF"/>
                </a:solidFill>
                <a:latin typeface="Calibri" pitchFamily="34" charset="0"/>
                <a:ea typeface="Calibri" pitchFamily="34" charset="-122"/>
                <a:cs typeface="Calibri" pitchFamily="34" charset="-120"/>
              </a:rPr>
              <a:t>Ningún Activo sin Cuenta-Propietario. Ninguna Demanda sin Cuenta-Arrendatario. Ninguna Oferta sin ambas.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Savills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PDB CRM · Mapa de Procesos</dc:title>
  <dc:subject>PptxGenJS Presentation</dc:subject>
  <dc:creator>Savills · PDB Team</dc:creator>
  <cp:lastModifiedBy>Savills · PDB Team</cp:lastModifiedBy>
  <cp:revision>1</cp:revision>
  <dcterms:created xsi:type="dcterms:W3CDTF">2026-04-28T06:17:53Z</dcterms:created>
  <dcterms:modified xsi:type="dcterms:W3CDTF">2026-04-28T06:17:53Z</dcterms:modified>
</cp:coreProperties>
</file>