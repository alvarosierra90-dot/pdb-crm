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7E"/>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FF9800"/>
          </a:solidFill>
          <a:ln w="12700">
            <a:solidFill>
              <a:srgbClr val="FF9800"/>
            </a:solidFill>
            <a:prstDash val="solid"/>
          </a:ln>
        </p:spPr>
      </p:sp>
      <p:sp>
        <p:nvSpPr>
          <p:cNvPr id="3" name="Shape 1"/>
          <p:cNvSpPr/>
          <p:nvPr/>
        </p:nvSpPr>
        <p:spPr>
          <a:xfrm>
            <a:off x="0" y="6803136"/>
            <a:ext cx="12188952" cy="54864"/>
          </a:xfrm>
          <a:prstGeom prst="rect">
            <a:avLst/>
          </a:prstGeom>
          <a:solidFill>
            <a:srgbClr val="FF9800"/>
          </a:solidFill>
          <a:ln w="12700">
            <a:solidFill>
              <a:srgbClr val="FF9800"/>
            </a:solidFill>
            <a:prstDash val="solid"/>
          </a:ln>
        </p:spPr>
      </p:sp>
      <p:sp>
        <p:nvSpPr>
          <p:cNvPr id="4" name="Text 2"/>
          <p:cNvSpPr/>
          <p:nvPr/>
        </p:nvSpPr>
        <p:spPr>
          <a:xfrm>
            <a:off x="914400" y="1828800"/>
            <a:ext cx="10360152" cy="1097280"/>
          </a:xfrm>
          <a:prstGeom prst="rect">
            <a:avLst/>
          </a:prstGeom>
          <a:noFill/>
          <a:ln/>
        </p:spPr>
        <p:txBody>
          <a:bodyPr wrap="square" rtlCol="0" anchor="ctr"/>
          <a:lstStyle/>
          <a:p>
            <a:pPr algn="ctr" indent="0" marL="0">
              <a:buNone/>
            </a:pPr>
            <a:r>
              <a:rPr lang="en-US" sz="6000" b="1" dirty="0">
                <a:solidFill>
                  <a:srgbClr val="FFFFFF"/>
                </a:solidFill>
                <a:latin typeface="Calibri" pitchFamily="34" charset="0"/>
                <a:ea typeface="Calibri" pitchFamily="34" charset="-122"/>
                <a:cs typeface="Calibri" pitchFamily="34" charset="-120"/>
              </a:rPr>
              <a:t>FLUJOS PDB</a:t>
            </a:r>
            <a:endParaRPr lang="en-US" sz="6000" dirty="0"/>
          </a:p>
        </p:txBody>
      </p:sp>
      <p:sp>
        <p:nvSpPr>
          <p:cNvPr id="5" name="Text 3"/>
          <p:cNvSpPr/>
          <p:nvPr/>
        </p:nvSpPr>
        <p:spPr>
          <a:xfrm>
            <a:off x="914400" y="3108960"/>
            <a:ext cx="10360152" cy="548640"/>
          </a:xfrm>
          <a:prstGeom prst="rect">
            <a:avLst/>
          </a:prstGeom>
          <a:noFill/>
          <a:ln/>
        </p:spPr>
        <p:txBody>
          <a:bodyPr wrap="square" rtlCol="0" anchor="ctr"/>
          <a:lstStyle/>
          <a:p>
            <a:pPr algn="ctr" indent="0" marL="0">
              <a:buNone/>
            </a:pPr>
            <a:r>
              <a:rPr lang="en-US" sz="2200" dirty="0">
                <a:solidFill>
                  <a:srgbClr val="90CAF9"/>
                </a:solidFill>
                <a:latin typeface="Calibri" pitchFamily="34" charset="0"/>
                <a:ea typeface="Calibri" pitchFamily="34" charset="-122"/>
                <a:cs typeface="Calibri" pitchFamily="34" charset="-120"/>
              </a:rPr>
              <a:t>Mapa de procesos · 10 ciclos clave</a:t>
            </a:r>
            <a:endParaRPr lang="en-US" sz="2200" dirty="0"/>
          </a:p>
        </p:txBody>
      </p:sp>
      <p:sp>
        <p:nvSpPr>
          <p:cNvPr id="6" name="Text 4"/>
          <p:cNvSpPr/>
          <p:nvPr/>
        </p:nvSpPr>
        <p:spPr>
          <a:xfrm>
            <a:off x="914400" y="3749040"/>
            <a:ext cx="10360152" cy="365760"/>
          </a:xfrm>
          <a:prstGeom prst="rect">
            <a:avLst/>
          </a:prstGeom>
          <a:noFill/>
          <a:ln/>
        </p:spPr>
        <p:txBody>
          <a:bodyPr wrap="square" rtlCol="0" anchor="ctr"/>
          <a:lstStyle/>
          <a:p>
            <a:pPr algn="ctr" indent="0" marL="0">
              <a:buNone/>
            </a:pPr>
            <a:r>
              <a:rPr lang="en-US" sz="1200" dirty="0">
                <a:solidFill>
                  <a:srgbClr val="BBDEFB"/>
                </a:solidFill>
                <a:latin typeface="Calibri" pitchFamily="34" charset="0"/>
                <a:ea typeface="Calibri" pitchFamily="34" charset="-122"/>
                <a:cs typeface="Calibri" pitchFamily="34" charset="-120"/>
              </a:rPr>
              <a:t>Cuenta · Oportunidad · Demanda · Activo · Visita · Oferta · Negociación · Instrucción · Transacción</a:t>
            </a:r>
            <a:endParaRPr lang="en-US" sz="1200" dirty="0"/>
          </a:p>
        </p:txBody>
      </p:sp>
      <p:sp>
        <p:nvSpPr>
          <p:cNvPr id="7" name="Shape 5"/>
          <p:cNvSpPr/>
          <p:nvPr/>
        </p:nvSpPr>
        <p:spPr>
          <a:xfrm>
            <a:off x="2286000" y="5120640"/>
            <a:ext cx="2468880" cy="411480"/>
          </a:xfrm>
          <a:prstGeom prst="roundRect">
            <a:avLst>
              <a:gd name="adj" fmla="val 17778"/>
            </a:avLst>
          </a:prstGeom>
          <a:solidFill>
            <a:srgbClr val="0078D4"/>
          </a:solidFill>
          <a:ln w="12700">
            <a:solidFill>
              <a:srgbClr val="0078D4"/>
            </a:solidFill>
            <a:prstDash val="solid"/>
          </a:ln>
        </p:spPr>
      </p:sp>
      <p:sp>
        <p:nvSpPr>
          <p:cNvPr id="8" name="Text 6"/>
          <p:cNvSpPr/>
          <p:nvPr/>
        </p:nvSpPr>
        <p:spPr>
          <a:xfrm>
            <a:off x="2286000" y="5120640"/>
            <a:ext cx="2468880" cy="41148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Dynamics — sistema maestro</a:t>
            </a:r>
            <a:endParaRPr lang="en-US" sz="1100" dirty="0"/>
          </a:p>
        </p:txBody>
      </p:sp>
      <p:sp>
        <p:nvSpPr>
          <p:cNvPr id="9" name="Shape 7"/>
          <p:cNvSpPr/>
          <p:nvPr/>
        </p:nvSpPr>
        <p:spPr>
          <a:xfrm>
            <a:off x="5029200" y="5120640"/>
            <a:ext cx="2468880" cy="411480"/>
          </a:xfrm>
          <a:prstGeom prst="roundRect">
            <a:avLst>
              <a:gd name="adj" fmla="val 17778"/>
            </a:avLst>
          </a:prstGeom>
          <a:solidFill>
            <a:srgbClr val="2E7D32"/>
          </a:solidFill>
          <a:ln w="12700">
            <a:solidFill>
              <a:srgbClr val="2E7D32"/>
            </a:solidFill>
            <a:prstDash val="solid"/>
          </a:ln>
        </p:spPr>
      </p:sp>
      <p:sp>
        <p:nvSpPr>
          <p:cNvPr id="10" name="Text 8"/>
          <p:cNvSpPr/>
          <p:nvPr/>
        </p:nvSpPr>
        <p:spPr>
          <a:xfrm>
            <a:off x="5029200" y="5120640"/>
            <a:ext cx="2468880" cy="41148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PDB — sistema operativo</a:t>
            </a:r>
            <a:endParaRPr lang="en-US" sz="1100" dirty="0"/>
          </a:p>
        </p:txBody>
      </p:sp>
      <p:sp>
        <p:nvSpPr>
          <p:cNvPr id="11" name="Shape 9"/>
          <p:cNvSpPr/>
          <p:nvPr/>
        </p:nvSpPr>
        <p:spPr>
          <a:xfrm>
            <a:off x="7772400" y="5120640"/>
            <a:ext cx="2468880" cy="411480"/>
          </a:xfrm>
          <a:prstGeom prst="roundRect">
            <a:avLst>
              <a:gd name="adj" fmla="val 17778"/>
            </a:avLst>
          </a:prstGeom>
          <a:solidFill>
            <a:srgbClr val="DC2626"/>
          </a:solidFill>
          <a:ln w="12700">
            <a:solidFill>
              <a:srgbClr val="DC2626"/>
            </a:solidFill>
            <a:prstDash val="solid"/>
          </a:ln>
        </p:spPr>
      </p:sp>
      <p:sp>
        <p:nvSpPr>
          <p:cNvPr id="12" name="Text 10"/>
          <p:cNvSpPr/>
          <p:nvPr/>
        </p:nvSpPr>
        <p:spPr>
          <a:xfrm>
            <a:off x="7772400" y="5120640"/>
            <a:ext cx="2468880" cy="41148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Vínculo CRÍTICO</a:t>
            </a:r>
            <a:endParaRPr lang="en-US" sz="1100" dirty="0"/>
          </a:p>
        </p:txBody>
      </p:sp>
      <p:sp>
        <p:nvSpPr>
          <p:cNvPr id="13" name="Text 11"/>
          <p:cNvSpPr/>
          <p:nvPr/>
        </p:nvSpPr>
        <p:spPr>
          <a:xfrm>
            <a:off x="0" y="6309360"/>
            <a:ext cx="12188952" cy="274320"/>
          </a:xfrm>
          <a:prstGeom prst="rect">
            <a:avLst/>
          </a:prstGeom>
          <a:noFill/>
          <a:ln/>
        </p:spPr>
        <p:txBody>
          <a:bodyPr wrap="square" rtlCol="0" anchor="ctr"/>
          <a:lstStyle/>
          <a:p>
            <a:pPr algn="ctr" indent="0" marL="0">
              <a:buNone/>
            </a:pPr>
            <a:r>
              <a:rPr lang="en-US" sz="1100" dirty="0">
                <a:solidFill>
                  <a:srgbClr val="7986CB"/>
                </a:solidFill>
                <a:latin typeface="Calibri" pitchFamily="34" charset="0"/>
                <a:ea typeface="Calibri" pitchFamily="34" charset="-122"/>
                <a:cs typeface="Calibri" pitchFamily="34" charset="-120"/>
              </a:rPr>
              <a:t>Savills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Ciclo comercial completo (end-to-end)</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Cuenta → Oportunidad → Demanda → Activo → Visita → Oferta → Negociación → Instrucción → Transacción</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169164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 · Sistema maestro</a:t>
            </a:r>
            <a:endParaRPr lang="en-US" sz="900" dirty="0"/>
          </a:p>
        </p:txBody>
      </p:sp>
      <p:sp>
        <p:nvSpPr>
          <p:cNvPr id="13" name="Shape 11"/>
          <p:cNvSpPr/>
          <p:nvPr/>
        </p:nvSpPr>
        <p:spPr>
          <a:xfrm>
            <a:off x="274320" y="3154680"/>
            <a:ext cx="11640312" cy="2331720"/>
          </a:xfrm>
          <a:prstGeom prst="rect">
            <a:avLst/>
          </a:prstGeom>
          <a:solidFill>
            <a:srgbClr val="2E7D32">
              <a:alpha val="12000"/>
            </a:srgbClr>
          </a:solidFill>
          <a:ln w="12700">
            <a:solidFill>
              <a:srgbClr val="2E7D32"/>
            </a:solidFill>
            <a:prstDash val="dash"/>
          </a:ln>
        </p:spPr>
      </p:sp>
      <p:sp>
        <p:nvSpPr>
          <p:cNvPr id="14" name="Text 12"/>
          <p:cNvSpPr/>
          <p:nvPr/>
        </p:nvSpPr>
        <p:spPr>
          <a:xfrm>
            <a:off x="347472" y="319125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 · Sistema operativo</a:t>
            </a:r>
            <a:endParaRPr lang="en-US" sz="900" dirty="0"/>
          </a:p>
        </p:txBody>
      </p:sp>
      <p:sp>
        <p:nvSpPr>
          <p:cNvPr id="15" name="Shape 13"/>
          <p:cNvSpPr/>
          <p:nvPr/>
        </p:nvSpPr>
        <p:spPr>
          <a:xfrm>
            <a:off x="548640" y="1325880"/>
            <a:ext cx="1737360" cy="1097280"/>
          </a:xfrm>
          <a:prstGeom prst="roundRect">
            <a:avLst>
              <a:gd name="adj" fmla="val 6667"/>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548640" y="1325880"/>
            <a:ext cx="17373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Alta fuente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 verdad</a:t>
            </a:r>
            <a:endParaRPr lang="en-US" sz="1000" dirty="0"/>
          </a:p>
        </p:txBody>
      </p:sp>
      <p:sp>
        <p:nvSpPr>
          <p:cNvPr id="17" name="Shape 15"/>
          <p:cNvSpPr/>
          <p:nvPr/>
        </p:nvSpPr>
        <p:spPr>
          <a:xfrm>
            <a:off x="438912" y="1216152"/>
            <a:ext cx="329184" cy="329184"/>
          </a:xfrm>
          <a:prstGeom prst="ellipse">
            <a:avLst/>
          </a:prstGeom>
          <a:solidFill>
            <a:srgbClr val="1A237E"/>
          </a:solidFill>
          <a:ln w="25400">
            <a:solidFill>
              <a:srgbClr val="FFFFFF"/>
            </a:solidFill>
            <a:prstDash val="solid"/>
          </a:ln>
        </p:spPr>
      </p:sp>
      <p:sp>
        <p:nvSpPr>
          <p:cNvPr id="18" name="Text 16"/>
          <p:cNvSpPr/>
          <p:nvPr/>
        </p:nvSpPr>
        <p:spPr>
          <a:xfrm>
            <a:off x="43891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2606040" y="1325880"/>
            <a:ext cx="1737360" cy="1097280"/>
          </a:xfrm>
          <a:prstGeom prst="roundRect">
            <a:avLst>
              <a:gd name="adj" fmla="val 6667"/>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2606040" y="1325880"/>
            <a:ext cx="17373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Oportunidad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Detección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comercial</a:t>
            </a:r>
            <a:endParaRPr lang="en-US" sz="1000" dirty="0"/>
          </a:p>
        </p:txBody>
      </p:sp>
      <p:sp>
        <p:nvSpPr>
          <p:cNvPr id="21" name="Shape 19"/>
          <p:cNvSpPr/>
          <p:nvPr/>
        </p:nvSpPr>
        <p:spPr>
          <a:xfrm>
            <a:off x="2496312" y="1216152"/>
            <a:ext cx="329184" cy="329184"/>
          </a:xfrm>
          <a:prstGeom prst="ellipse">
            <a:avLst/>
          </a:prstGeom>
          <a:solidFill>
            <a:srgbClr val="1A237E"/>
          </a:solidFill>
          <a:ln w="25400">
            <a:solidFill>
              <a:srgbClr val="FFFFFF"/>
            </a:solidFill>
            <a:prstDash val="solid"/>
          </a:ln>
        </p:spPr>
      </p:sp>
      <p:sp>
        <p:nvSpPr>
          <p:cNvPr id="22" name="Text 20"/>
          <p:cNvSpPr/>
          <p:nvPr/>
        </p:nvSpPr>
        <p:spPr>
          <a:xfrm>
            <a:off x="249631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8686800" y="1325880"/>
            <a:ext cx="1737360" cy="1097280"/>
          </a:xfrm>
          <a:prstGeom prst="roundRect">
            <a:avLst>
              <a:gd name="adj" fmla="val 6667"/>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8686800" y="1325880"/>
            <a:ext cx="17373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Instrucción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Mandato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formal</a:t>
            </a:r>
            <a:endParaRPr lang="en-US" sz="1000" dirty="0"/>
          </a:p>
        </p:txBody>
      </p:sp>
      <p:sp>
        <p:nvSpPr>
          <p:cNvPr id="25" name="Shape 23"/>
          <p:cNvSpPr/>
          <p:nvPr/>
        </p:nvSpPr>
        <p:spPr>
          <a:xfrm>
            <a:off x="8577072" y="1216152"/>
            <a:ext cx="329184" cy="329184"/>
          </a:xfrm>
          <a:prstGeom prst="ellipse">
            <a:avLst/>
          </a:prstGeom>
          <a:solidFill>
            <a:srgbClr val="1A237E"/>
          </a:solidFill>
          <a:ln w="25400">
            <a:solidFill>
              <a:srgbClr val="FFFFFF"/>
            </a:solidFill>
            <a:prstDash val="solid"/>
          </a:ln>
        </p:spPr>
      </p:sp>
      <p:sp>
        <p:nvSpPr>
          <p:cNvPr id="26" name="Text 24"/>
          <p:cNvSpPr/>
          <p:nvPr/>
        </p:nvSpPr>
        <p:spPr>
          <a:xfrm>
            <a:off x="857707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27" name="Shape 25"/>
          <p:cNvSpPr/>
          <p:nvPr/>
        </p:nvSpPr>
        <p:spPr>
          <a:xfrm>
            <a:off x="548640" y="3611880"/>
            <a:ext cx="155448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548640" y="3611880"/>
            <a:ext cx="155448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Cualificación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necesidad</a:t>
            </a:r>
            <a:endParaRPr lang="en-US" sz="1000" dirty="0"/>
          </a:p>
        </p:txBody>
      </p:sp>
      <p:sp>
        <p:nvSpPr>
          <p:cNvPr id="29" name="Shape 27"/>
          <p:cNvSpPr/>
          <p:nvPr/>
        </p:nvSpPr>
        <p:spPr>
          <a:xfrm>
            <a:off x="438912" y="3502152"/>
            <a:ext cx="329184" cy="329184"/>
          </a:xfrm>
          <a:prstGeom prst="ellipse">
            <a:avLst/>
          </a:prstGeom>
          <a:solidFill>
            <a:srgbClr val="1A237E"/>
          </a:solidFill>
          <a:ln w="25400">
            <a:solidFill>
              <a:srgbClr val="FFFFFF"/>
            </a:solidFill>
            <a:prstDash val="solid"/>
          </a:ln>
        </p:spPr>
      </p:sp>
      <p:sp>
        <p:nvSpPr>
          <p:cNvPr id="30" name="Text 28"/>
          <p:cNvSpPr/>
          <p:nvPr/>
        </p:nvSpPr>
        <p:spPr>
          <a:xfrm>
            <a:off x="43891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1" name="Shape 29"/>
          <p:cNvSpPr/>
          <p:nvPr/>
        </p:nvSpPr>
        <p:spPr>
          <a:xfrm>
            <a:off x="2331720" y="3611880"/>
            <a:ext cx="155448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2331720" y="3611880"/>
            <a:ext cx="155448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Activo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Producto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disponible</a:t>
            </a:r>
            <a:endParaRPr lang="en-US" sz="1000" dirty="0"/>
          </a:p>
        </p:txBody>
      </p:sp>
      <p:sp>
        <p:nvSpPr>
          <p:cNvPr id="33" name="Shape 31"/>
          <p:cNvSpPr/>
          <p:nvPr/>
        </p:nvSpPr>
        <p:spPr>
          <a:xfrm>
            <a:off x="2221992" y="3502152"/>
            <a:ext cx="329184" cy="329184"/>
          </a:xfrm>
          <a:prstGeom prst="ellipse">
            <a:avLst/>
          </a:prstGeom>
          <a:solidFill>
            <a:srgbClr val="1A237E"/>
          </a:solidFill>
          <a:ln w="25400">
            <a:solidFill>
              <a:srgbClr val="FFFFFF"/>
            </a:solidFill>
            <a:prstDash val="solid"/>
          </a:ln>
        </p:spPr>
      </p:sp>
      <p:sp>
        <p:nvSpPr>
          <p:cNvPr id="34" name="Text 32"/>
          <p:cNvSpPr/>
          <p:nvPr/>
        </p:nvSpPr>
        <p:spPr>
          <a:xfrm>
            <a:off x="222199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5" name="Shape 33"/>
          <p:cNvSpPr/>
          <p:nvPr/>
        </p:nvSpPr>
        <p:spPr>
          <a:xfrm>
            <a:off x="4114800" y="3611880"/>
            <a:ext cx="155448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4114800" y="3611880"/>
            <a:ext cx="155448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Visita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Inspección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física</a:t>
            </a:r>
            <a:endParaRPr lang="en-US" sz="1000" dirty="0"/>
          </a:p>
        </p:txBody>
      </p:sp>
      <p:sp>
        <p:nvSpPr>
          <p:cNvPr id="37" name="Shape 35"/>
          <p:cNvSpPr/>
          <p:nvPr/>
        </p:nvSpPr>
        <p:spPr>
          <a:xfrm>
            <a:off x="4005072" y="3502152"/>
            <a:ext cx="329184" cy="329184"/>
          </a:xfrm>
          <a:prstGeom prst="ellipse">
            <a:avLst/>
          </a:prstGeom>
          <a:solidFill>
            <a:srgbClr val="1A237E"/>
          </a:solidFill>
          <a:ln w="25400">
            <a:solidFill>
              <a:srgbClr val="FFFFFF"/>
            </a:solidFill>
            <a:prstDash val="solid"/>
          </a:ln>
        </p:spPr>
      </p:sp>
      <p:sp>
        <p:nvSpPr>
          <p:cNvPr id="38" name="Text 36"/>
          <p:cNvSpPr/>
          <p:nvPr/>
        </p:nvSpPr>
        <p:spPr>
          <a:xfrm>
            <a:off x="400507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9" name="Shape 37"/>
          <p:cNvSpPr/>
          <p:nvPr/>
        </p:nvSpPr>
        <p:spPr>
          <a:xfrm>
            <a:off x="5897880" y="3611880"/>
            <a:ext cx="155448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5897880" y="3611880"/>
            <a:ext cx="155448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Oferta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Propuesta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económica</a:t>
            </a:r>
            <a:endParaRPr lang="en-US" sz="1000" dirty="0"/>
          </a:p>
        </p:txBody>
      </p:sp>
      <p:sp>
        <p:nvSpPr>
          <p:cNvPr id="41" name="Shape 39"/>
          <p:cNvSpPr/>
          <p:nvPr/>
        </p:nvSpPr>
        <p:spPr>
          <a:xfrm>
            <a:off x="5788152" y="3502152"/>
            <a:ext cx="329184" cy="329184"/>
          </a:xfrm>
          <a:prstGeom prst="ellipse">
            <a:avLst/>
          </a:prstGeom>
          <a:solidFill>
            <a:srgbClr val="1A237E"/>
          </a:solidFill>
          <a:ln w="25400">
            <a:solidFill>
              <a:srgbClr val="FFFFFF"/>
            </a:solidFill>
            <a:prstDash val="solid"/>
          </a:ln>
        </p:spPr>
      </p:sp>
      <p:sp>
        <p:nvSpPr>
          <p:cNvPr id="42" name="Text 40"/>
          <p:cNvSpPr/>
          <p:nvPr/>
        </p:nvSpPr>
        <p:spPr>
          <a:xfrm>
            <a:off x="578815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43" name="Shape 41"/>
          <p:cNvSpPr/>
          <p:nvPr/>
        </p:nvSpPr>
        <p:spPr>
          <a:xfrm>
            <a:off x="7680960" y="3611880"/>
            <a:ext cx="155448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4" name="Text 42"/>
          <p:cNvSpPr/>
          <p:nvPr/>
        </p:nvSpPr>
        <p:spPr>
          <a:xfrm>
            <a:off x="7680960" y="3611880"/>
            <a:ext cx="155448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Negociación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Hilo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p:txBody>
      </p:sp>
      <p:sp>
        <p:nvSpPr>
          <p:cNvPr id="45" name="Shape 43"/>
          <p:cNvSpPr/>
          <p:nvPr/>
        </p:nvSpPr>
        <p:spPr>
          <a:xfrm>
            <a:off x="7571232" y="3502152"/>
            <a:ext cx="329184" cy="329184"/>
          </a:xfrm>
          <a:prstGeom prst="ellipse">
            <a:avLst/>
          </a:prstGeom>
          <a:solidFill>
            <a:srgbClr val="1A237E"/>
          </a:solidFill>
          <a:ln w="25400">
            <a:solidFill>
              <a:srgbClr val="FFFFFF"/>
            </a:solidFill>
            <a:prstDash val="solid"/>
          </a:ln>
        </p:spPr>
      </p:sp>
      <p:sp>
        <p:nvSpPr>
          <p:cNvPr id="46" name="Text 44"/>
          <p:cNvSpPr/>
          <p:nvPr/>
        </p:nvSpPr>
        <p:spPr>
          <a:xfrm>
            <a:off x="757123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47" name="Shape 45"/>
          <p:cNvSpPr/>
          <p:nvPr/>
        </p:nvSpPr>
        <p:spPr>
          <a:xfrm>
            <a:off x="10104120" y="3611880"/>
            <a:ext cx="173736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8" name="Text 46"/>
          <p:cNvSpPr/>
          <p:nvPr/>
        </p:nvSpPr>
        <p:spPr>
          <a:xfrm>
            <a:off x="10104120" y="3611880"/>
            <a:ext cx="17373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Transacción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Cierre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honorarios</a:t>
            </a:r>
            <a:endParaRPr lang="en-US" sz="1000" dirty="0"/>
          </a:p>
        </p:txBody>
      </p:sp>
      <p:sp>
        <p:nvSpPr>
          <p:cNvPr id="49" name="Shape 47"/>
          <p:cNvSpPr/>
          <p:nvPr/>
        </p:nvSpPr>
        <p:spPr>
          <a:xfrm>
            <a:off x="9994392" y="3502152"/>
            <a:ext cx="329184" cy="329184"/>
          </a:xfrm>
          <a:prstGeom prst="ellipse">
            <a:avLst/>
          </a:prstGeom>
          <a:solidFill>
            <a:srgbClr val="1A237E"/>
          </a:solidFill>
          <a:ln w="25400">
            <a:solidFill>
              <a:srgbClr val="FFFFFF"/>
            </a:solidFill>
            <a:prstDash val="solid"/>
          </a:ln>
        </p:spPr>
      </p:sp>
      <p:sp>
        <p:nvSpPr>
          <p:cNvPr id="50" name="Text 48"/>
          <p:cNvSpPr/>
          <p:nvPr/>
        </p:nvSpPr>
        <p:spPr>
          <a:xfrm>
            <a:off x="999439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51" name="Shape 49"/>
          <p:cNvSpPr/>
          <p:nvPr/>
        </p:nvSpPr>
        <p:spPr>
          <a:xfrm>
            <a:off x="2286000" y="1874520"/>
            <a:ext cx="320040" cy="0"/>
          </a:xfrm>
          <a:prstGeom prst="line">
            <a:avLst/>
          </a:prstGeom>
          <a:noFill/>
          <a:ln w="22860">
            <a:solidFill>
              <a:srgbClr val="BDBDBD"/>
            </a:solidFill>
            <a:prstDash val="solid"/>
            <a:tailEnd type="arrow"/>
          </a:ln>
        </p:spPr>
      </p:sp>
      <p:sp>
        <p:nvSpPr>
          <p:cNvPr id="52" name="Shape 50"/>
          <p:cNvSpPr/>
          <p:nvPr/>
        </p:nvSpPr>
        <p:spPr>
          <a:xfrm>
            <a:off x="3474720" y="2423160"/>
            <a:ext cx="-2148840" cy="1188720"/>
          </a:xfrm>
          <a:prstGeom prst="line">
            <a:avLst/>
          </a:prstGeom>
          <a:noFill/>
          <a:ln w="22860">
            <a:solidFill>
              <a:srgbClr val="0078D4"/>
            </a:solidFill>
            <a:prstDash val="solid"/>
            <a:tailEnd type="arrow"/>
          </a:ln>
        </p:spPr>
      </p:sp>
      <p:sp>
        <p:nvSpPr>
          <p:cNvPr id="53" name="Text 51"/>
          <p:cNvSpPr/>
          <p:nvPr/>
        </p:nvSpPr>
        <p:spPr>
          <a:xfrm>
            <a:off x="180594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a:t>
            </a:r>
            <a:endParaRPr lang="en-US" sz="800" dirty="0"/>
          </a:p>
        </p:txBody>
      </p:sp>
      <p:sp>
        <p:nvSpPr>
          <p:cNvPr id="54" name="Shape 52"/>
          <p:cNvSpPr/>
          <p:nvPr/>
        </p:nvSpPr>
        <p:spPr>
          <a:xfrm>
            <a:off x="2103120" y="4160520"/>
            <a:ext cx="228600" cy="0"/>
          </a:xfrm>
          <a:prstGeom prst="line">
            <a:avLst/>
          </a:prstGeom>
          <a:noFill/>
          <a:ln w="22860">
            <a:solidFill>
              <a:srgbClr val="BDBDBD"/>
            </a:solidFill>
            <a:prstDash val="solid"/>
            <a:tailEnd type="arrow"/>
          </a:ln>
        </p:spPr>
      </p:sp>
      <p:sp>
        <p:nvSpPr>
          <p:cNvPr id="55" name="Shape 53"/>
          <p:cNvSpPr/>
          <p:nvPr/>
        </p:nvSpPr>
        <p:spPr>
          <a:xfrm>
            <a:off x="3886200" y="4160520"/>
            <a:ext cx="228600" cy="0"/>
          </a:xfrm>
          <a:prstGeom prst="line">
            <a:avLst/>
          </a:prstGeom>
          <a:noFill/>
          <a:ln w="22860">
            <a:solidFill>
              <a:srgbClr val="BDBDBD"/>
            </a:solidFill>
            <a:prstDash val="solid"/>
            <a:tailEnd type="arrow"/>
          </a:ln>
        </p:spPr>
      </p:sp>
      <p:sp>
        <p:nvSpPr>
          <p:cNvPr id="56" name="Shape 54"/>
          <p:cNvSpPr/>
          <p:nvPr/>
        </p:nvSpPr>
        <p:spPr>
          <a:xfrm>
            <a:off x="5669280" y="4160520"/>
            <a:ext cx="228600" cy="0"/>
          </a:xfrm>
          <a:prstGeom prst="line">
            <a:avLst/>
          </a:prstGeom>
          <a:noFill/>
          <a:ln w="22860">
            <a:solidFill>
              <a:srgbClr val="BDBDBD"/>
            </a:solidFill>
            <a:prstDash val="solid"/>
            <a:tailEnd type="arrow"/>
          </a:ln>
        </p:spPr>
      </p:sp>
      <p:sp>
        <p:nvSpPr>
          <p:cNvPr id="57" name="Shape 55"/>
          <p:cNvSpPr/>
          <p:nvPr/>
        </p:nvSpPr>
        <p:spPr>
          <a:xfrm>
            <a:off x="7452360" y="4160520"/>
            <a:ext cx="228600" cy="0"/>
          </a:xfrm>
          <a:prstGeom prst="line">
            <a:avLst/>
          </a:prstGeom>
          <a:noFill/>
          <a:ln w="22860">
            <a:solidFill>
              <a:srgbClr val="BDBDBD"/>
            </a:solidFill>
            <a:prstDash val="solid"/>
            <a:tailEnd type="arrow"/>
          </a:ln>
        </p:spPr>
      </p:sp>
      <p:sp>
        <p:nvSpPr>
          <p:cNvPr id="58" name="Shape 56"/>
          <p:cNvSpPr/>
          <p:nvPr/>
        </p:nvSpPr>
        <p:spPr>
          <a:xfrm>
            <a:off x="8503920" y="3611880"/>
            <a:ext cx="1051560" cy="-1188720"/>
          </a:xfrm>
          <a:prstGeom prst="line">
            <a:avLst/>
          </a:prstGeom>
          <a:noFill/>
          <a:ln w="22860">
            <a:solidFill>
              <a:srgbClr val="7C3AED"/>
            </a:solidFill>
            <a:prstDash val="solid"/>
            <a:tailEnd type="arrow"/>
          </a:ln>
        </p:spPr>
      </p:sp>
      <p:sp>
        <p:nvSpPr>
          <p:cNvPr id="59" name="Text 57"/>
          <p:cNvSpPr/>
          <p:nvPr/>
        </p:nvSpPr>
        <p:spPr>
          <a:xfrm>
            <a:off x="843534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handoff</a:t>
            </a:r>
            <a:endParaRPr lang="en-US" sz="800" dirty="0"/>
          </a:p>
        </p:txBody>
      </p:sp>
      <p:sp>
        <p:nvSpPr>
          <p:cNvPr id="60" name="Shape 58"/>
          <p:cNvSpPr/>
          <p:nvPr/>
        </p:nvSpPr>
        <p:spPr>
          <a:xfrm>
            <a:off x="9555480" y="2423160"/>
            <a:ext cx="1417320" cy="1188720"/>
          </a:xfrm>
          <a:prstGeom prst="line">
            <a:avLst/>
          </a:prstGeom>
          <a:noFill/>
          <a:ln w="22860">
            <a:solidFill>
              <a:srgbClr val="0078D4"/>
            </a:solidFill>
            <a:prstDash val="solid"/>
            <a:tailEnd type="arrow"/>
          </a:ln>
        </p:spPr>
      </p:sp>
      <p:sp>
        <p:nvSpPr>
          <p:cNvPr id="61" name="Text 59"/>
          <p:cNvSpPr/>
          <p:nvPr/>
        </p:nvSpPr>
        <p:spPr>
          <a:xfrm>
            <a:off x="966978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a:t>
            </a:r>
            <a:endParaRPr lang="en-US" sz="800" dirty="0"/>
          </a:p>
        </p:txBody>
      </p:sp>
      <p:sp>
        <p:nvSpPr>
          <p:cNvPr id="62" name="Shape 60"/>
          <p:cNvSpPr/>
          <p:nvPr/>
        </p:nvSpPr>
        <p:spPr>
          <a:xfrm>
            <a:off x="1417320" y="2423160"/>
            <a:ext cx="1691640" cy="1188720"/>
          </a:xfrm>
          <a:prstGeom prst="line">
            <a:avLst/>
          </a:prstGeom>
          <a:noFill/>
          <a:ln w="44450">
            <a:solidFill>
              <a:srgbClr val="DC2626"/>
            </a:solidFill>
            <a:prstDash val="solid"/>
            <a:headEnd type="arrow"/>
            <a:tailEnd type="arrow"/>
          </a:ln>
        </p:spPr>
      </p:sp>
      <p:sp>
        <p:nvSpPr>
          <p:cNvPr id="63" name="Shape 61"/>
          <p:cNvSpPr/>
          <p:nvPr/>
        </p:nvSpPr>
        <p:spPr>
          <a:xfrm>
            <a:off x="365760" y="2788920"/>
            <a:ext cx="2331720" cy="292608"/>
          </a:xfrm>
          <a:prstGeom prst="roundRect">
            <a:avLst>
              <a:gd name="adj" fmla="val 18750"/>
            </a:avLst>
          </a:prstGeom>
          <a:solidFill>
            <a:srgbClr val="FEE2E2"/>
          </a:solidFill>
          <a:ln w="19050">
            <a:solidFill>
              <a:srgbClr val="DC2626"/>
            </a:solidFill>
            <a:prstDash val="solid"/>
          </a:ln>
        </p:spPr>
      </p:sp>
      <p:sp>
        <p:nvSpPr>
          <p:cNvPr id="64" name="Text 62"/>
          <p:cNvSpPr/>
          <p:nvPr/>
        </p:nvSpPr>
        <p:spPr>
          <a:xfrm>
            <a:off x="365760" y="2788920"/>
            <a:ext cx="2331720" cy="292608"/>
          </a:xfrm>
          <a:prstGeom prst="rect">
            <a:avLst/>
          </a:prstGeom>
          <a:noFill/>
          <a:ln/>
        </p:spPr>
        <p:txBody>
          <a:bodyPr wrap="square" rtlCol="0" anchor="ctr"/>
          <a:lstStyle/>
          <a:p>
            <a:pPr algn="ctr" indent="0" marL="0">
              <a:buNone/>
            </a:pPr>
            <a:r>
              <a:rPr lang="en-US" sz="900" b="1" dirty="0">
                <a:solidFill>
                  <a:srgbClr val="991B1B"/>
                </a:solidFill>
                <a:latin typeface="Calibri" pitchFamily="34" charset="0"/>
                <a:ea typeface="Calibri" pitchFamily="34" charset="-122"/>
                <a:cs typeface="Calibri" pitchFamily="34" charset="-120"/>
              </a:rPr>
              <a:t>🔗 vínculo Cuenta-Propietario · CRÍTICO</a:t>
            </a:r>
            <a:endParaRPr lang="en-US" sz="900" dirty="0"/>
          </a:p>
        </p:txBody>
      </p:sp>
      <p:sp>
        <p:nvSpPr>
          <p:cNvPr id="65" name="Shape 63"/>
          <p:cNvSpPr/>
          <p:nvPr/>
        </p:nvSpPr>
        <p:spPr>
          <a:xfrm>
            <a:off x="274320" y="5760720"/>
            <a:ext cx="11640312" cy="868680"/>
          </a:xfrm>
          <a:prstGeom prst="rect">
            <a:avLst/>
          </a:prstGeom>
          <a:solidFill>
            <a:srgbClr val="FFFFFF"/>
          </a:solidFill>
          <a:ln w="12700">
            <a:solidFill>
              <a:srgbClr val="E0E0E0"/>
            </a:solidFill>
            <a:prstDash val="solid"/>
          </a:ln>
        </p:spPr>
      </p:sp>
      <p:sp>
        <p:nvSpPr>
          <p:cNvPr id="66" name="Text 64"/>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ciclo arranca en Dynamics con el alta de la Cuenta (1) y la detección de la Oportunidad (2). Una vez sincronizada al PDB, se cualifica como Demanda (3) y se conecta con uno o varios Activos (4). Se ejecutan Visitas (5), se formaliza la Oferta (6) y se abre la Negociación (7). El acuerdo final se devuelve a Dynamics como Instrucción (8), y el cierre se registra como Transacción (9). El vínculo Activo ↔ Cuenta-Propietario atraviesa todo el ciclo: sin él, el flujo se rompe.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Cuentas</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Alta en Dynamics → sync PDB → enriquecimiento → vista 360º · Tres roles posibles</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2377440" cy="457200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2231136"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3" name="Shape 11"/>
          <p:cNvSpPr/>
          <p:nvPr/>
        </p:nvSpPr>
        <p:spPr>
          <a:xfrm>
            <a:off x="2880360" y="914400"/>
            <a:ext cx="9034272" cy="4572000"/>
          </a:xfrm>
          <a:prstGeom prst="rect">
            <a:avLst/>
          </a:prstGeom>
          <a:solidFill>
            <a:srgbClr val="2E7D32">
              <a:alpha val="12000"/>
            </a:srgbClr>
          </a:solidFill>
          <a:ln w="12700">
            <a:solidFill>
              <a:srgbClr val="2E7D32"/>
            </a:solidFill>
            <a:prstDash val="dash"/>
          </a:ln>
        </p:spPr>
      </p:sp>
      <p:sp>
        <p:nvSpPr>
          <p:cNvPr id="14" name="Text 12"/>
          <p:cNvSpPr/>
          <p:nvPr/>
        </p:nvSpPr>
        <p:spPr>
          <a:xfrm>
            <a:off x="2953512" y="950976"/>
            <a:ext cx="888796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5" name="Shape 13"/>
          <p:cNvSpPr/>
          <p:nvPr/>
        </p:nvSpPr>
        <p:spPr>
          <a:xfrm>
            <a:off x="457200" y="2286000"/>
            <a:ext cx="201168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2286000"/>
            <a:ext cx="2011680" cy="137160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Alta Cuenta</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Datos fiscales</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 contacto</a:t>
            </a:r>
            <a:endParaRPr lang="en-US" sz="1100" dirty="0"/>
          </a:p>
        </p:txBody>
      </p:sp>
      <p:sp>
        <p:nvSpPr>
          <p:cNvPr id="17" name="Shape 15"/>
          <p:cNvSpPr/>
          <p:nvPr/>
        </p:nvSpPr>
        <p:spPr>
          <a:xfrm>
            <a:off x="347472" y="217627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21762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3108960" y="1828800"/>
            <a:ext cx="182880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3108960" y="1828800"/>
            <a:ext cx="18288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Sync PDB</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Replicación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lectura</a:t>
            </a:r>
            <a:endParaRPr lang="en-US" sz="1000" dirty="0"/>
          </a:p>
        </p:txBody>
      </p:sp>
      <p:sp>
        <p:nvSpPr>
          <p:cNvPr id="21" name="Shape 19"/>
          <p:cNvSpPr/>
          <p:nvPr/>
        </p:nvSpPr>
        <p:spPr>
          <a:xfrm>
            <a:off x="2999232" y="1719072"/>
            <a:ext cx="329184" cy="329184"/>
          </a:xfrm>
          <a:prstGeom prst="ellipse">
            <a:avLst/>
          </a:prstGeom>
          <a:solidFill>
            <a:srgbClr val="1A237E"/>
          </a:solidFill>
          <a:ln w="25400">
            <a:solidFill>
              <a:srgbClr val="FFFFFF"/>
            </a:solidFill>
            <a:prstDash val="solid"/>
          </a:ln>
        </p:spPr>
      </p:sp>
      <p:sp>
        <p:nvSpPr>
          <p:cNvPr id="22" name="Text 20"/>
          <p:cNvSpPr/>
          <p:nvPr/>
        </p:nvSpPr>
        <p:spPr>
          <a:xfrm>
            <a:off x="2999232" y="17190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3108960" y="3108960"/>
            <a:ext cx="182880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3108960" y="3108960"/>
            <a:ext cx="18288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Enriquecimiento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Contactos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actividades</a:t>
            </a:r>
            <a:endParaRPr lang="en-US" sz="1000" dirty="0"/>
          </a:p>
        </p:txBody>
      </p:sp>
      <p:sp>
        <p:nvSpPr>
          <p:cNvPr id="25" name="Shape 23"/>
          <p:cNvSpPr/>
          <p:nvPr/>
        </p:nvSpPr>
        <p:spPr>
          <a:xfrm>
            <a:off x="2999232" y="2999232"/>
            <a:ext cx="329184" cy="329184"/>
          </a:xfrm>
          <a:prstGeom prst="ellipse">
            <a:avLst/>
          </a:prstGeom>
          <a:solidFill>
            <a:srgbClr val="1A237E"/>
          </a:solidFill>
          <a:ln w="25400">
            <a:solidFill>
              <a:srgbClr val="FFFFFF"/>
            </a:solidFill>
            <a:prstDash val="solid"/>
          </a:ln>
        </p:spPr>
      </p:sp>
      <p:sp>
        <p:nvSpPr>
          <p:cNvPr id="26" name="Text 24"/>
          <p:cNvSpPr/>
          <p:nvPr/>
        </p:nvSpPr>
        <p:spPr>
          <a:xfrm>
            <a:off x="2999232" y="29992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3108960" y="4389120"/>
            <a:ext cx="182880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3108960" y="4389120"/>
            <a:ext cx="18288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Vista 360º</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Activos · ofertas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histórico</a:t>
            </a:r>
            <a:endParaRPr lang="en-US" sz="1000" dirty="0"/>
          </a:p>
        </p:txBody>
      </p:sp>
      <p:sp>
        <p:nvSpPr>
          <p:cNvPr id="29" name="Shape 27"/>
          <p:cNvSpPr/>
          <p:nvPr/>
        </p:nvSpPr>
        <p:spPr>
          <a:xfrm>
            <a:off x="2999232" y="4279392"/>
            <a:ext cx="329184" cy="329184"/>
          </a:xfrm>
          <a:prstGeom prst="ellipse">
            <a:avLst/>
          </a:prstGeom>
          <a:solidFill>
            <a:srgbClr val="1A237E"/>
          </a:solidFill>
          <a:ln w="25400">
            <a:solidFill>
              <a:srgbClr val="FFFFFF"/>
            </a:solidFill>
            <a:prstDash val="solid"/>
          </a:ln>
        </p:spPr>
      </p:sp>
      <p:sp>
        <p:nvSpPr>
          <p:cNvPr id="30" name="Text 28"/>
          <p:cNvSpPr/>
          <p:nvPr/>
        </p:nvSpPr>
        <p:spPr>
          <a:xfrm>
            <a:off x="2999232" y="42793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5943600" y="1463040"/>
            <a:ext cx="2194560" cy="1097280"/>
          </a:xfrm>
          <a:prstGeom prst="roundRect">
            <a:avLst>
              <a:gd name="adj" fmla="val 6667"/>
            </a:avLst>
          </a:prstGeom>
          <a:solidFill>
            <a:srgbClr val="00838F"/>
          </a:solidFill>
          <a:ln w="19050">
            <a:solidFill>
              <a:srgbClr val="006064"/>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5943600" y="1463040"/>
            <a:ext cx="21945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Cuenta-Propietario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Activos en cartera</a:t>
            </a:r>
            <a:endParaRPr lang="en-US" sz="1000" dirty="0"/>
          </a:p>
        </p:txBody>
      </p:sp>
      <p:sp>
        <p:nvSpPr>
          <p:cNvPr id="33" name="Shape 31"/>
          <p:cNvSpPr/>
          <p:nvPr/>
        </p:nvSpPr>
        <p:spPr>
          <a:xfrm>
            <a:off x="5833872" y="1353312"/>
            <a:ext cx="329184" cy="329184"/>
          </a:xfrm>
          <a:prstGeom prst="ellipse">
            <a:avLst/>
          </a:prstGeom>
          <a:solidFill>
            <a:srgbClr val="1A237E"/>
          </a:solidFill>
          <a:ln w="25400">
            <a:solidFill>
              <a:srgbClr val="FFFFFF"/>
            </a:solidFill>
            <a:prstDash val="solid"/>
          </a:ln>
        </p:spPr>
      </p:sp>
      <p:sp>
        <p:nvSpPr>
          <p:cNvPr id="34" name="Text 32"/>
          <p:cNvSpPr/>
          <p:nvPr/>
        </p:nvSpPr>
        <p:spPr>
          <a:xfrm>
            <a:off x="583387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a:t>
            </a:r>
            <a:endParaRPr lang="en-US" sz="1000" dirty="0"/>
          </a:p>
        </p:txBody>
      </p:sp>
      <p:sp>
        <p:nvSpPr>
          <p:cNvPr id="35" name="Shape 33"/>
          <p:cNvSpPr/>
          <p:nvPr/>
        </p:nvSpPr>
        <p:spPr>
          <a:xfrm>
            <a:off x="5943600" y="2926080"/>
            <a:ext cx="2194560" cy="1097280"/>
          </a:xfrm>
          <a:prstGeom prst="roundRect">
            <a:avLst>
              <a:gd name="adj" fmla="val 6667"/>
            </a:avLst>
          </a:prstGeom>
          <a:solidFill>
            <a:srgbClr val="00838F"/>
          </a:solidFill>
          <a:ln w="19050">
            <a:solidFill>
              <a:srgbClr val="006064"/>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5943600" y="2926080"/>
            <a:ext cx="21945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Cuenta-Arrendatario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Demandas + contratos</a:t>
            </a:r>
            <a:endParaRPr lang="en-US" sz="1000" dirty="0"/>
          </a:p>
        </p:txBody>
      </p:sp>
      <p:sp>
        <p:nvSpPr>
          <p:cNvPr id="37" name="Shape 35"/>
          <p:cNvSpPr/>
          <p:nvPr/>
        </p:nvSpPr>
        <p:spPr>
          <a:xfrm>
            <a:off x="5833872" y="2816352"/>
            <a:ext cx="329184" cy="329184"/>
          </a:xfrm>
          <a:prstGeom prst="ellipse">
            <a:avLst/>
          </a:prstGeom>
          <a:solidFill>
            <a:srgbClr val="1A237E"/>
          </a:solidFill>
          <a:ln w="25400">
            <a:solidFill>
              <a:srgbClr val="FFFFFF"/>
            </a:solidFill>
            <a:prstDash val="solid"/>
          </a:ln>
        </p:spPr>
      </p:sp>
      <p:sp>
        <p:nvSpPr>
          <p:cNvPr id="38" name="Text 36"/>
          <p:cNvSpPr/>
          <p:nvPr/>
        </p:nvSpPr>
        <p:spPr>
          <a:xfrm>
            <a:off x="5833872" y="28163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5b</a:t>
            </a:r>
            <a:endParaRPr lang="en-US" sz="1000" dirty="0"/>
          </a:p>
        </p:txBody>
      </p:sp>
      <p:sp>
        <p:nvSpPr>
          <p:cNvPr id="39" name="Shape 37"/>
          <p:cNvSpPr/>
          <p:nvPr/>
        </p:nvSpPr>
        <p:spPr>
          <a:xfrm>
            <a:off x="5943600" y="4389120"/>
            <a:ext cx="2194560" cy="1097280"/>
          </a:xfrm>
          <a:prstGeom prst="roundRect">
            <a:avLst>
              <a:gd name="adj" fmla="val 6667"/>
            </a:avLst>
          </a:prstGeom>
          <a:solidFill>
            <a:srgbClr val="00838F"/>
          </a:solidFill>
          <a:ln w="19050">
            <a:solidFill>
              <a:srgbClr val="006064"/>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5943600" y="4389120"/>
            <a:ext cx="21945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Cuenta-Inversor</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Apetito + transacciones</a:t>
            </a:r>
            <a:endParaRPr lang="en-US" sz="1000" dirty="0"/>
          </a:p>
        </p:txBody>
      </p:sp>
      <p:sp>
        <p:nvSpPr>
          <p:cNvPr id="41" name="Shape 39"/>
          <p:cNvSpPr/>
          <p:nvPr/>
        </p:nvSpPr>
        <p:spPr>
          <a:xfrm>
            <a:off x="5833872" y="4279392"/>
            <a:ext cx="329184" cy="329184"/>
          </a:xfrm>
          <a:prstGeom prst="ellipse">
            <a:avLst/>
          </a:prstGeom>
          <a:solidFill>
            <a:srgbClr val="1A237E"/>
          </a:solidFill>
          <a:ln w="25400">
            <a:solidFill>
              <a:srgbClr val="FFFFFF"/>
            </a:solidFill>
            <a:prstDash val="solid"/>
          </a:ln>
        </p:spPr>
      </p:sp>
      <p:sp>
        <p:nvSpPr>
          <p:cNvPr id="42" name="Text 40"/>
          <p:cNvSpPr/>
          <p:nvPr/>
        </p:nvSpPr>
        <p:spPr>
          <a:xfrm>
            <a:off x="5833872" y="42793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5c</a:t>
            </a:r>
            <a:endParaRPr lang="en-US" sz="1000" dirty="0"/>
          </a:p>
        </p:txBody>
      </p:sp>
      <p:sp>
        <p:nvSpPr>
          <p:cNvPr id="43" name="Shape 41"/>
          <p:cNvSpPr/>
          <p:nvPr/>
        </p:nvSpPr>
        <p:spPr>
          <a:xfrm>
            <a:off x="9418320" y="1463040"/>
            <a:ext cx="228600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4" name="Text 42"/>
          <p:cNvSpPr/>
          <p:nvPr/>
        </p:nvSpPr>
        <p:spPr>
          <a:xfrm>
            <a:off x="9418320" y="1463040"/>
            <a:ext cx="228600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Activos vinculados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matriz propietario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ref activos</a:t>
            </a:r>
            <a:endParaRPr lang="en-US" sz="1000" dirty="0"/>
          </a:p>
        </p:txBody>
      </p:sp>
      <p:sp>
        <p:nvSpPr>
          <p:cNvPr id="45" name="Shape 43"/>
          <p:cNvSpPr/>
          <p:nvPr/>
        </p:nvSpPr>
        <p:spPr>
          <a:xfrm>
            <a:off x="9418320" y="2926080"/>
            <a:ext cx="228600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6" name="Text 44"/>
          <p:cNvSpPr/>
          <p:nvPr/>
        </p:nvSpPr>
        <p:spPr>
          <a:xfrm>
            <a:off x="9418320" y="2926080"/>
            <a:ext cx="228600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Pipeline 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matching automático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 activos</a:t>
            </a:r>
            <a:endParaRPr lang="en-US" sz="1000" dirty="0"/>
          </a:p>
        </p:txBody>
      </p:sp>
      <p:sp>
        <p:nvSpPr>
          <p:cNvPr id="47" name="Shape 45"/>
          <p:cNvSpPr/>
          <p:nvPr/>
        </p:nvSpPr>
        <p:spPr>
          <a:xfrm>
            <a:off x="9418320" y="4389120"/>
            <a:ext cx="228600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8" name="Text 46"/>
          <p:cNvSpPr/>
          <p:nvPr/>
        </p:nvSpPr>
        <p:spPr>
          <a:xfrm>
            <a:off x="9418320" y="4389120"/>
            <a:ext cx="228600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Capital Markets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oferta a inversor</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producto encajable</a:t>
            </a:r>
            <a:endParaRPr lang="en-US" sz="1000" dirty="0"/>
          </a:p>
        </p:txBody>
      </p:sp>
      <p:sp>
        <p:nvSpPr>
          <p:cNvPr id="49" name="Shape 47"/>
          <p:cNvSpPr/>
          <p:nvPr/>
        </p:nvSpPr>
        <p:spPr>
          <a:xfrm>
            <a:off x="2468880" y="2971800"/>
            <a:ext cx="640080" cy="-685800"/>
          </a:xfrm>
          <a:prstGeom prst="line">
            <a:avLst/>
          </a:prstGeom>
          <a:noFill/>
          <a:ln w="22860">
            <a:solidFill>
              <a:srgbClr val="0078D4"/>
            </a:solidFill>
            <a:prstDash val="solid"/>
            <a:tailEnd type="arrow"/>
          </a:ln>
        </p:spPr>
      </p:sp>
      <p:sp>
        <p:nvSpPr>
          <p:cNvPr id="50" name="Text 48"/>
          <p:cNvSpPr/>
          <p:nvPr/>
        </p:nvSpPr>
        <p:spPr>
          <a:xfrm>
            <a:off x="2194560" y="251002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 auto</a:t>
            </a:r>
            <a:endParaRPr lang="en-US" sz="800" dirty="0"/>
          </a:p>
        </p:txBody>
      </p:sp>
      <p:sp>
        <p:nvSpPr>
          <p:cNvPr id="51" name="Shape 49"/>
          <p:cNvSpPr/>
          <p:nvPr/>
        </p:nvSpPr>
        <p:spPr>
          <a:xfrm>
            <a:off x="4023360" y="2743200"/>
            <a:ext cx="0" cy="365760"/>
          </a:xfrm>
          <a:prstGeom prst="line">
            <a:avLst/>
          </a:prstGeom>
          <a:noFill/>
          <a:ln w="22860">
            <a:solidFill>
              <a:srgbClr val="BDBDBD"/>
            </a:solidFill>
            <a:prstDash val="solid"/>
            <a:tailEnd type="arrow"/>
          </a:ln>
        </p:spPr>
      </p:sp>
      <p:sp>
        <p:nvSpPr>
          <p:cNvPr id="52" name="Shape 50"/>
          <p:cNvSpPr/>
          <p:nvPr/>
        </p:nvSpPr>
        <p:spPr>
          <a:xfrm>
            <a:off x="4023360" y="4023360"/>
            <a:ext cx="0" cy="365760"/>
          </a:xfrm>
          <a:prstGeom prst="line">
            <a:avLst/>
          </a:prstGeom>
          <a:noFill/>
          <a:ln w="22860">
            <a:solidFill>
              <a:srgbClr val="BDBDBD"/>
            </a:solidFill>
            <a:prstDash val="solid"/>
            <a:tailEnd type="arrow"/>
          </a:ln>
        </p:spPr>
      </p:sp>
      <p:sp>
        <p:nvSpPr>
          <p:cNvPr id="53" name="Shape 51"/>
          <p:cNvSpPr/>
          <p:nvPr/>
        </p:nvSpPr>
        <p:spPr>
          <a:xfrm>
            <a:off x="4937760" y="4846320"/>
            <a:ext cx="1005840" cy="-2834640"/>
          </a:xfrm>
          <a:prstGeom prst="line">
            <a:avLst/>
          </a:prstGeom>
          <a:noFill/>
          <a:ln w="22860">
            <a:solidFill>
              <a:srgbClr val="BDBDBD"/>
            </a:solidFill>
            <a:prstDash val="solid"/>
            <a:tailEnd type="arrow"/>
          </a:ln>
        </p:spPr>
      </p:sp>
      <p:sp>
        <p:nvSpPr>
          <p:cNvPr id="54" name="Shape 52"/>
          <p:cNvSpPr/>
          <p:nvPr/>
        </p:nvSpPr>
        <p:spPr>
          <a:xfrm>
            <a:off x="4937760" y="4846320"/>
            <a:ext cx="1005840" cy="-1371600"/>
          </a:xfrm>
          <a:prstGeom prst="line">
            <a:avLst/>
          </a:prstGeom>
          <a:noFill/>
          <a:ln w="22860">
            <a:solidFill>
              <a:srgbClr val="BDBDBD"/>
            </a:solidFill>
            <a:prstDash val="solid"/>
            <a:tailEnd type="arrow"/>
          </a:ln>
        </p:spPr>
      </p:sp>
      <p:sp>
        <p:nvSpPr>
          <p:cNvPr id="55" name="Shape 53"/>
          <p:cNvSpPr/>
          <p:nvPr/>
        </p:nvSpPr>
        <p:spPr>
          <a:xfrm>
            <a:off x="4937760" y="4846320"/>
            <a:ext cx="1005840" cy="91440"/>
          </a:xfrm>
          <a:prstGeom prst="line">
            <a:avLst/>
          </a:prstGeom>
          <a:noFill/>
          <a:ln w="22860">
            <a:solidFill>
              <a:srgbClr val="BDBDBD"/>
            </a:solidFill>
            <a:prstDash val="solid"/>
            <a:tailEnd type="arrow"/>
          </a:ln>
        </p:spPr>
      </p:sp>
      <p:sp>
        <p:nvSpPr>
          <p:cNvPr id="56" name="Shape 54"/>
          <p:cNvSpPr/>
          <p:nvPr/>
        </p:nvSpPr>
        <p:spPr>
          <a:xfrm>
            <a:off x="8138160" y="2011680"/>
            <a:ext cx="1280160" cy="0"/>
          </a:xfrm>
          <a:prstGeom prst="line">
            <a:avLst/>
          </a:prstGeom>
          <a:noFill/>
          <a:ln w="22860">
            <a:solidFill>
              <a:srgbClr val="BDBDBD"/>
            </a:solidFill>
            <a:prstDash val="solid"/>
            <a:tailEnd type="arrow"/>
          </a:ln>
        </p:spPr>
      </p:sp>
      <p:sp>
        <p:nvSpPr>
          <p:cNvPr id="57" name="Shape 55"/>
          <p:cNvSpPr/>
          <p:nvPr/>
        </p:nvSpPr>
        <p:spPr>
          <a:xfrm>
            <a:off x="8138160" y="3474720"/>
            <a:ext cx="1280160" cy="0"/>
          </a:xfrm>
          <a:prstGeom prst="line">
            <a:avLst/>
          </a:prstGeom>
          <a:noFill/>
          <a:ln w="22860">
            <a:solidFill>
              <a:srgbClr val="BDBDBD"/>
            </a:solidFill>
            <a:prstDash val="solid"/>
            <a:tailEnd type="arrow"/>
          </a:ln>
        </p:spPr>
      </p:sp>
      <p:sp>
        <p:nvSpPr>
          <p:cNvPr id="58" name="Shape 56"/>
          <p:cNvSpPr/>
          <p:nvPr/>
        </p:nvSpPr>
        <p:spPr>
          <a:xfrm>
            <a:off x="8138160" y="4937760"/>
            <a:ext cx="1280160" cy="0"/>
          </a:xfrm>
          <a:prstGeom prst="line">
            <a:avLst/>
          </a:prstGeom>
          <a:noFill/>
          <a:ln w="22860">
            <a:solidFill>
              <a:srgbClr val="BDBDBD"/>
            </a:solidFill>
            <a:prstDash val="solid"/>
            <a:tailEnd type="arrow"/>
          </a:ln>
        </p:spPr>
      </p:sp>
      <p:sp>
        <p:nvSpPr>
          <p:cNvPr id="59" name="Shape 57"/>
          <p:cNvSpPr/>
          <p:nvPr/>
        </p:nvSpPr>
        <p:spPr>
          <a:xfrm>
            <a:off x="274320" y="5760720"/>
            <a:ext cx="11640312" cy="868680"/>
          </a:xfrm>
          <a:prstGeom prst="rect">
            <a:avLst/>
          </a:prstGeom>
          <a:solidFill>
            <a:srgbClr val="FFFFFF"/>
          </a:solidFill>
          <a:ln w="12700">
            <a:solidFill>
              <a:srgbClr val="E0E0E0"/>
            </a:solidFill>
            <a:prstDash val="solid"/>
          </a:ln>
        </p:spPr>
      </p:sp>
      <p:sp>
        <p:nvSpPr>
          <p:cNvPr id="60" name="Text 58"/>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cuenta se da de alta siempre en Dynamics (1), porque es el sistema maestro fiscal y de gobierno. El PDB recibe la sincronización (2), enriquece la cuenta con contactos y actividades (3) y construye una vista 360º (4). A partir de ahí, la cuenta toma uno de tres roles: Propietario de activos (5a), Arrendatario que ocupa espacios (5b) o Inversor que adquiere producto (5c). Una misma cuenta puede tener varios roles simultáneamente.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Oportunidades</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Detección → cualificación → conversión a Demanda → seguimiento → cierre · Trazabilidad bidireccional</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5669280" cy="457200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5522976"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3" name="Shape 11"/>
          <p:cNvSpPr/>
          <p:nvPr/>
        </p:nvSpPr>
        <p:spPr>
          <a:xfrm>
            <a:off x="6126480" y="914400"/>
            <a:ext cx="5788152" cy="4572000"/>
          </a:xfrm>
          <a:prstGeom prst="rect">
            <a:avLst/>
          </a:prstGeom>
          <a:solidFill>
            <a:srgbClr val="2E7D32">
              <a:alpha val="12000"/>
            </a:srgbClr>
          </a:solidFill>
          <a:ln w="12700">
            <a:solidFill>
              <a:srgbClr val="2E7D32"/>
            </a:solidFill>
            <a:prstDash val="dash"/>
          </a:ln>
        </p:spPr>
      </p:sp>
      <p:sp>
        <p:nvSpPr>
          <p:cNvPr id="14" name="Text 12"/>
          <p:cNvSpPr/>
          <p:nvPr/>
        </p:nvSpPr>
        <p:spPr>
          <a:xfrm>
            <a:off x="6199632" y="950976"/>
            <a:ext cx="564184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5" name="Shape 13"/>
          <p:cNvSpPr/>
          <p:nvPr/>
        </p:nvSpPr>
        <p:spPr>
          <a:xfrm>
            <a:off x="548640" y="1463040"/>
            <a:ext cx="2377440" cy="914400"/>
          </a:xfrm>
          <a:prstGeom prst="roundRect">
            <a:avLst>
              <a:gd name="adj" fmla="val 8000"/>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548640" y="1463040"/>
            <a:ext cx="237744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Detección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Lead u origen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comercial</a:t>
            </a:r>
            <a:endParaRPr lang="en-US" sz="1000" dirty="0"/>
          </a:p>
        </p:txBody>
      </p:sp>
      <p:sp>
        <p:nvSpPr>
          <p:cNvPr id="17" name="Shape 15"/>
          <p:cNvSpPr/>
          <p:nvPr/>
        </p:nvSpPr>
        <p:spPr>
          <a:xfrm>
            <a:off x="438912" y="1353312"/>
            <a:ext cx="329184" cy="329184"/>
          </a:xfrm>
          <a:prstGeom prst="ellipse">
            <a:avLst/>
          </a:prstGeom>
          <a:solidFill>
            <a:srgbClr val="1A237E"/>
          </a:solidFill>
          <a:ln w="25400">
            <a:solidFill>
              <a:srgbClr val="FFFFFF"/>
            </a:solidFill>
            <a:prstDash val="solid"/>
          </a:ln>
        </p:spPr>
      </p:sp>
      <p:sp>
        <p:nvSpPr>
          <p:cNvPr id="18" name="Text 16"/>
          <p:cNvSpPr/>
          <p:nvPr/>
        </p:nvSpPr>
        <p:spPr>
          <a:xfrm>
            <a:off x="43891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3200400" y="1463040"/>
            <a:ext cx="2377440" cy="914400"/>
          </a:xfrm>
          <a:prstGeom prst="roundRect">
            <a:avLst>
              <a:gd name="adj" fmla="val 8000"/>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3200400" y="1463040"/>
            <a:ext cx="237744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Cualificación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BANT + score</a:t>
            </a:r>
            <a:endParaRPr lang="en-US" sz="1000" dirty="0"/>
          </a:p>
        </p:txBody>
      </p:sp>
      <p:sp>
        <p:nvSpPr>
          <p:cNvPr id="21" name="Shape 19"/>
          <p:cNvSpPr/>
          <p:nvPr/>
        </p:nvSpPr>
        <p:spPr>
          <a:xfrm>
            <a:off x="3090672" y="1353312"/>
            <a:ext cx="329184" cy="329184"/>
          </a:xfrm>
          <a:prstGeom prst="ellipse">
            <a:avLst/>
          </a:prstGeom>
          <a:solidFill>
            <a:srgbClr val="1A237E"/>
          </a:solidFill>
          <a:ln w="25400">
            <a:solidFill>
              <a:srgbClr val="FFFFFF"/>
            </a:solidFill>
            <a:prstDash val="solid"/>
          </a:ln>
        </p:spPr>
      </p:sp>
      <p:sp>
        <p:nvSpPr>
          <p:cNvPr id="22" name="Text 20"/>
          <p:cNvSpPr/>
          <p:nvPr/>
        </p:nvSpPr>
        <p:spPr>
          <a:xfrm>
            <a:off x="309067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6309360" y="1463040"/>
            <a:ext cx="169164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6309360" y="1463040"/>
            <a:ext cx="169164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Conversión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 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en PDB</a:t>
            </a:r>
            <a:endParaRPr lang="en-US" sz="1000" dirty="0"/>
          </a:p>
        </p:txBody>
      </p:sp>
      <p:sp>
        <p:nvSpPr>
          <p:cNvPr id="25" name="Shape 23"/>
          <p:cNvSpPr/>
          <p:nvPr/>
        </p:nvSpPr>
        <p:spPr>
          <a:xfrm>
            <a:off x="6199632" y="1353312"/>
            <a:ext cx="329184" cy="329184"/>
          </a:xfrm>
          <a:prstGeom prst="ellipse">
            <a:avLst/>
          </a:prstGeom>
          <a:solidFill>
            <a:srgbClr val="1A237E"/>
          </a:solidFill>
          <a:ln w="25400">
            <a:solidFill>
              <a:srgbClr val="FFFFFF"/>
            </a:solidFill>
            <a:prstDash val="solid"/>
          </a:ln>
        </p:spPr>
      </p:sp>
      <p:sp>
        <p:nvSpPr>
          <p:cNvPr id="26" name="Text 24"/>
          <p:cNvSpPr/>
          <p:nvPr/>
        </p:nvSpPr>
        <p:spPr>
          <a:xfrm>
            <a:off x="619963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8229600" y="1463040"/>
            <a:ext cx="169164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8229600" y="1463040"/>
            <a:ext cx="169164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Seguimiento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Actividades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visitas</a:t>
            </a:r>
            <a:endParaRPr lang="en-US" sz="1000" dirty="0"/>
          </a:p>
        </p:txBody>
      </p:sp>
      <p:sp>
        <p:nvSpPr>
          <p:cNvPr id="29" name="Shape 27"/>
          <p:cNvSpPr/>
          <p:nvPr/>
        </p:nvSpPr>
        <p:spPr>
          <a:xfrm>
            <a:off x="8119872" y="1353312"/>
            <a:ext cx="329184" cy="329184"/>
          </a:xfrm>
          <a:prstGeom prst="ellipse">
            <a:avLst/>
          </a:prstGeom>
          <a:solidFill>
            <a:srgbClr val="1A237E"/>
          </a:solidFill>
          <a:ln w="25400">
            <a:solidFill>
              <a:srgbClr val="FFFFFF"/>
            </a:solidFill>
            <a:prstDash val="solid"/>
          </a:ln>
        </p:spPr>
      </p:sp>
      <p:sp>
        <p:nvSpPr>
          <p:cNvPr id="30" name="Text 28"/>
          <p:cNvSpPr/>
          <p:nvPr/>
        </p:nvSpPr>
        <p:spPr>
          <a:xfrm>
            <a:off x="811987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10149840" y="1463040"/>
            <a:ext cx="169164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10149840" y="1463040"/>
            <a:ext cx="169164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Negociación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Oferta viva</a:t>
            </a:r>
            <a:endParaRPr lang="en-US" sz="1000" dirty="0"/>
          </a:p>
        </p:txBody>
      </p:sp>
      <p:sp>
        <p:nvSpPr>
          <p:cNvPr id="33" name="Shape 31"/>
          <p:cNvSpPr/>
          <p:nvPr/>
        </p:nvSpPr>
        <p:spPr>
          <a:xfrm>
            <a:off x="10040112" y="1353312"/>
            <a:ext cx="329184" cy="329184"/>
          </a:xfrm>
          <a:prstGeom prst="ellipse">
            <a:avLst/>
          </a:prstGeom>
          <a:solidFill>
            <a:srgbClr val="1A237E"/>
          </a:solidFill>
          <a:ln w="25400">
            <a:solidFill>
              <a:srgbClr val="FFFFFF"/>
            </a:solidFill>
            <a:prstDash val="solid"/>
          </a:ln>
        </p:spPr>
      </p:sp>
      <p:sp>
        <p:nvSpPr>
          <p:cNvPr id="34" name="Text 32"/>
          <p:cNvSpPr/>
          <p:nvPr/>
        </p:nvSpPr>
        <p:spPr>
          <a:xfrm>
            <a:off x="1004011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1371600" y="4023360"/>
            <a:ext cx="2194560" cy="1097280"/>
          </a:xfrm>
          <a:prstGeom prst="roundRect">
            <a:avLst>
              <a:gd name="adj" fmla="val 6667"/>
            </a:avLst>
          </a:prstGeom>
          <a:solidFill>
            <a:srgbClr val="7C3AED"/>
          </a:solidFill>
          <a:ln w="19050">
            <a:solidFill>
              <a:srgbClr val="5B21B6"/>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1371600" y="4023360"/>
            <a:ext cx="2194560" cy="10972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Cierre Ganada</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 Transacción</a:t>
            </a:r>
            <a:endParaRPr lang="en-US" sz="1100" dirty="0"/>
          </a:p>
        </p:txBody>
      </p:sp>
      <p:sp>
        <p:nvSpPr>
          <p:cNvPr id="37" name="Shape 35"/>
          <p:cNvSpPr/>
          <p:nvPr/>
        </p:nvSpPr>
        <p:spPr>
          <a:xfrm>
            <a:off x="1261872" y="3913632"/>
            <a:ext cx="329184" cy="329184"/>
          </a:xfrm>
          <a:prstGeom prst="ellipse">
            <a:avLst/>
          </a:prstGeom>
          <a:solidFill>
            <a:srgbClr val="1A237E"/>
          </a:solidFill>
          <a:ln w="25400">
            <a:solidFill>
              <a:srgbClr val="FFFFFF"/>
            </a:solidFill>
            <a:prstDash val="solid"/>
          </a:ln>
        </p:spPr>
      </p:sp>
      <p:sp>
        <p:nvSpPr>
          <p:cNvPr id="38" name="Text 36"/>
          <p:cNvSpPr/>
          <p:nvPr/>
        </p:nvSpPr>
        <p:spPr>
          <a:xfrm>
            <a:off x="1261872" y="39136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a:t>
            </a:r>
            <a:endParaRPr lang="en-US" sz="1000" dirty="0"/>
          </a:p>
        </p:txBody>
      </p:sp>
      <p:sp>
        <p:nvSpPr>
          <p:cNvPr id="39" name="Shape 37"/>
          <p:cNvSpPr/>
          <p:nvPr/>
        </p:nvSpPr>
        <p:spPr>
          <a:xfrm>
            <a:off x="3840480" y="4023360"/>
            <a:ext cx="2194560" cy="1097280"/>
          </a:xfrm>
          <a:prstGeom prst="roundRect">
            <a:avLst>
              <a:gd name="adj" fmla="val 6667"/>
            </a:avLst>
          </a:prstGeom>
          <a:solidFill>
            <a:srgbClr val="DC2626"/>
          </a:solidFill>
          <a:ln w="31750">
            <a:solidFill>
              <a:srgbClr val="991B1B"/>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3840480" y="4023360"/>
            <a:ext cx="2194560" cy="10972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Cierre Perdida</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Motivo +</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lecciones</a:t>
            </a:r>
            <a:endParaRPr lang="en-US" sz="1100" dirty="0"/>
          </a:p>
        </p:txBody>
      </p:sp>
      <p:sp>
        <p:nvSpPr>
          <p:cNvPr id="41" name="Shape 39"/>
          <p:cNvSpPr/>
          <p:nvPr/>
        </p:nvSpPr>
        <p:spPr>
          <a:xfrm>
            <a:off x="3730752" y="3913632"/>
            <a:ext cx="329184" cy="329184"/>
          </a:xfrm>
          <a:prstGeom prst="ellipse">
            <a:avLst/>
          </a:prstGeom>
          <a:solidFill>
            <a:srgbClr val="1A237E"/>
          </a:solidFill>
          <a:ln w="25400">
            <a:solidFill>
              <a:srgbClr val="FFFFFF"/>
            </a:solidFill>
            <a:prstDash val="solid"/>
          </a:ln>
        </p:spPr>
      </p:sp>
      <p:sp>
        <p:nvSpPr>
          <p:cNvPr id="42" name="Text 40"/>
          <p:cNvSpPr/>
          <p:nvPr/>
        </p:nvSpPr>
        <p:spPr>
          <a:xfrm>
            <a:off x="3730752" y="39136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6b</a:t>
            </a:r>
            <a:endParaRPr lang="en-US" sz="1000" dirty="0"/>
          </a:p>
        </p:txBody>
      </p:sp>
      <p:sp>
        <p:nvSpPr>
          <p:cNvPr id="43" name="Shape 41"/>
          <p:cNvSpPr/>
          <p:nvPr/>
        </p:nvSpPr>
        <p:spPr>
          <a:xfrm>
            <a:off x="2926080" y="1920240"/>
            <a:ext cx="274320" cy="0"/>
          </a:xfrm>
          <a:prstGeom prst="line">
            <a:avLst/>
          </a:prstGeom>
          <a:noFill/>
          <a:ln w="22860">
            <a:solidFill>
              <a:srgbClr val="BDBDBD"/>
            </a:solidFill>
            <a:prstDash val="solid"/>
            <a:tailEnd type="arrow"/>
          </a:ln>
        </p:spPr>
      </p:sp>
      <p:sp>
        <p:nvSpPr>
          <p:cNvPr id="44" name="Shape 42"/>
          <p:cNvSpPr/>
          <p:nvPr/>
        </p:nvSpPr>
        <p:spPr>
          <a:xfrm>
            <a:off x="5577840" y="1920240"/>
            <a:ext cx="731520" cy="0"/>
          </a:xfrm>
          <a:prstGeom prst="line">
            <a:avLst/>
          </a:prstGeom>
          <a:noFill/>
          <a:ln w="22860">
            <a:solidFill>
              <a:srgbClr val="7C3AED"/>
            </a:solidFill>
            <a:prstDash val="solid"/>
            <a:tailEnd type="arrow"/>
          </a:ln>
        </p:spPr>
      </p:sp>
      <p:sp>
        <p:nvSpPr>
          <p:cNvPr id="45" name="Text 43"/>
          <p:cNvSpPr/>
          <p:nvPr/>
        </p:nvSpPr>
        <p:spPr>
          <a:xfrm>
            <a:off x="5349240" y="180136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 + handoff</a:t>
            </a:r>
            <a:endParaRPr lang="en-US" sz="800" dirty="0"/>
          </a:p>
        </p:txBody>
      </p:sp>
      <p:sp>
        <p:nvSpPr>
          <p:cNvPr id="46" name="Shape 44"/>
          <p:cNvSpPr/>
          <p:nvPr/>
        </p:nvSpPr>
        <p:spPr>
          <a:xfrm>
            <a:off x="8001000" y="1920240"/>
            <a:ext cx="228600" cy="0"/>
          </a:xfrm>
          <a:prstGeom prst="line">
            <a:avLst/>
          </a:prstGeom>
          <a:noFill/>
          <a:ln w="22860">
            <a:solidFill>
              <a:srgbClr val="BDBDBD"/>
            </a:solidFill>
            <a:prstDash val="solid"/>
            <a:tailEnd type="arrow"/>
          </a:ln>
        </p:spPr>
      </p:sp>
      <p:sp>
        <p:nvSpPr>
          <p:cNvPr id="47" name="Shape 45"/>
          <p:cNvSpPr/>
          <p:nvPr/>
        </p:nvSpPr>
        <p:spPr>
          <a:xfrm>
            <a:off x="9921240" y="1920240"/>
            <a:ext cx="228600" cy="0"/>
          </a:xfrm>
          <a:prstGeom prst="line">
            <a:avLst/>
          </a:prstGeom>
          <a:noFill/>
          <a:ln w="22860">
            <a:solidFill>
              <a:srgbClr val="BDBDBD"/>
            </a:solidFill>
            <a:prstDash val="solid"/>
            <a:tailEnd type="arrow"/>
          </a:ln>
        </p:spPr>
      </p:sp>
      <p:sp>
        <p:nvSpPr>
          <p:cNvPr id="48" name="Shape 46"/>
          <p:cNvSpPr/>
          <p:nvPr/>
        </p:nvSpPr>
        <p:spPr>
          <a:xfrm>
            <a:off x="10515600" y="2377440"/>
            <a:ext cx="-8046720" cy="1645920"/>
          </a:xfrm>
          <a:prstGeom prst="line">
            <a:avLst/>
          </a:prstGeom>
          <a:noFill/>
          <a:ln w="22860">
            <a:solidFill>
              <a:srgbClr val="7C3AED"/>
            </a:solidFill>
            <a:prstDash val="solid"/>
            <a:tailEnd type="arrow"/>
          </a:ln>
        </p:spPr>
      </p:sp>
      <p:sp>
        <p:nvSpPr>
          <p:cNvPr id="49" name="Text 47"/>
          <p:cNvSpPr/>
          <p:nvPr/>
        </p:nvSpPr>
        <p:spPr>
          <a:xfrm>
            <a:off x="5897880" y="308152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outcome</a:t>
            </a:r>
            <a:endParaRPr lang="en-US" sz="800" dirty="0"/>
          </a:p>
        </p:txBody>
      </p:sp>
      <p:sp>
        <p:nvSpPr>
          <p:cNvPr id="50" name="Shape 48"/>
          <p:cNvSpPr/>
          <p:nvPr/>
        </p:nvSpPr>
        <p:spPr>
          <a:xfrm>
            <a:off x="10515600" y="2377440"/>
            <a:ext cx="-5577840" cy="1645920"/>
          </a:xfrm>
          <a:prstGeom prst="line">
            <a:avLst/>
          </a:prstGeom>
          <a:noFill/>
          <a:ln w="22860">
            <a:solidFill>
              <a:srgbClr val="DC2626"/>
            </a:solidFill>
            <a:prstDash val="solid"/>
            <a:tailEnd type="arrow"/>
          </a:ln>
        </p:spPr>
      </p:sp>
      <p:sp>
        <p:nvSpPr>
          <p:cNvPr id="51" name="Text 49"/>
          <p:cNvSpPr/>
          <p:nvPr/>
        </p:nvSpPr>
        <p:spPr>
          <a:xfrm>
            <a:off x="7132320" y="308152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outcome</a:t>
            </a:r>
            <a:endParaRPr lang="en-US" sz="800" dirty="0"/>
          </a:p>
        </p:txBody>
      </p:sp>
      <p:sp>
        <p:nvSpPr>
          <p:cNvPr id="52" name="Shape 50"/>
          <p:cNvSpPr/>
          <p:nvPr/>
        </p:nvSpPr>
        <p:spPr>
          <a:xfrm>
            <a:off x="4389120" y="2377440"/>
            <a:ext cx="2788920" cy="640080"/>
          </a:xfrm>
          <a:prstGeom prst="line">
            <a:avLst/>
          </a:prstGeom>
          <a:noFill/>
          <a:ln w="15240">
            <a:solidFill>
              <a:srgbClr val="888888"/>
            </a:solidFill>
            <a:prstDash val="dash"/>
            <a:headEnd type="arrow"/>
            <a:tailEnd type="arrow"/>
          </a:ln>
        </p:spPr>
      </p:sp>
      <p:sp>
        <p:nvSpPr>
          <p:cNvPr id="53" name="Text 51"/>
          <p:cNvSpPr/>
          <p:nvPr/>
        </p:nvSpPr>
        <p:spPr>
          <a:xfrm>
            <a:off x="4114800" y="3017520"/>
            <a:ext cx="3200400" cy="228600"/>
          </a:xfrm>
          <a:prstGeom prst="rect">
            <a:avLst/>
          </a:prstGeom>
          <a:noFill/>
          <a:ln/>
        </p:spPr>
        <p:txBody>
          <a:bodyPr wrap="square" rtlCol="0" anchor="ctr"/>
          <a:lstStyle/>
          <a:p>
            <a:pPr algn="ctr" indent="0" marL="0">
              <a:buNone/>
            </a:pPr>
            <a:r>
              <a:rPr lang="en-US" sz="800" i="1" dirty="0">
                <a:solidFill>
                  <a:srgbClr val="666666"/>
                </a:solidFill>
                <a:latin typeface="Calibri" pitchFamily="34" charset="0"/>
                <a:ea typeface="Calibri" pitchFamily="34" charset="-122"/>
                <a:cs typeface="Calibri" pitchFamily="34" charset="-120"/>
              </a:rPr>
              <a:t>trazabilidad bidireccional</a:t>
            </a:r>
            <a:endParaRPr lang="en-US" sz="800" dirty="0"/>
          </a:p>
        </p:txBody>
      </p:sp>
      <p:sp>
        <p:nvSpPr>
          <p:cNvPr id="54" name="Shape 52"/>
          <p:cNvSpPr/>
          <p:nvPr/>
        </p:nvSpPr>
        <p:spPr>
          <a:xfrm>
            <a:off x="274320" y="5760720"/>
            <a:ext cx="11640312" cy="868680"/>
          </a:xfrm>
          <a:prstGeom prst="rect">
            <a:avLst/>
          </a:prstGeom>
          <a:solidFill>
            <a:srgbClr val="FFFFFF"/>
          </a:solidFill>
          <a:ln w="12700">
            <a:solidFill>
              <a:srgbClr val="E0E0E0"/>
            </a:solidFill>
            <a:prstDash val="solid"/>
          </a:ln>
        </p:spPr>
      </p:sp>
      <p:sp>
        <p:nvSpPr>
          <p:cNvPr id="55" name="Text 53"/>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oportunidad nace en Dynamics (1) y se cualifica allí (2). Cuando supera el filtro BANT, se convierte en Demanda dentro del PDB (3), donde el broker ejecuta el seguimiento operativo (4) y abre la negociación (5). El resultado — ganada (6a) o perdida (6b) — se registra de nuevo en Dynamics. La trazabilidad Oportunidad ↔ Demanda ↔ Negociación se mantiene bidireccional en todo momento para reporting y forecasting.</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Gestión de Activo</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Alta → vinculación Cuenta-Propietario (CRÍTICO) → publicación → demandas → visitas → ofertas</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2743200" cy="457200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2596896"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3" name="Shape 11"/>
          <p:cNvSpPr/>
          <p:nvPr/>
        </p:nvSpPr>
        <p:spPr>
          <a:xfrm>
            <a:off x="3246120" y="914400"/>
            <a:ext cx="8668512" cy="4572000"/>
          </a:xfrm>
          <a:prstGeom prst="rect">
            <a:avLst/>
          </a:prstGeom>
          <a:solidFill>
            <a:srgbClr val="2E7D32">
              <a:alpha val="12000"/>
            </a:srgbClr>
          </a:solidFill>
          <a:ln w="12700">
            <a:solidFill>
              <a:srgbClr val="2E7D32"/>
            </a:solidFill>
            <a:prstDash val="dash"/>
          </a:ln>
        </p:spPr>
      </p:sp>
      <p:sp>
        <p:nvSpPr>
          <p:cNvPr id="14" name="Text 12"/>
          <p:cNvSpPr/>
          <p:nvPr/>
        </p:nvSpPr>
        <p:spPr>
          <a:xfrm>
            <a:off x="3319272" y="950976"/>
            <a:ext cx="85222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5" name="Shape 13"/>
          <p:cNvSpPr/>
          <p:nvPr/>
        </p:nvSpPr>
        <p:spPr>
          <a:xfrm>
            <a:off x="457200" y="2286000"/>
            <a:ext cx="2377440" cy="1828800"/>
          </a:xfrm>
          <a:prstGeom prst="roundRect">
            <a:avLst>
              <a:gd name="adj" fmla="val 4000"/>
            </a:avLst>
          </a:prstGeom>
          <a:solidFill>
            <a:srgbClr val="DC2626"/>
          </a:solidFill>
          <a:ln w="31750">
            <a:solidFill>
              <a:srgbClr val="991B1B"/>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2286000"/>
            <a:ext cx="2377440" cy="18288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Cuenta-Propietario</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vínculo</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CRÍTICO</a:t>
            </a:r>
            <a:endParaRPr lang="en-US" sz="1200" dirty="0"/>
          </a:p>
        </p:txBody>
      </p:sp>
      <p:sp>
        <p:nvSpPr>
          <p:cNvPr id="17" name="Shape 15"/>
          <p:cNvSpPr/>
          <p:nvPr/>
        </p:nvSpPr>
        <p:spPr>
          <a:xfrm>
            <a:off x="347472" y="217627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21762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9" name="Shape 17"/>
          <p:cNvSpPr/>
          <p:nvPr/>
        </p:nvSpPr>
        <p:spPr>
          <a:xfrm>
            <a:off x="352044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352044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Alta Activo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Ref + dirección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uso</a:t>
            </a:r>
            <a:endParaRPr lang="en-US" sz="1000" dirty="0"/>
          </a:p>
        </p:txBody>
      </p:sp>
      <p:sp>
        <p:nvSpPr>
          <p:cNvPr id="21" name="Shape 19"/>
          <p:cNvSpPr/>
          <p:nvPr/>
        </p:nvSpPr>
        <p:spPr>
          <a:xfrm>
            <a:off x="3410712" y="1353312"/>
            <a:ext cx="329184" cy="329184"/>
          </a:xfrm>
          <a:prstGeom prst="ellipse">
            <a:avLst/>
          </a:prstGeom>
          <a:solidFill>
            <a:srgbClr val="1A237E"/>
          </a:solidFill>
          <a:ln w="25400">
            <a:solidFill>
              <a:srgbClr val="FFFFFF"/>
            </a:solidFill>
            <a:prstDash val="solid"/>
          </a:ln>
        </p:spPr>
      </p:sp>
      <p:sp>
        <p:nvSpPr>
          <p:cNvPr id="22" name="Text 20"/>
          <p:cNvSpPr/>
          <p:nvPr/>
        </p:nvSpPr>
        <p:spPr>
          <a:xfrm>
            <a:off x="341071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Shape 21"/>
          <p:cNvSpPr/>
          <p:nvPr/>
        </p:nvSpPr>
        <p:spPr>
          <a:xfrm>
            <a:off x="544068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544068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Publicación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Disponibilidad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fotos</a:t>
            </a:r>
            <a:endParaRPr lang="en-US" sz="1000" dirty="0"/>
          </a:p>
        </p:txBody>
      </p:sp>
      <p:sp>
        <p:nvSpPr>
          <p:cNvPr id="25" name="Shape 23"/>
          <p:cNvSpPr/>
          <p:nvPr/>
        </p:nvSpPr>
        <p:spPr>
          <a:xfrm>
            <a:off x="5330952" y="1353312"/>
            <a:ext cx="329184" cy="329184"/>
          </a:xfrm>
          <a:prstGeom prst="ellipse">
            <a:avLst/>
          </a:prstGeom>
          <a:solidFill>
            <a:srgbClr val="1A237E"/>
          </a:solidFill>
          <a:ln w="25400">
            <a:solidFill>
              <a:srgbClr val="FFFFFF"/>
            </a:solidFill>
            <a:prstDash val="solid"/>
          </a:ln>
        </p:spPr>
      </p:sp>
      <p:sp>
        <p:nvSpPr>
          <p:cNvPr id="26" name="Text 24"/>
          <p:cNvSpPr/>
          <p:nvPr/>
        </p:nvSpPr>
        <p:spPr>
          <a:xfrm>
            <a:off x="533095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736092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736092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Recepción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Demandas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Matching entrante</a:t>
            </a:r>
            <a:endParaRPr lang="en-US" sz="1000" dirty="0"/>
          </a:p>
        </p:txBody>
      </p:sp>
      <p:sp>
        <p:nvSpPr>
          <p:cNvPr id="29" name="Shape 27"/>
          <p:cNvSpPr/>
          <p:nvPr/>
        </p:nvSpPr>
        <p:spPr>
          <a:xfrm>
            <a:off x="7251192" y="1353312"/>
            <a:ext cx="329184" cy="329184"/>
          </a:xfrm>
          <a:prstGeom prst="ellipse">
            <a:avLst/>
          </a:prstGeom>
          <a:solidFill>
            <a:srgbClr val="1A237E"/>
          </a:solidFill>
          <a:ln w="25400">
            <a:solidFill>
              <a:srgbClr val="FFFFFF"/>
            </a:solidFill>
            <a:prstDash val="solid"/>
          </a:ln>
        </p:spPr>
      </p:sp>
      <p:sp>
        <p:nvSpPr>
          <p:cNvPr id="30" name="Text 28"/>
          <p:cNvSpPr/>
          <p:nvPr/>
        </p:nvSpPr>
        <p:spPr>
          <a:xfrm>
            <a:off x="725119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928116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928116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Visitas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Agenda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reporting</a:t>
            </a:r>
            <a:endParaRPr lang="en-US" sz="1000" dirty="0"/>
          </a:p>
        </p:txBody>
      </p:sp>
      <p:sp>
        <p:nvSpPr>
          <p:cNvPr id="33" name="Shape 31"/>
          <p:cNvSpPr/>
          <p:nvPr/>
        </p:nvSpPr>
        <p:spPr>
          <a:xfrm>
            <a:off x="9171432" y="1353312"/>
            <a:ext cx="329184" cy="329184"/>
          </a:xfrm>
          <a:prstGeom prst="ellipse">
            <a:avLst/>
          </a:prstGeom>
          <a:solidFill>
            <a:srgbClr val="1A237E"/>
          </a:solidFill>
          <a:ln w="25400">
            <a:solidFill>
              <a:srgbClr val="FFFFFF"/>
            </a:solidFill>
            <a:prstDash val="solid"/>
          </a:ln>
        </p:spPr>
      </p:sp>
      <p:sp>
        <p:nvSpPr>
          <p:cNvPr id="34" name="Text 32"/>
          <p:cNvSpPr/>
          <p:nvPr/>
        </p:nvSpPr>
        <p:spPr>
          <a:xfrm>
            <a:off x="917143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7360920" y="402336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7360920" y="402336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Ofertas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Vinculadas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 activo</a:t>
            </a:r>
            <a:endParaRPr lang="en-US" sz="1000" dirty="0"/>
          </a:p>
        </p:txBody>
      </p:sp>
      <p:sp>
        <p:nvSpPr>
          <p:cNvPr id="37" name="Shape 35"/>
          <p:cNvSpPr/>
          <p:nvPr/>
        </p:nvSpPr>
        <p:spPr>
          <a:xfrm>
            <a:off x="7251192" y="3913632"/>
            <a:ext cx="329184" cy="329184"/>
          </a:xfrm>
          <a:prstGeom prst="ellipse">
            <a:avLst/>
          </a:prstGeom>
          <a:solidFill>
            <a:srgbClr val="1A237E"/>
          </a:solidFill>
          <a:ln w="25400">
            <a:solidFill>
              <a:srgbClr val="FFFFFF"/>
            </a:solidFill>
            <a:prstDash val="solid"/>
          </a:ln>
        </p:spPr>
      </p:sp>
      <p:sp>
        <p:nvSpPr>
          <p:cNvPr id="38" name="Text 36"/>
          <p:cNvSpPr/>
          <p:nvPr/>
        </p:nvSpPr>
        <p:spPr>
          <a:xfrm>
            <a:off x="7251192" y="39136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9" name="Shape 37"/>
          <p:cNvSpPr/>
          <p:nvPr/>
        </p:nvSpPr>
        <p:spPr>
          <a:xfrm>
            <a:off x="5257800" y="1920240"/>
            <a:ext cx="182880" cy="0"/>
          </a:xfrm>
          <a:prstGeom prst="line">
            <a:avLst/>
          </a:prstGeom>
          <a:noFill/>
          <a:ln w="22860">
            <a:solidFill>
              <a:srgbClr val="BDBDBD"/>
            </a:solidFill>
            <a:prstDash val="solid"/>
            <a:tailEnd type="arrow"/>
          </a:ln>
        </p:spPr>
      </p:sp>
      <p:sp>
        <p:nvSpPr>
          <p:cNvPr id="40" name="Shape 38"/>
          <p:cNvSpPr/>
          <p:nvPr/>
        </p:nvSpPr>
        <p:spPr>
          <a:xfrm>
            <a:off x="7178040" y="1920240"/>
            <a:ext cx="182880" cy="0"/>
          </a:xfrm>
          <a:prstGeom prst="line">
            <a:avLst/>
          </a:prstGeom>
          <a:noFill/>
          <a:ln w="22860">
            <a:solidFill>
              <a:srgbClr val="BDBDBD"/>
            </a:solidFill>
            <a:prstDash val="solid"/>
            <a:tailEnd type="arrow"/>
          </a:ln>
        </p:spPr>
      </p:sp>
      <p:sp>
        <p:nvSpPr>
          <p:cNvPr id="41" name="Shape 39"/>
          <p:cNvSpPr/>
          <p:nvPr/>
        </p:nvSpPr>
        <p:spPr>
          <a:xfrm>
            <a:off x="9098280" y="1920240"/>
            <a:ext cx="182880" cy="0"/>
          </a:xfrm>
          <a:prstGeom prst="line">
            <a:avLst/>
          </a:prstGeom>
          <a:noFill/>
          <a:ln w="22860">
            <a:solidFill>
              <a:srgbClr val="BDBDBD"/>
            </a:solidFill>
            <a:prstDash val="solid"/>
            <a:tailEnd type="arrow"/>
          </a:ln>
        </p:spPr>
      </p:sp>
      <p:sp>
        <p:nvSpPr>
          <p:cNvPr id="42" name="Shape 40"/>
          <p:cNvSpPr/>
          <p:nvPr/>
        </p:nvSpPr>
        <p:spPr>
          <a:xfrm>
            <a:off x="10149840" y="2377440"/>
            <a:ext cx="-1920240" cy="1645920"/>
          </a:xfrm>
          <a:prstGeom prst="line">
            <a:avLst/>
          </a:prstGeom>
          <a:noFill/>
          <a:ln w="22860">
            <a:solidFill>
              <a:srgbClr val="BDBDBD"/>
            </a:solidFill>
            <a:prstDash val="solid"/>
            <a:tailEnd type="arrow"/>
          </a:ln>
        </p:spPr>
      </p:sp>
      <p:sp>
        <p:nvSpPr>
          <p:cNvPr id="43" name="Shape 41"/>
          <p:cNvSpPr/>
          <p:nvPr/>
        </p:nvSpPr>
        <p:spPr>
          <a:xfrm>
            <a:off x="2834640" y="2286000"/>
            <a:ext cx="685800" cy="-365760"/>
          </a:xfrm>
          <a:prstGeom prst="line">
            <a:avLst/>
          </a:prstGeom>
          <a:noFill/>
          <a:ln w="38100">
            <a:solidFill>
              <a:srgbClr val="DC2626"/>
            </a:solidFill>
            <a:prstDash val="solid"/>
            <a:headEnd type="arrow"/>
            <a:tailEnd type="arrow"/>
          </a:ln>
        </p:spPr>
      </p:sp>
      <p:sp>
        <p:nvSpPr>
          <p:cNvPr id="44" name="Text 42"/>
          <p:cNvSpPr/>
          <p:nvPr/>
        </p:nvSpPr>
        <p:spPr>
          <a:xfrm>
            <a:off x="2651760" y="1783080"/>
            <a:ext cx="1097280" cy="201168"/>
          </a:xfrm>
          <a:prstGeom prst="rect">
            <a:avLst/>
          </a:prstGeom>
          <a:noFill/>
          <a:ln/>
        </p:spPr>
        <p:txBody>
          <a:bodyPr wrap="square" rtlCol="0" anchor="ctr"/>
          <a:lstStyle/>
          <a:p>
            <a:pPr algn="ctr" indent="0" marL="0">
              <a:buNone/>
            </a:pPr>
            <a:r>
              <a:rPr lang="en-US" sz="800" b="1" dirty="0">
                <a:solidFill>
                  <a:srgbClr val="DC2626"/>
                </a:solidFill>
                <a:latin typeface="Calibri" pitchFamily="34" charset="0"/>
                <a:ea typeface="Calibri" pitchFamily="34" charset="-122"/>
                <a:cs typeface="Calibri" pitchFamily="34" charset="-120"/>
              </a:rPr>
              <a:t>FK obligatorio</a:t>
            </a:r>
            <a:endParaRPr lang="en-US" sz="800" dirty="0"/>
          </a:p>
        </p:txBody>
      </p:sp>
      <p:sp>
        <p:nvSpPr>
          <p:cNvPr id="45" name="Shape 43"/>
          <p:cNvSpPr/>
          <p:nvPr/>
        </p:nvSpPr>
        <p:spPr>
          <a:xfrm>
            <a:off x="2834640" y="3200400"/>
            <a:ext cx="685800" cy="-1371600"/>
          </a:xfrm>
          <a:prstGeom prst="line">
            <a:avLst/>
          </a:prstGeom>
          <a:noFill/>
          <a:ln w="22860">
            <a:solidFill>
              <a:srgbClr val="0078D4"/>
            </a:solidFill>
            <a:prstDash val="dash"/>
            <a:tailEnd type="arrow"/>
          </a:ln>
        </p:spPr>
      </p:sp>
      <p:sp>
        <p:nvSpPr>
          <p:cNvPr id="46" name="Text 44"/>
          <p:cNvSpPr/>
          <p:nvPr/>
        </p:nvSpPr>
        <p:spPr>
          <a:xfrm>
            <a:off x="2583180" y="239572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 datos</a:t>
            </a:r>
            <a:endParaRPr lang="en-US" sz="800" dirty="0"/>
          </a:p>
        </p:txBody>
      </p:sp>
      <p:sp>
        <p:nvSpPr>
          <p:cNvPr id="47" name="Shape 45"/>
          <p:cNvSpPr/>
          <p:nvPr/>
        </p:nvSpPr>
        <p:spPr>
          <a:xfrm>
            <a:off x="274320" y="5760720"/>
            <a:ext cx="11640312" cy="868680"/>
          </a:xfrm>
          <a:prstGeom prst="rect">
            <a:avLst/>
          </a:prstGeom>
          <a:solidFill>
            <a:srgbClr val="FFFFFF"/>
          </a:solidFill>
          <a:ln w="12700">
            <a:solidFill>
              <a:srgbClr val="E0E0E0"/>
            </a:solidFill>
            <a:prstDash val="solid"/>
          </a:ln>
        </p:spPr>
      </p:sp>
      <p:sp>
        <p:nvSpPr>
          <p:cNvPr id="48" name="Text 46"/>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alta del activo (1) es la primera operación que el broker realiza en el PDB. Antes de cualquier publicación, el activo debe vincularse a una Cuenta-Propietario en Dynamics (2): este FK es obligatorio y bloqueante. Una vez vinculado, el activo se publica con disponibilidad y fotos (3), recibe demandas entrantes (4), genera visitas (5) y, en su caso, ofertas (6). Toda la información heredable (titular, fiscal, contactos) se sincroniza desde la cuenta.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Gestión de Demanda</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Cuenta-Arrendatario → alta demanda → matching activos → visitas → shortlist → oferta</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2468880" cy="457200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2322576"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3" name="Shape 11"/>
          <p:cNvSpPr/>
          <p:nvPr/>
        </p:nvSpPr>
        <p:spPr>
          <a:xfrm>
            <a:off x="2971800" y="914400"/>
            <a:ext cx="8942832" cy="4572000"/>
          </a:xfrm>
          <a:prstGeom prst="rect">
            <a:avLst/>
          </a:prstGeom>
          <a:solidFill>
            <a:srgbClr val="2E7D32">
              <a:alpha val="12000"/>
            </a:srgbClr>
          </a:solidFill>
          <a:ln w="12700">
            <a:solidFill>
              <a:srgbClr val="2E7D32"/>
            </a:solidFill>
            <a:prstDash val="dash"/>
          </a:ln>
        </p:spPr>
      </p:sp>
      <p:sp>
        <p:nvSpPr>
          <p:cNvPr id="14" name="Text 12"/>
          <p:cNvSpPr/>
          <p:nvPr/>
        </p:nvSpPr>
        <p:spPr>
          <a:xfrm>
            <a:off x="3044952" y="950976"/>
            <a:ext cx="879652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5" name="Shape 13"/>
          <p:cNvSpPr/>
          <p:nvPr/>
        </p:nvSpPr>
        <p:spPr>
          <a:xfrm>
            <a:off x="457200" y="2286000"/>
            <a:ext cx="2103120" cy="1645920"/>
          </a:xfrm>
          <a:prstGeom prst="roundRect">
            <a:avLst>
              <a:gd name="adj" fmla="val 4444"/>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2286000"/>
            <a:ext cx="2103120" cy="16459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Cuenta-</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Arrendatario</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origen demanda</a:t>
            </a:r>
            <a:endParaRPr lang="en-US" sz="1100" dirty="0"/>
          </a:p>
        </p:txBody>
      </p:sp>
      <p:sp>
        <p:nvSpPr>
          <p:cNvPr id="17" name="Shape 15"/>
          <p:cNvSpPr/>
          <p:nvPr/>
        </p:nvSpPr>
        <p:spPr>
          <a:xfrm>
            <a:off x="347472" y="217627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21762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320040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320040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Alta 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Uso + sup</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renta máx</a:t>
            </a:r>
            <a:endParaRPr lang="en-US" sz="1000" dirty="0"/>
          </a:p>
        </p:txBody>
      </p:sp>
      <p:sp>
        <p:nvSpPr>
          <p:cNvPr id="21" name="Shape 19"/>
          <p:cNvSpPr/>
          <p:nvPr/>
        </p:nvSpPr>
        <p:spPr>
          <a:xfrm>
            <a:off x="3090672" y="2359152"/>
            <a:ext cx="329184" cy="329184"/>
          </a:xfrm>
          <a:prstGeom prst="ellipse">
            <a:avLst/>
          </a:prstGeom>
          <a:solidFill>
            <a:srgbClr val="1A237E"/>
          </a:solidFill>
          <a:ln w="25400">
            <a:solidFill>
              <a:srgbClr val="FFFFFF"/>
            </a:solidFill>
            <a:prstDash val="solid"/>
          </a:ln>
        </p:spPr>
      </p:sp>
      <p:sp>
        <p:nvSpPr>
          <p:cNvPr id="22" name="Text 20"/>
          <p:cNvSpPr/>
          <p:nvPr/>
        </p:nvSpPr>
        <p:spPr>
          <a:xfrm>
            <a:off x="309067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493776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493776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Matching Activos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cruce automático</a:t>
            </a:r>
            <a:endParaRPr lang="en-US" sz="1000" dirty="0"/>
          </a:p>
        </p:txBody>
      </p:sp>
      <p:sp>
        <p:nvSpPr>
          <p:cNvPr id="25" name="Shape 23"/>
          <p:cNvSpPr/>
          <p:nvPr/>
        </p:nvSpPr>
        <p:spPr>
          <a:xfrm>
            <a:off x="4828032" y="2359152"/>
            <a:ext cx="329184" cy="329184"/>
          </a:xfrm>
          <a:prstGeom prst="ellipse">
            <a:avLst/>
          </a:prstGeom>
          <a:solidFill>
            <a:srgbClr val="1A237E"/>
          </a:solidFill>
          <a:ln w="25400">
            <a:solidFill>
              <a:srgbClr val="FFFFFF"/>
            </a:solidFill>
            <a:prstDash val="solid"/>
          </a:ln>
        </p:spPr>
      </p:sp>
      <p:sp>
        <p:nvSpPr>
          <p:cNvPr id="26" name="Text 24"/>
          <p:cNvSpPr/>
          <p:nvPr/>
        </p:nvSpPr>
        <p:spPr>
          <a:xfrm>
            <a:off x="482803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667512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667512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Visitas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presencial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 virtual</a:t>
            </a:r>
            <a:endParaRPr lang="en-US" sz="1000" dirty="0"/>
          </a:p>
        </p:txBody>
      </p:sp>
      <p:sp>
        <p:nvSpPr>
          <p:cNvPr id="29" name="Shape 27"/>
          <p:cNvSpPr/>
          <p:nvPr/>
        </p:nvSpPr>
        <p:spPr>
          <a:xfrm>
            <a:off x="6565392" y="2359152"/>
            <a:ext cx="329184" cy="329184"/>
          </a:xfrm>
          <a:prstGeom prst="ellipse">
            <a:avLst/>
          </a:prstGeom>
          <a:solidFill>
            <a:srgbClr val="1A237E"/>
          </a:solidFill>
          <a:ln w="25400">
            <a:solidFill>
              <a:srgbClr val="FFFFFF"/>
            </a:solidFill>
            <a:prstDash val="solid"/>
          </a:ln>
        </p:spPr>
      </p:sp>
      <p:sp>
        <p:nvSpPr>
          <p:cNvPr id="30" name="Text 28"/>
          <p:cNvSpPr/>
          <p:nvPr/>
        </p:nvSpPr>
        <p:spPr>
          <a:xfrm>
            <a:off x="656539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841248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841248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Shortlist</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preselección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3-5</a:t>
            </a:r>
            <a:endParaRPr lang="en-US" sz="1000" dirty="0"/>
          </a:p>
        </p:txBody>
      </p:sp>
      <p:sp>
        <p:nvSpPr>
          <p:cNvPr id="33" name="Shape 31"/>
          <p:cNvSpPr/>
          <p:nvPr/>
        </p:nvSpPr>
        <p:spPr>
          <a:xfrm>
            <a:off x="8302752" y="2359152"/>
            <a:ext cx="329184" cy="329184"/>
          </a:xfrm>
          <a:prstGeom prst="ellipse">
            <a:avLst/>
          </a:prstGeom>
          <a:solidFill>
            <a:srgbClr val="1A237E"/>
          </a:solidFill>
          <a:ln w="25400">
            <a:solidFill>
              <a:srgbClr val="FFFFFF"/>
            </a:solidFill>
            <a:prstDash val="solid"/>
          </a:ln>
        </p:spPr>
      </p:sp>
      <p:sp>
        <p:nvSpPr>
          <p:cNvPr id="34" name="Text 32"/>
          <p:cNvSpPr/>
          <p:nvPr/>
        </p:nvSpPr>
        <p:spPr>
          <a:xfrm>
            <a:off x="830275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1014984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1014984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Oferta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sobre activo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final</a:t>
            </a:r>
            <a:endParaRPr lang="en-US" sz="1000" dirty="0"/>
          </a:p>
        </p:txBody>
      </p:sp>
      <p:sp>
        <p:nvSpPr>
          <p:cNvPr id="37" name="Shape 35"/>
          <p:cNvSpPr/>
          <p:nvPr/>
        </p:nvSpPr>
        <p:spPr>
          <a:xfrm>
            <a:off x="10040112" y="2359152"/>
            <a:ext cx="329184" cy="329184"/>
          </a:xfrm>
          <a:prstGeom prst="ellipse">
            <a:avLst/>
          </a:prstGeom>
          <a:solidFill>
            <a:srgbClr val="1A237E"/>
          </a:solidFill>
          <a:ln w="25400">
            <a:solidFill>
              <a:srgbClr val="FFFFFF"/>
            </a:solidFill>
            <a:prstDash val="solid"/>
          </a:ln>
        </p:spPr>
      </p:sp>
      <p:sp>
        <p:nvSpPr>
          <p:cNvPr id="38" name="Text 36"/>
          <p:cNvSpPr/>
          <p:nvPr/>
        </p:nvSpPr>
        <p:spPr>
          <a:xfrm>
            <a:off x="100401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9" name="Shape 37"/>
          <p:cNvSpPr/>
          <p:nvPr/>
        </p:nvSpPr>
        <p:spPr>
          <a:xfrm>
            <a:off x="2560320" y="3108960"/>
            <a:ext cx="640080" cy="0"/>
          </a:xfrm>
          <a:prstGeom prst="line">
            <a:avLst/>
          </a:prstGeom>
          <a:noFill/>
          <a:ln w="22860">
            <a:solidFill>
              <a:srgbClr val="DC2626"/>
            </a:solidFill>
            <a:prstDash val="solid"/>
            <a:tailEnd type="arrow"/>
          </a:ln>
        </p:spPr>
      </p:sp>
      <p:sp>
        <p:nvSpPr>
          <p:cNvPr id="40" name="Text 38"/>
          <p:cNvSpPr/>
          <p:nvPr/>
        </p:nvSpPr>
        <p:spPr>
          <a:xfrm>
            <a:off x="2286000" y="299008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FK obligatorio</a:t>
            </a:r>
            <a:endParaRPr lang="en-US" sz="800" dirty="0"/>
          </a:p>
        </p:txBody>
      </p:sp>
      <p:sp>
        <p:nvSpPr>
          <p:cNvPr id="41" name="Shape 39"/>
          <p:cNvSpPr/>
          <p:nvPr/>
        </p:nvSpPr>
        <p:spPr>
          <a:xfrm>
            <a:off x="4754880" y="3108960"/>
            <a:ext cx="182880" cy="0"/>
          </a:xfrm>
          <a:prstGeom prst="line">
            <a:avLst/>
          </a:prstGeom>
          <a:noFill/>
          <a:ln w="22860">
            <a:solidFill>
              <a:srgbClr val="BDBDBD"/>
            </a:solidFill>
            <a:prstDash val="solid"/>
            <a:tailEnd type="arrow"/>
          </a:ln>
        </p:spPr>
      </p:sp>
      <p:sp>
        <p:nvSpPr>
          <p:cNvPr id="42" name="Shape 40"/>
          <p:cNvSpPr/>
          <p:nvPr/>
        </p:nvSpPr>
        <p:spPr>
          <a:xfrm>
            <a:off x="6492240" y="3108960"/>
            <a:ext cx="182880" cy="0"/>
          </a:xfrm>
          <a:prstGeom prst="line">
            <a:avLst/>
          </a:prstGeom>
          <a:noFill/>
          <a:ln w="22860">
            <a:solidFill>
              <a:srgbClr val="BDBDBD"/>
            </a:solidFill>
            <a:prstDash val="solid"/>
            <a:tailEnd type="arrow"/>
          </a:ln>
        </p:spPr>
      </p:sp>
      <p:sp>
        <p:nvSpPr>
          <p:cNvPr id="43" name="Shape 41"/>
          <p:cNvSpPr/>
          <p:nvPr/>
        </p:nvSpPr>
        <p:spPr>
          <a:xfrm>
            <a:off x="8229600" y="3108960"/>
            <a:ext cx="182880" cy="0"/>
          </a:xfrm>
          <a:prstGeom prst="line">
            <a:avLst/>
          </a:prstGeom>
          <a:noFill/>
          <a:ln w="22860">
            <a:solidFill>
              <a:srgbClr val="BDBDBD"/>
            </a:solidFill>
            <a:prstDash val="solid"/>
            <a:tailEnd type="arrow"/>
          </a:ln>
        </p:spPr>
      </p:sp>
      <p:sp>
        <p:nvSpPr>
          <p:cNvPr id="44" name="Shape 42"/>
          <p:cNvSpPr/>
          <p:nvPr/>
        </p:nvSpPr>
        <p:spPr>
          <a:xfrm>
            <a:off x="9966960" y="3108960"/>
            <a:ext cx="182880" cy="0"/>
          </a:xfrm>
          <a:prstGeom prst="line">
            <a:avLst/>
          </a:prstGeom>
          <a:noFill/>
          <a:ln w="22860">
            <a:solidFill>
              <a:srgbClr val="BDBDBD"/>
            </a:solidFill>
            <a:prstDash val="solid"/>
            <a:tailEnd type="arrow"/>
          </a:ln>
        </p:spPr>
      </p:sp>
      <p:sp>
        <p:nvSpPr>
          <p:cNvPr id="45" name="Shape 43"/>
          <p:cNvSpPr/>
          <p:nvPr/>
        </p:nvSpPr>
        <p:spPr>
          <a:xfrm>
            <a:off x="274320" y="5760720"/>
            <a:ext cx="11640312" cy="868680"/>
          </a:xfrm>
          <a:prstGeom prst="rect">
            <a:avLst/>
          </a:prstGeom>
          <a:solidFill>
            <a:srgbClr val="FFFFFF"/>
          </a:solidFill>
          <a:ln w="12700">
            <a:solidFill>
              <a:srgbClr val="E0E0E0"/>
            </a:solidFill>
            <a:prstDash val="solid"/>
          </a:ln>
        </p:spPr>
      </p:sp>
      <p:sp>
        <p:nvSpPr>
          <p:cNvPr id="46" name="Text 44"/>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Toda demanda parte de una Cuenta-Arrendatario en Dynamics (1). El broker da de alta la demanda en el PDB (2) con el perfil de búsqueda (uso, superficie, renta máxima, zona). El sistema realiza un matching automático contra los activos disponibles (3), se ejecutan visitas (4) y se construye una shortlist (5) que culmina en una oferta concreta (6) sobre el activo seleccionado.</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Flujo de Oferta</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Creación → envío → respuesta → apertura Negociación → versionado documentos → cierre · Vive íntegramente en PDB</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54864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4" name="Text 12"/>
          <p:cNvSpPr/>
          <p:nvPr/>
        </p:nvSpPr>
        <p:spPr>
          <a:xfrm>
            <a:off x="54864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Creación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Activo + 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condiciones</a:t>
            </a:r>
            <a:endParaRPr lang="en-US" sz="1000" dirty="0"/>
          </a:p>
        </p:txBody>
      </p:sp>
      <p:sp>
        <p:nvSpPr>
          <p:cNvPr id="15" name="Shape 13"/>
          <p:cNvSpPr/>
          <p:nvPr/>
        </p:nvSpPr>
        <p:spPr>
          <a:xfrm>
            <a:off x="438912" y="2359152"/>
            <a:ext cx="329184" cy="329184"/>
          </a:xfrm>
          <a:prstGeom prst="ellipse">
            <a:avLst/>
          </a:prstGeom>
          <a:solidFill>
            <a:srgbClr val="1A237E"/>
          </a:solidFill>
          <a:ln w="25400">
            <a:solidFill>
              <a:srgbClr val="FFFFFF"/>
            </a:solidFill>
            <a:prstDash val="solid"/>
          </a:ln>
        </p:spPr>
      </p:sp>
      <p:sp>
        <p:nvSpPr>
          <p:cNvPr id="16" name="Text 14"/>
          <p:cNvSpPr/>
          <p:nvPr/>
        </p:nvSpPr>
        <p:spPr>
          <a:xfrm>
            <a:off x="4389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7" name="Shape 15"/>
          <p:cNvSpPr/>
          <p:nvPr/>
        </p:nvSpPr>
        <p:spPr>
          <a:xfrm>
            <a:off x="242316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8" name="Text 16"/>
          <p:cNvSpPr/>
          <p:nvPr/>
        </p:nvSpPr>
        <p:spPr>
          <a:xfrm>
            <a:off x="242316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Envío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 propietario</a:t>
            </a:r>
            <a:endParaRPr lang="en-US" sz="1000" dirty="0"/>
          </a:p>
        </p:txBody>
      </p:sp>
      <p:sp>
        <p:nvSpPr>
          <p:cNvPr id="19" name="Shape 17"/>
          <p:cNvSpPr/>
          <p:nvPr/>
        </p:nvSpPr>
        <p:spPr>
          <a:xfrm>
            <a:off x="2313432" y="2359152"/>
            <a:ext cx="329184" cy="329184"/>
          </a:xfrm>
          <a:prstGeom prst="ellipse">
            <a:avLst/>
          </a:prstGeom>
          <a:solidFill>
            <a:srgbClr val="1A237E"/>
          </a:solidFill>
          <a:ln w="25400">
            <a:solidFill>
              <a:srgbClr val="FFFFFF"/>
            </a:solidFill>
            <a:prstDash val="solid"/>
          </a:ln>
        </p:spPr>
      </p:sp>
      <p:sp>
        <p:nvSpPr>
          <p:cNvPr id="20" name="Text 18"/>
          <p:cNvSpPr/>
          <p:nvPr/>
        </p:nvSpPr>
        <p:spPr>
          <a:xfrm>
            <a:off x="231343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1" name="Shape 19"/>
          <p:cNvSpPr/>
          <p:nvPr/>
        </p:nvSpPr>
        <p:spPr>
          <a:xfrm>
            <a:off x="429768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2" name="Text 20"/>
          <p:cNvSpPr/>
          <p:nvPr/>
        </p:nvSpPr>
        <p:spPr>
          <a:xfrm>
            <a:off x="429768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Respuesta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aceptada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contrapropuesta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rechazada</a:t>
            </a:r>
            <a:endParaRPr lang="en-US" sz="1000" dirty="0"/>
          </a:p>
        </p:txBody>
      </p:sp>
      <p:sp>
        <p:nvSpPr>
          <p:cNvPr id="23" name="Shape 21"/>
          <p:cNvSpPr/>
          <p:nvPr/>
        </p:nvSpPr>
        <p:spPr>
          <a:xfrm>
            <a:off x="4187952" y="2359152"/>
            <a:ext cx="329184" cy="329184"/>
          </a:xfrm>
          <a:prstGeom prst="ellipse">
            <a:avLst/>
          </a:prstGeom>
          <a:solidFill>
            <a:srgbClr val="1A237E"/>
          </a:solidFill>
          <a:ln w="25400">
            <a:solidFill>
              <a:srgbClr val="FFFFFF"/>
            </a:solidFill>
            <a:prstDash val="solid"/>
          </a:ln>
        </p:spPr>
      </p:sp>
      <p:sp>
        <p:nvSpPr>
          <p:cNvPr id="24" name="Text 22"/>
          <p:cNvSpPr/>
          <p:nvPr/>
        </p:nvSpPr>
        <p:spPr>
          <a:xfrm>
            <a:off x="418795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5" name="Shape 23"/>
          <p:cNvSpPr/>
          <p:nvPr/>
        </p:nvSpPr>
        <p:spPr>
          <a:xfrm>
            <a:off x="617220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6" name="Text 24"/>
          <p:cNvSpPr/>
          <p:nvPr/>
        </p:nvSpPr>
        <p:spPr>
          <a:xfrm>
            <a:off x="617220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Apertura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Negociación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hilo formal</a:t>
            </a:r>
            <a:endParaRPr lang="en-US" sz="1000" dirty="0"/>
          </a:p>
        </p:txBody>
      </p:sp>
      <p:sp>
        <p:nvSpPr>
          <p:cNvPr id="27" name="Shape 25"/>
          <p:cNvSpPr/>
          <p:nvPr/>
        </p:nvSpPr>
        <p:spPr>
          <a:xfrm>
            <a:off x="6062472" y="2359152"/>
            <a:ext cx="329184" cy="329184"/>
          </a:xfrm>
          <a:prstGeom prst="ellipse">
            <a:avLst/>
          </a:prstGeom>
          <a:solidFill>
            <a:srgbClr val="1A237E"/>
          </a:solidFill>
          <a:ln w="25400">
            <a:solidFill>
              <a:srgbClr val="FFFFFF"/>
            </a:solidFill>
            <a:prstDash val="solid"/>
          </a:ln>
        </p:spPr>
      </p:sp>
      <p:sp>
        <p:nvSpPr>
          <p:cNvPr id="28" name="Text 26"/>
          <p:cNvSpPr/>
          <p:nvPr/>
        </p:nvSpPr>
        <p:spPr>
          <a:xfrm>
            <a:off x="606247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9" name="Shape 27"/>
          <p:cNvSpPr/>
          <p:nvPr/>
        </p:nvSpPr>
        <p:spPr>
          <a:xfrm>
            <a:off x="804672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0" name="Text 28"/>
          <p:cNvSpPr/>
          <p:nvPr/>
        </p:nvSpPr>
        <p:spPr>
          <a:xfrm>
            <a:off x="804672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Versionado docs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borradores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diff</a:t>
            </a:r>
            <a:endParaRPr lang="en-US" sz="1000" dirty="0"/>
          </a:p>
        </p:txBody>
      </p:sp>
      <p:sp>
        <p:nvSpPr>
          <p:cNvPr id="31" name="Shape 29"/>
          <p:cNvSpPr/>
          <p:nvPr/>
        </p:nvSpPr>
        <p:spPr>
          <a:xfrm>
            <a:off x="7936992" y="2359152"/>
            <a:ext cx="329184" cy="329184"/>
          </a:xfrm>
          <a:prstGeom prst="ellipse">
            <a:avLst/>
          </a:prstGeom>
          <a:solidFill>
            <a:srgbClr val="1A237E"/>
          </a:solidFill>
          <a:ln w="25400">
            <a:solidFill>
              <a:srgbClr val="FFFFFF"/>
            </a:solidFill>
            <a:prstDash val="solid"/>
          </a:ln>
        </p:spPr>
      </p:sp>
      <p:sp>
        <p:nvSpPr>
          <p:cNvPr id="32" name="Text 30"/>
          <p:cNvSpPr/>
          <p:nvPr/>
        </p:nvSpPr>
        <p:spPr>
          <a:xfrm>
            <a:off x="793699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3" name="Shape 31"/>
          <p:cNvSpPr/>
          <p:nvPr/>
        </p:nvSpPr>
        <p:spPr>
          <a:xfrm>
            <a:off x="992124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4" name="Text 32"/>
          <p:cNvSpPr/>
          <p:nvPr/>
        </p:nvSpPr>
        <p:spPr>
          <a:xfrm>
            <a:off x="992124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Cierre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acuerdo 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ruptura</a:t>
            </a:r>
            <a:endParaRPr lang="en-US" sz="1000" dirty="0"/>
          </a:p>
        </p:txBody>
      </p:sp>
      <p:sp>
        <p:nvSpPr>
          <p:cNvPr id="35" name="Shape 33"/>
          <p:cNvSpPr/>
          <p:nvPr/>
        </p:nvSpPr>
        <p:spPr>
          <a:xfrm>
            <a:off x="9811512" y="2359152"/>
            <a:ext cx="329184" cy="329184"/>
          </a:xfrm>
          <a:prstGeom prst="ellipse">
            <a:avLst/>
          </a:prstGeom>
          <a:solidFill>
            <a:srgbClr val="1A237E"/>
          </a:solidFill>
          <a:ln w="25400">
            <a:solidFill>
              <a:srgbClr val="FFFFFF"/>
            </a:solidFill>
            <a:prstDash val="solid"/>
          </a:ln>
        </p:spPr>
      </p:sp>
      <p:sp>
        <p:nvSpPr>
          <p:cNvPr id="36" name="Text 34"/>
          <p:cNvSpPr/>
          <p:nvPr/>
        </p:nvSpPr>
        <p:spPr>
          <a:xfrm>
            <a:off x="98115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7" name="Shape 35"/>
          <p:cNvSpPr/>
          <p:nvPr/>
        </p:nvSpPr>
        <p:spPr>
          <a:xfrm>
            <a:off x="2240280" y="3246120"/>
            <a:ext cx="182880" cy="0"/>
          </a:xfrm>
          <a:prstGeom prst="line">
            <a:avLst/>
          </a:prstGeom>
          <a:noFill/>
          <a:ln w="22860">
            <a:solidFill>
              <a:srgbClr val="BDBDBD"/>
            </a:solidFill>
            <a:prstDash val="solid"/>
            <a:tailEnd type="arrow"/>
          </a:ln>
        </p:spPr>
      </p:sp>
      <p:sp>
        <p:nvSpPr>
          <p:cNvPr id="38" name="Shape 36"/>
          <p:cNvSpPr/>
          <p:nvPr/>
        </p:nvSpPr>
        <p:spPr>
          <a:xfrm>
            <a:off x="4114800" y="3246120"/>
            <a:ext cx="182880" cy="0"/>
          </a:xfrm>
          <a:prstGeom prst="line">
            <a:avLst/>
          </a:prstGeom>
          <a:noFill/>
          <a:ln w="22860">
            <a:solidFill>
              <a:srgbClr val="BDBDBD"/>
            </a:solidFill>
            <a:prstDash val="solid"/>
            <a:tailEnd type="arrow"/>
          </a:ln>
        </p:spPr>
      </p:sp>
      <p:sp>
        <p:nvSpPr>
          <p:cNvPr id="39" name="Shape 37"/>
          <p:cNvSpPr/>
          <p:nvPr/>
        </p:nvSpPr>
        <p:spPr>
          <a:xfrm>
            <a:off x="5989320" y="3246120"/>
            <a:ext cx="182880" cy="0"/>
          </a:xfrm>
          <a:prstGeom prst="line">
            <a:avLst/>
          </a:prstGeom>
          <a:noFill/>
          <a:ln w="22860">
            <a:solidFill>
              <a:srgbClr val="BDBDBD"/>
            </a:solidFill>
            <a:prstDash val="solid"/>
            <a:tailEnd type="arrow"/>
          </a:ln>
        </p:spPr>
      </p:sp>
      <p:sp>
        <p:nvSpPr>
          <p:cNvPr id="40" name="Shape 38"/>
          <p:cNvSpPr/>
          <p:nvPr/>
        </p:nvSpPr>
        <p:spPr>
          <a:xfrm>
            <a:off x="7863840" y="3246120"/>
            <a:ext cx="182880" cy="0"/>
          </a:xfrm>
          <a:prstGeom prst="line">
            <a:avLst/>
          </a:prstGeom>
          <a:noFill/>
          <a:ln w="22860">
            <a:solidFill>
              <a:srgbClr val="BDBDBD"/>
            </a:solidFill>
            <a:prstDash val="solid"/>
            <a:tailEnd type="arrow"/>
          </a:ln>
        </p:spPr>
      </p:sp>
      <p:sp>
        <p:nvSpPr>
          <p:cNvPr id="41" name="Shape 39"/>
          <p:cNvSpPr/>
          <p:nvPr/>
        </p:nvSpPr>
        <p:spPr>
          <a:xfrm>
            <a:off x="9738360" y="3246120"/>
            <a:ext cx="182880" cy="0"/>
          </a:xfrm>
          <a:prstGeom prst="line">
            <a:avLst/>
          </a:prstGeom>
          <a:noFill/>
          <a:ln w="22860">
            <a:solidFill>
              <a:srgbClr val="BDBDBD"/>
            </a:solidFill>
            <a:prstDash val="solid"/>
            <a:tailEnd type="arrow"/>
          </a:ln>
        </p:spPr>
      </p:sp>
      <p:sp>
        <p:nvSpPr>
          <p:cNvPr id="42" name="Shape 40"/>
          <p:cNvSpPr/>
          <p:nvPr/>
        </p:nvSpPr>
        <p:spPr>
          <a:xfrm>
            <a:off x="274320" y="5760720"/>
            <a:ext cx="11640312" cy="868680"/>
          </a:xfrm>
          <a:prstGeom prst="rect">
            <a:avLst/>
          </a:prstGeom>
          <a:solidFill>
            <a:srgbClr val="FFFFFF"/>
          </a:solidFill>
          <a:ln w="12700">
            <a:solidFill>
              <a:srgbClr val="E0E0E0"/>
            </a:solidFill>
            <a:prstDash val="solid"/>
          </a:ln>
        </p:spPr>
      </p:sp>
      <p:sp>
        <p:nvSpPr>
          <p:cNvPr id="43" name="Text 41"/>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oferta vive íntegramente dentro del PDB. Se crea (1) vinculando un activo y una demanda, con las condiciones económicas. Se envía al propietario (2) y se registra su respuesta (3): aceptación, contrapropuesta o rechazo. Si avanza, se abre formalmente la Negociación (4) y se gestiona el versionado de borradores (5) hasta el cierre (6), positivo o negativo. La oferta es siempre el contenedor económico previo a la negociación.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Negociación</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Apertura hilo → intercambio condiciones → tabla evolutiva → acuerdo final → handoff a Instrucción</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8229600"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8083296"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8732520" y="914400"/>
            <a:ext cx="3182112" cy="4572000"/>
          </a:xfrm>
          <a:prstGeom prst="rect">
            <a:avLst/>
          </a:prstGeom>
          <a:solidFill>
            <a:srgbClr val="0078D4">
              <a:alpha val="12000"/>
            </a:srgbClr>
          </a:solidFill>
          <a:ln w="12700">
            <a:solidFill>
              <a:srgbClr val="0078D4"/>
            </a:solidFill>
            <a:prstDash val="dash"/>
          </a:ln>
        </p:spPr>
      </p:sp>
      <p:sp>
        <p:nvSpPr>
          <p:cNvPr id="14" name="Text 12"/>
          <p:cNvSpPr/>
          <p:nvPr/>
        </p:nvSpPr>
        <p:spPr>
          <a:xfrm>
            <a:off x="8805672" y="950976"/>
            <a:ext cx="30358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5" name="Shape 13"/>
          <p:cNvSpPr/>
          <p:nvPr/>
        </p:nvSpPr>
        <p:spPr>
          <a:xfrm>
            <a:off x="54864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54864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Apertura hilo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desde Oferta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aceptada</a:t>
            </a:r>
            <a:endParaRPr lang="en-US" sz="1000" dirty="0"/>
          </a:p>
        </p:txBody>
      </p:sp>
      <p:sp>
        <p:nvSpPr>
          <p:cNvPr id="17" name="Shape 15"/>
          <p:cNvSpPr/>
          <p:nvPr/>
        </p:nvSpPr>
        <p:spPr>
          <a:xfrm>
            <a:off x="438912" y="2359152"/>
            <a:ext cx="329184" cy="329184"/>
          </a:xfrm>
          <a:prstGeom prst="ellipse">
            <a:avLst/>
          </a:prstGeom>
          <a:solidFill>
            <a:srgbClr val="1A237E"/>
          </a:solidFill>
          <a:ln w="25400">
            <a:solidFill>
              <a:srgbClr val="FFFFFF"/>
            </a:solidFill>
            <a:prstDash val="solid"/>
          </a:ln>
        </p:spPr>
      </p:sp>
      <p:sp>
        <p:nvSpPr>
          <p:cNvPr id="18" name="Text 16"/>
          <p:cNvSpPr/>
          <p:nvPr/>
        </p:nvSpPr>
        <p:spPr>
          <a:xfrm>
            <a:off x="4389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246888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246888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Intercambio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chat + adjuntos</a:t>
            </a:r>
            <a:endParaRPr lang="en-US" sz="1000" dirty="0"/>
          </a:p>
        </p:txBody>
      </p:sp>
      <p:sp>
        <p:nvSpPr>
          <p:cNvPr id="21" name="Shape 19"/>
          <p:cNvSpPr/>
          <p:nvPr/>
        </p:nvSpPr>
        <p:spPr>
          <a:xfrm>
            <a:off x="2359152" y="2359152"/>
            <a:ext cx="329184" cy="329184"/>
          </a:xfrm>
          <a:prstGeom prst="ellipse">
            <a:avLst/>
          </a:prstGeom>
          <a:solidFill>
            <a:srgbClr val="1A237E"/>
          </a:solidFill>
          <a:ln w="25400">
            <a:solidFill>
              <a:srgbClr val="FFFFFF"/>
            </a:solidFill>
            <a:prstDash val="solid"/>
          </a:ln>
        </p:spPr>
      </p:sp>
      <p:sp>
        <p:nvSpPr>
          <p:cNvPr id="22" name="Text 20"/>
          <p:cNvSpPr/>
          <p:nvPr/>
        </p:nvSpPr>
        <p:spPr>
          <a:xfrm>
            <a:off x="235915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438912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438912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Tabla evolutiva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versiones lado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 lado</a:t>
            </a:r>
            <a:endParaRPr lang="en-US" sz="1000" dirty="0"/>
          </a:p>
        </p:txBody>
      </p:sp>
      <p:sp>
        <p:nvSpPr>
          <p:cNvPr id="25" name="Shape 23"/>
          <p:cNvSpPr/>
          <p:nvPr/>
        </p:nvSpPr>
        <p:spPr>
          <a:xfrm>
            <a:off x="4279392" y="2359152"/>
            <a:ext cx="329184" cy="329184"/>
          </a:xfrm>
          <a:prstGeom prst="ellipse">
            <a:avLst/>
          </a:prstGeom>
          <a:solidFill>
            <a:srgbClr val="1A237E"/>
          </a:solidFill>
          <a:ln w="25400">
            <a:solidFill>
              <a:srgbClr val="FFFFFF"/>
            </a:solidFill>
            <a:prstDash val="solid"/>
          </a:ln>
        </p:spPr>
      </p:sp>
      <p:sp>
        <p:nvSpPr>
          <p:cNvPr id="26" name="Text 24"/>
          <p:cNvSpPr/>
          <p:nvPr/>
        </p:nvSpPr>
        <p:spPr>
          <a:xfrm>
            <a:off x="427939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630936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630936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Acuerdo final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firma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p:txBody>
      </p:sp>
      <p:sp>
        <p:nvSpPr>
          <p:cNvPr id="29" name="Shape 27"/>
          <p:cNvSpPr/>
          <p:nvPr/>
        </p:nvSpPr>
        <p:spPr>
          <a:xfrm>
            <a:off x="6199632" y="2359152"/>
            <a:ext cx="329184" cy="329184"/>
          </a:xfrm>
          <a:prstGeom prst="ellipse">
            <a:avLst/>
          </a:prstGeom>
          <a:solidFill>
            <a:srgbClr val="1A237E"/>
          </a:solidFill>
          <a:ln w="25400">
            <a:solidFill>
              <a:srgbClr val="FFFFFF"/>
            </a:solidFill>
            <a:prstDash val="solid"/>
          </a:ln>
        </p:spPr>
      </p:sp>
      <p:sp>
        <p:nvSpPr>
          <p:cNvPr id="30" name="Text 28"/>
          <p:cNvSpPr/>
          <p:nvPr/>
        </p:nvSpPr>
        <p:spPr>
          <a:xfrm>
            <a:off x="619963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9006840" y="2468880"/>
            <a:ext cx="1783080" cy="1554480"/>
          </a:xfrm>
          <a:prstGeom prst="roundRect">
            <a:avLst>
              <a:gd name="adj" fmla="val 4706"/>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900684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Handoff 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Instrucción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creación registro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maestro</a:t>
            </a:r>
            <a:endParaRPr lang="en-US" sz="1000" dirty="0"/>
          </a:p>
        </p:txBody>
      </p:sp>
      <p:sp>
        <p:nvSpPr>
          <p:cNvPr id="33" name="Shape 31"/>
          <p:cNvSpPr/>
          <p:nvPr/>
        </p:nvSpPr>
        <p:spPr>
          <a:xfrm>
            <a:off x="8897112" y="2359152"/>
            <a:ext cx="329184" cy="329184"/>
          </a:xfrm>
          <a:prstGeom prst="ellipse">
            <a:avLst/>
          </a:prstGeom>
          <a:solidFill>
            <a:srgbClr val="1A237E"/>
          </a:solidFill>
          <a:ln w="25400">
            <a:solidFill>
              <a:srgbClr val="FFFFFF"/>
            </a:solidFill>
            <a:prstDash val="solid"/>
          </a:ln>
        </p:spPr>
      </p:sp>
      <p:sp>
        <p:nvSpPr>
          <p:cNvPr id="34" name="Text 32"/>
          <p:cNvSpPr/>
          <p:nvPr/>
        </p:nvSpPr>
        <p:spPr>
          <a:xfrm>
            <a:off x="88971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2331720" y="3246120"/>
            <a:ext cx="137160" cy="0"/>
          </a:xfrm>
          <a:prstGeom prst="line">
            <a:avLst/>
          </a:prstGeom>
          <a:noFill/>
          <a:ln w="22860">
            <a:solidFill>
              <a:srgbClr val="BDBDBD"/>
            </a:solidFill>
            <a:prstDash val="solid"/>
            <a:tailEnd type="arrow"/>
          </a:ln>
        </p:spPr>
      </p:sp>
      <p:sp>
        <p:nvSpPr>
          <p:cNvPr id="36" name="Shape 34"/>
          <p:cNvSpPr/>
          <p:nvPr/>
        </p:nvSpPr>
        <p:spPr>
          <a:xfrm>
            <a:off x="4251960" y="3246120"/>
            <a:ext cx="137160" cy="0"/>
          </a:xfrm>
          <a:prstGeom prst="line">
            <a:avLst/>
          </a:prstGeom>
          <a:noFill/>
          <a:ln w="22860">
            <a:solidFill>
              <a:srgbClr val="BDBDBD"/>
            </a:solidFill>
            <a:prstDash val="solid"/>
            <a:tailEnd type="arrow"/>
          </a:ln>
        </p:spPr>
      </p:sp>
      <p:sp>
        <p:nvSpPr>
          <p:cNvPr id="37" name="Shape 35"/>
          <p:cNvSpPr/>
          <p:nvPr/>
        </p:nvSpPr>
        <p:spPr>
          <a:xfrm>
            <a:off x="6172200" y="3246120"/>
            <a:ext cx="137160" cy="0"/>
          </a:xfrm>
          <a:prstGeom prst="line">
            <a:avLst/>
          </a:prstGeom>
          <a:noFill/>
          <a:ln w="22860">
            <a:solidFill>
              <a:srgbClr val="BDBDBD"/>
            </a:solidFill>
            <a:prstDash val="solid"/>
            <a:tailEnd type="arrow"/>
          </a:ln>
        </p:spPr>
      </p:sp>
      <p:sp>
        <p:nvSpPr>
          <p:cNvPr id="38" name="Shape 36"/>
          <p:cNvSpPr/>
          <p:nvPr/>
        </p:nvSpPr>
        <p:spPr>
          <a:xfrm>
            <a:off x="8092440" y="3246120"/>
            <a:ext cx="914400" cy="0"/>
          </a:xfrm>
          <a:prstGeom prst="line">
            <a:avLst/>
          </a:prstGeom>
          <a:noFill/>
          <a:ln w="22860">
            <a:solidFill>
              <a:srgbClr val="7C3AED"/>
            </a:solidFill>
            <a:prstDash val="solid"/>
            <a:tailEnd type="arrow"/>
          </a:ln>
        </p:spPr>
      </p:sp>
      <p:sp>
        <p:nvSpPr>
          <p:cNvPr id="39" name="Text 37"/>
          <p:cNvSpPr/>
          <p:nvPr/>
        </p:nvSpPr>
        <p:spPr>
          <a:xfrm>
            <a:off x="7955280" y="31272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handoff</a:t>
            </a:r>
            <a:endParaRPr lang="en-US" sz="800" dirty="0"/>
          </a:p>
        </p:txBody>
      </p:sp>
      <p:sp>
        <p:nvSpPr>
          <p:cNvPr id="40" name="Shape 38"/>
          <p:cNvSpPr/>
          <p:nvPr/>
        </p:nvSpPr>
        <p:spPr>
          <a:xfrm>
            <a:off x="274320" y="5760720"/>
            <a:ext cx="11640312" cy="868680"/>
          </a:xfrm>
          <a:prstGeom prst="rect">
            <a:avLst/>
          </a:prstGeom>
          <a:solidFill>
            <a:srgbClr val="FFFFFF"/>
          </a:solidFill>
          <a:ln w="12700">
            <a:solidFill>
              <a:srgbClr val="E0E0E0"/>
            </a:solidFill>
            <a:prstDash val="solid"/>
          </a:ln>
        </p:spPr>
      </p:sp>
      <p:sp>
        <p:nvSpPr>
          <p:cNvPr id="41" name="Text 39"/>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negociación abre un hilo formal a partir de la oferta aceptada como base (1). Las partes intercambian condiciones documentadas en un chat con adjuntos (2), y el PDB mantiene una tabla evolutiva con todas las versiones lado a lado (3) para trazabilidad. Cuando se alcanza el acuerdo final (4), se ejecuta el handoff a Dynamics (5) para crear la Instrucción maestra. No existe contrato sin Instrucción en Dynamics.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Instrucción / Transacción</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Cierre Negociación → Instrucción Dynamics → contrato → sync → Transacción → honorarios → archivo</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169164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274320" y="3108960"/>
            <a:ext cx="11640312" cy="2377440"/>
          </a:xfrm>
          <a:prstGeom prst="rect">
            <a:avLst/>
          </a:prstGeom>
          <a:solidFill>
            <a:srgbClr val="0078D4">
              <a:alpha val="12000"/>
            </a:srgbClr>
          </a:solidFill>
          <a:ln w="12700">
            <a:solidFill>
              <a:srgbClr val="0078D4"/>
            </a:solidFill>
            <a:prstDash val="dash"/>
          </a:ln>
        </p:spPr>
      </p:sp>
      <p:sp>
        <p:nvSpPr>
          <p:cNvPr id="14" name="Text 12"/>
          <p:cNvSpPr/>
          <p:nvPr/>
        </p:nvSpPr>
        <p:spPr>
          <a:xfrm>
            <a:off x="347472" y="3145536"/>
            <a:ext cx="114940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5" name="Shape 13"/>
          <p:cNvSpPr/>
          <p:nvPr/>
        </p:nvSpPr>
        <p:spPr>
          <a:xfrm>
            <a:off x="54864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54864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Cierre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Negociación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acuerdo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alcanzado</a:t>
            </a:r>
            <a:endParaRPr lang="en-US" sz="1000" dirty="0"/>
          </a:p>
        </p:txBody>
      </p:sp>
      <p:sp>
        <p:nvSpPr>
          <p:cNvPr id="17" name="Shape 15"/>
          <p:cNvSpPr/>
          <p:nvPr/>
        </p:nvSpPr>
        <p:spPr>
          <a:xfrm>
            <a:off x="438912" y="1216152"/>
            <a:ext cx="329184" cy="329184"/>
          </a:xfrm>
          <a:prstGeom prst="ellipse">
            <a:avLst/>
          </a:prstGeom>
          <a:solidFill>
            <a:srgbClr val="1A237E"/>
          </a:solidFill>
          <a:ln w="25400">
            <a:solidFill>
              <a:srgbClr val="FFFFFF"/>
            </a:solidFill>
            <a:prstDash val="solid"/>
          </a:ln>
        </p:spPr>
      </p:sp>
      <p:sp>
        <p:nvSpPr>
          <p:cNvPr id="18" name="Text 16"/>
          <p:cNvSpPr/>
          <p:nvPr/>
        </p:nvSpPr>
        <p:spPr>
          <a:xfrm>
            <a:off x="43891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676656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676656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Registro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Transacción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vista lectura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PDB</a:t>
            </a:r>
            <a:endParaRPr lang="en-US" sz="1000" dirty="0"/>
          </a:p>
        </p:txBody>
      </p:sp>
      <p:sp>
        <p:nvSpPr>
          <p:cNvPr id="21" name="Shape 19"/>
          <p:cNvSpPr/>
          <p:nvPr/>
        </p:nvSpPr>
        <p:spPr>
          <a:xfrm>
            <a:off x="6656832" y="1216152"/>
            <a:ext cx="329184" cy="329184"/>
          </a:xfrm>
          <a:prstGeom prst="ellipse">
            <a:avLst/>
          </a:prstGeom>
          <a:solidFill>
            <a:srgbClr val="1A237E"/>
          </a:solidFill>
          <a:ln w="25400">
            <a:solidFill>
              <a:srgbClr val="FFFFFF"/>
            </a:solidFill>
            <a:prstDash val="solid"/>
          </a:ln>
        </p:spPr>
      </p:sp>
      <p:sp>
        <p:nvSpPr>
          <p:cNvPr id="22" name="Text 20"/>
          <p:cNvSpPr/>
          <p:nvPr/>
        </p:nvSpPr>
        <p:spPr>
          <a:xfrm>
            <a:off x="665683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3" name="Shape 21"/>
          <p:cNvSpPr/>
          <p:nvPr/>
        </p:nvSpPr>
        <p:spPr>
          <a:xfrm>
            <a:off x="859536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859536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Facturación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honorarios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cálculo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emisión</a:t>
            </a:r>
            <a:endParaRPr lang="en-US" sz="1000" dirty="0"/>
          </a:p>
        </p:txBody>
      </p:sp>
      <p:sp>
        <p:nvSpPr>
          <p:cNvPr id="25" name="Shape 23"/>
          <p:cNvSpPr/>
          <p:nvPr/>
        </p:nvSpPr>
        <p:spPr>
          <a:xfrm>
            <a:off x="8485632" y="1216152"/>
            <a:ext cx="329184" cy="329184"/>
          </a:xfrm>
          <a:prstGeom prst="ellipse">
            <a:avLst/>
          </a:prstGeom>
          <a:solidFill>
            <a:srgbClr val="1A237E"/>
          </a:solidFill>
          <a:ln w="25400">
            <a:solidFill>
              <a:srgbClr val="FFFFFF"/>
            </a:solidFill>
            <a:prstDash val="solid"/>
          </a:ln>
        </p:spPr>
      </p:sp>
      <p:sp>
        <p:nvSpPr>
          <p:cNvPr id="26" name="Text 24"/>
          <p:cNvSpPr/>
          <p:nvPr/>
        </p:nvSpPr>
        <p:spPr>
          <a:xfrm>
            <a:off x="848563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7" name="Shape 25"/>
          <p:cNvSpPr/>
          <p:nvPr/>
        </p:nvSpPr>
        <p:spPr>
          <a:xfrm>
            <a:off x="10424160" y="1325880"/>
            <a:ext cx="14630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10424160" y="1325880"/>
            <a:ext cx="14630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Archivo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cierre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operación</a:t>
            </a:r>
            <a:endParaRPr lang="en-US" sz="1000" dirty="0"/>
          </a:p>
        </p:txBody>
      </p:sp>
      <p:sp>
        <p:nvSpPr>
          <p:cNvPr id="29" name="Shape 27"/>
          <p:cNvSpPr/>
          <p:nvPr/>
        </p:nvSpPr>
        <p:spPr>
          <a:xfrm>
            <a:off x="10314432" y="1216152"/>
            <a:ext cx="329184" cy="329184"/>
          </a:xfrm>
          <a:prstGeom prst="ellipse">
            <a:avLst/>
          </a:prstGeom>
          <a:solidFill>
            <a:srgbClr val="1A237E"/>
          </a:solidFill>
          <a:ln w="25400">
            <a:solidFill>
              <a:srgbClr val="FFFFFF"/>
            </a:solidFill>
            <a:prstDash val="solid"/>
          </a:ln>
        </p:spPr>
      </p:sp>
      <p:sp>
        <p:nvSpPr>
          <p:cNvPr id="30" name="Text 28"/>
          <p:cNvSpPr/>
          <p:nvPr/>
        </p:nvSpPr>
        <p:spPr>
          <a:xfrm>
            <a:off x="1031443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31" name="Shape 29"/>
          <p:cNvSpPr/>
          <p:nvPr/>
        </p:nvSpPr>
        <p:spPr>
          <a:xfrm>
            <a:off x="914400" y="3611880"/>
            <a:ext cx="169164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914400" y="3611880"/>
            <a:ext cx="169164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Creación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Instrucción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registro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maestro</a:t>
            </a:r>
            <a:endParaRPr lang="en-US" sz="1000" dirty="0"/>
          </a:p>
        </p:txBody>
      </p:sp>
      <p:sp>
        <p:nvSpPr>
          <p:cNvPr id="33" name="Shape 31"/>
          <p:cNvSpPr/>
          <p:nvPr/>
        </p:nvSpPr>
        <p:spPr>
          <a:xfrm>
            <a:off x="804672" y="3502152"/>
            <a:ext cx="329184" cy="329184"/>
          </a:xfrm>
          <a:prstGeom prst="ellipse">
            <a:avLst/>
          </a:prstGeom>
          <a:solidFill>
            <a:srgbClr val="1A237E"/>
          </a:solidFill>
          <a:ln w="25400">
            <a:solidFill>
              <a:srgbClr val="FFFFFF"/>
            </a:solidFill>
            <a:prstDash val="solid"/>
          </a:ln>
        </p:spPr>
      </p:sp>
      <p:sp>
        <p:nvSpPr>
          <p:cNvPr id="34" name="Text 32"/>
          <p:cNvSpPr/>
          <p:nvPr/>
        </p:nvSpPr>
        <p:spPr>
          <a:xfrm>
            <a:off x="80467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5" name="Shape 33"/>
          <p:cNvSpPr/>
          <p:nvPr/>
        </p:nvSpPr>
        <p:spPr>
          <a:xfrm>
            <a:off x="2788920" y="3611880"/>
            <a:ext cx="169164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2788920" y="3611880"/>
            <a:ext cx="169164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Formalización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contrato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firma + legal</a:t>
            </a:r>
            <a:endParaRPr lang="en-US" sz="1000" dirty="0"/>
          </a:p>
        </p:txBody>
      </p:sp>
      <p:sp>
        <p:nvSpPr>
          <p:cNvPr id="37" name="Shape 35"/>
          <p:cNvSpPr/>
          <p:nvPr/>
        </p:nvSpPr>
        <p:spPr>
          <a:xfrm>
            <a:off x="2679192" y="3502152"/>
            <a:ext cx="329184" cy="329184"/>
          </a:xfrm>
          <a:prstGeom prst="ellipse">
            <a:avLst/>
          </a:prstGeom>
          <a:solidFill>
            <a:srgbClr val="1A237E"/>
          </a:solidFill>
          <a:ln w="25400">
            <a:solidFill>
              <a:srgbClr val="FFFFFF"/>
            </a:solidFill>
            <a:prstDash val="solid"/>
          </a:ln>
        </p:spPr>
      </p:sp>
      <p:sp>
        <p:nvSpPr>
          <p:cNvPr id="38" name="Text 36"/>
          <p:cNvSpPr/>
          <p:nvPr/>
        </p:nvSpPr>
        <p:spPr>
          <a:xfrm>
            <a:off x="267919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9" name="Shape 37"/>
          <p:cNvSpPr/>
          <p:nvPr/>
        </p:nvSpPr>
        <p:spPr>
          <a:xfrm>
            <a:off x="4663440" y="3611880"/>
            <a:ext cx="169164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4663440" y="3611880"/>
            <a:ext cx="169164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Sync vuelta PDB</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auto</a:t>
            </a:r>
            <a:endParaRPr lang="en-US" sz="1000" dirty="0"/>
          </a:p>
        </p:txBody>
      </p:sp>
      <p:sp>
        <p:nvSpPr>
          <p:cNvPr id="41" name="Shape 39"/>
          <p:cNvSpPr/>
          <p:nvPr/>
        </p:nvSpPr>
        <p:spPr>
          <a:xfrm>
            <a:off x="4553712" y="3502152"/>
            <a:ext cx="329184" cy="329184"/>
          </a:xfrm>
          <a:prstGeom prst="ellipse">
            <a:avLst/>
          </a:prstGeom>
          <a:solidFill>
            <a:srgbClr val="1A237E"/>
          </a:solidFill>
          <a:ln w="25400">
            <a:solidFill>
              <a:srgbClr val="FFFFFF"/>
            </a:solidFill>
            <a:prstDash val="solid"/>
          </a:ln>
        </p:spPr>
      </p:sp>
      <p:sp>
        <p:nvSpPr>
          <p:cNvPr id="42" name="Text 40"/>
          <p:cNvSpPr/>
          <p:nvPr/>
        </p:nvSpPr>
        <p:spPr>
          <a:xfrm>
            <a:off x="455371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3" name="Shape 41"/>
          <p:cNvSpPr/>
          <p:nvPr/>
        </p:nvSpPr>
        <p:spPr>
          <a:xfrm>
            <a:off x="1371600" y="2423160"/>
            <a:ext cx="365760" cy="1188720"/>
          </a:xfrm>
          <a:prstGeom prst="line">
            <a:avLst/>
          </a:prstGeom>
          <a:noFill/>
          <a:ln w="22860">
            <a:solidFill>
              <a:srgbClr val="7C3AED"/>
            </a:solidFill>
            <a:prstDash val="solid"/>
            <a:tailEnd type="arrow"/>
          </a:ln>
        </p:spPr>
      </p:sp>
      <p:sp>
        <p:nvSpPr>
          <p:cNvPr id="44" name="Text 42"/>
          <p:cNvSpPr/>
          <p:nvPr/>
        </p:nvSpPr>
        <p:spPr>
          <a:xfrm>
            <a:off x="96012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handoff</a:t>
            </a:r>
            <a:endParaRPr lang="en-US" sz="800" dirty="0"/>
          </a:p>
        </p:txBody>
      </p:sp>
      <p:sp>
        <p:nvSpPr>
          <p:cNvPr id="45" name="Shape 43"/>
          <p:cNvSpPr/>
          <p:nvPr/>
        </p:nvSpPr>
        <p:spPr>
          <a:xfrm>
            <a:off x="2606040" y="4297680"/>
            <a:ext cx="182880" cy="0"/>
          </a:xfrm>
          <a:prstGeom prst="line">
            <a:avLst/>
          </a:prstGeom>
          <a:noFill/>
          <a:ln w="22860">
            <a:solidFill>
              <a:srgbClr val="BDBDBD"/>
            </a:solidFill>
            <a:prstDash val="solid"/>
            <a:tailEnd type="arrow"/>
          </a:ln>
        </p:spPr>
      </p:sp>
      <p:sp>
        <p:nvSpPr>
          <p:cNvPr id="46" name="Shape 44"/>
          <p:cNvSpPr/>
          <p:nvPr/>
        </p:nvSpPr>
        <p:spPr>
          <a:xfrm>
            <a:off x="4480560" y="4297680"/>
            <a:ext cx="182880" cy="0"/>
          </a:xfrm>
          <a:prstGeom prst="line">
            <a:avLst/>
          </a:prstGeom>
          <a:noFill/>
          <a:ln w="22860">
            <a:solidFill>
              <a:srgbClr val="BDBDBD"/>
            </a:solidFill>
            <a:prstDash val="solid"/>
            <a:tailEnd type="arrow"/>
          </a:ln>
        </p:spPr>
      </p:sp>
      <p:sp>
        <p:nvSpPr>
          <p:cNvPr id="47" name="Shape 45"/>
          <p:cNvSpPr/>
          <p:nvPr/>
        </p:nvSpPr>
        <p:spPr>
          <a:xfrm>
            <a:off x="6355080" y="4297680"/>
            <a:ext cx="960120" cy="-1874520"/>
          </a:xfrm>
          <a:prstGeom prst="line">
            <a:avLst/>
          </a:prstGeom>
          <a:noFill/>
          <a:ln w="22860">
            <a:solidFill>
              <a:srgbClr val="0078D4"/>
            </a:solidFill>
            <a:prstDash val="solid"/>
            <a:tailEnd type="arrow"/>
          </a:ln>
        </p:spPr>
      </p:sp>
      <p:sp>
        <p:nvSpPr>
          <p:cNvPr id="48" name="Text 46"/>
          <p:cNvSpPr/>
          <p:nvPr/>
        </p:nvSpPr>
        <p:spPr>
          <a:xfrm>
            <a:off x="6240780" y="32415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a:t>
            </a:r>
            <a:endParaRPr lang="en-US" sz="800" dirty="0"/>
          </a:p>
        </p:txBody>
      </p:sp>
      <p:sp>
        <p:nvSpPr>
          <p:cNvPr id="49" name="Shape 47"/>
          <p:cNvSpPr/>
          <p:nvPr/>
        </p:nvSpPr>
        <p:spPr>
          <a:xfrm>
            <a:off x="8458200" y="1874520"/>
            <a:ext cx="137160" cy="0"/>
          </a:xfrm>
          <a:prstGeom prst="line">
            <a:avLst/>
          </a:prstGeom>
          <a:noFill/>
          <a:ln w="22860">
            <a:solidFill>
              <a:srgbClr val="BDBDBD"/>
            </a:solidFill>
            <a:prstDash val="solid"/>
            <a:tailEnd type="arrow"/>
          </a:ln>
        </p:spPr>
      </p:sp>
      <p:sp>
        <p:nvSpPr>
          <p:cNvPr id="50" name="Shape 48"/>
          <p:cNvSpPr/>
          <p:nvPr/>
        </p:nvSpPr>
        <p:spPr>
          <a:xfrm>
            <a:off x="10287000" y="1874520"/>
            <a:ext cx="137160" cy="0"/>
          </a:xfrm>
          <a:prstGeom prst="line">
            <a:avLst/>
          </a:prstGeom>
          <a:noFill/>
          <a:ln w="22860">
            <a:solidFill>
              <a:srgbClr val="BDBDBD"/>
            </a:solidFill>
            <a:prstDash val="solid"/>
            <a:tailEnd type="arrow"/>
          </a:ln>
        </p:spPr>
      </p:sp>
      <p:sp>
        <p:nvSpPr>
          <p:cNvPr id="51" name="Shape 49"/>
          <p:cNvSpPr/>
          <p:nvPr/>
        </p:nvSpPr>
        <p:spPr>
          <a:xfrm>
            <a:off x="274320" y="5760720"/>
            <a:ext cx="11640312" cy="868680"/>
          </a:xfrm>
          <a:prstGeom prst="rect">
            <a:avLst/>
          </a:prstGeom>
          <a:solidFill>
            <a:srgbClr val="FFFFFF"/>
          </a:solidFill>
          <a:ln w="12700">
            <a:solidFill>
              <a:srgbClr val="E0E0E0"/>
            </a:solidFill>
            <a:prstDash val="solid"/>
          </a:ln>
        </p:spPr>
      </p:sp>
      <p:sp>
        <p:nvSpPr>
          <p:cNvPr id="52" name="Text 50"/>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cierre de la negociación (1) lanza la creación de la Instrucción en Dynamics (2), donde se formaliza el contrato con el visto bueno legal (3). Una vez firmado, Dynamics sincroniza el registro de vuelta al PDB (4), que lo muestra como Transacción en modo lectura (5). Sobre esa transacción se calculan y emiten los honorarios (6) y, finalmente, se archiva la operación (7). Este es el único camino válido para registrar ingresos.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9</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Actividades y seguimiento</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Email · Llamada · Reunión → vinculación a entidad (siempre) → Tarea derivada → Cierre</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 · Transversal a todos los módulos</a:t>
            </a:r>
            <a:endParaRPr lang="en-US" sz="900" dirty="0"/>
          </a:p>
        </p:txBody>
      </p:sp>
      <p:sp>
        <p:nvSpPr>
          <p:cNvPr id="13" name="Shape 11"/>
          <p:cNvSpPr/>
          <p:nvPr/>
        </p:nvSpPr>
        <p:spPr>
          <a:xfrm>
            <a:off x="548640" y="1463040"/>
            <a:ext cx="1645920" cy="731520"/>
          </a:xfrm>
          <a:prstGeom prst="roundRect">
            <a:avLst>
              <a:gd name="adj" fmla="val 10000"/>
            </a:avLst>
          </a:prstGeom>
          <a:solidFill>
            <a:srgbClr val="0D9488"/>
          </a:solidFill>
          <a:ln w="19050">
            <a:solidFill>
              <a:srgbClr val="0F766E"/>
            </a:solidFill>
            <a:prstDash val="solid"/>
          </a:ln>
          <a:effectLst>
            <a:outerShdw sx="100000" sy="100000" kx="0" ky="0" algn="bl" rotWithShape="0" blurRad="50800" dist="25400" dir="2700000">
              <a:srgbClr val="00000022">
                <a:alpha val="75000"/>
              </a:srgbClr>
            </a:outerShdw>
          </a:effectLst>
        </p:spPr>
      </p:sp>
      <p:sp>
        <p:nvSpPr>
          <p:cNvPr id="14" name="Text 12"/>
          <p:cNvSpPr/>
          <p:nvPr/>
        </p:nvSpPr>
        <p:spPr>
          <a:xfrm>
            <a:off x="548640" y="1463040"/>
            <a:ext cx="1645920" cy="73152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Email</a:t>
            </a:r>
            <a:endParaRPr lang="en-US" sz="1100" dirty="0"/>
          </a:p>
        </p:txBody>
      </p:sp>
      <p:sp>
        <p:nvSpPr>
          <p:cNvPr id="15" name="Shape 13"/>
          <p:cNvSpPr/>
          <p:nvPr/>
        </p:nvSpPr>
        <p:spPr>
          <a:xfrm>
            <a:off x="438912" y="1353312"/>
            <a:ext cx="329184" cy="329184"/>
          </a:xfrm>
          <a:prstGeom prst="ellipse">
            <a:avLst/>
          </a:prstGeom>
          <a:solidFill>
            <a:srgbClr val="1A237E"/>
          </a:solidFill>
          <a:ln w="25400">
            <a:solidFill>
              <a:srgbClr val="FFFFFF"/>
            </a:solidFill>
            <a:prstDash val="solid"/>
          </a:ln>
        </p:spPr>
      </p:sp>
      <p:sp>
        <p:nvSpPr>
          <p:cNvPr id="16" name="Text 14"/>
          <p:cNvSpPr/>
          <p:nvPr/>
        </p:nvSpPr>
        <p:spPr>
          <a:xfrm>
            <a:off x="43891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a:t>
            </a:r>
            <a:endParaRPr lang="en-US" sz="1000" dirty="0"/>
          </a:p>
        </p:txBody>
      </p:sp>
      <p:sp>
        <p:nvSpPr>
          <p:cNvPr id="17" name="Shape 15"/>
          <p:cNvSpPr/>
          <p:nvPr/>
        </p:nvSpPr>
        <p:spPr>
          <a:xfrm>
            <a:off x="548640" y="2468880"/>
            <a:ext cx="1645920" cy="731520"/>
          </a:xfrm>
          <a:prstGeom prst="roundRect">
            <a:avLst>
              <a:gd name="adj" fmla="val 10000"/>
            </a:avLst>
          </a:prstGeom>
          <a:solidFill>
            <a:srgbClr val="0D9488"/>
          </a:solidFill>
          <a:ln w="19050">
            <a:solidFill>
              <a:srgbClr val="0F766E"/>
            </a:solidFill>
            <a:prstDash val="solid"/>
          </a:ln>
          <a:effectLst>
            <a:outerShdw sx="100000" sy="100000" kx="0" ky="0" algn="bl" rotWithShape="0" blurRad="50800" dist="25400" dir="2700000">
              <a:srgbClr val="00000022">
                <a:alpha val="75000"/>
              </a:srgbClr>
            </a:outerShdw>
          </a:effectLst>
        </p:spPr>
      </p:sp>
      <p:sp>
        <p:nvSpPr>
          <p:cNvPr id="18" name="Text 16"/>
          <p:cNvSpPr/>
          <p:nvPr/>
        </p:nvSpPr>
        <p:spPr>
          <a:xfrm>
            <a:off x="548640" y="2468880"/>
            <a:ext cx="1645920" cy="73152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Llamada</a:t>
            </a:r>
            <a:endParaRPr lang="en-US" sz="1100" dirty="0"/>
          </a:p>
        </p:txBody>
      </p:sp>
      <p:sp>
        <p:nvSpPr>
          <p:cNvPr id="19" name="Shape 17"/>
          <p:cNvSpPr/>
          <p:nvPr/>
        </p:nvSpPr>
        <p:spPr>
          <a:xfrm>
            <a:off x="438912" y="2359152"/>
            <a:ext cx="329184" cy="329184"/>
          </a:xfrm>
          <a:prstGeom prst="ellipse">
            <a:avLst/>
          </a:prstGeom>
          <a:solidFill>
            <a:srgbClr val="1A237E"/>
          </a:solidFill>
          <a:ln w="25400">
            <a:solidFill>
              <a:srgbClr val="FFFFFF"/>
            </a:solidFill>
            <a:prstDash val="solid"/>
          </a:ln>
        </p:spPr>
      </p:sp>
      <p:sp>
        <p:nvSpPr>
          <p:cNvPr id="20" name="Text 18"/>
          <p:cNvSpPr/>
          <p:nvPr/>
        </p:nvSpPr>
        <p:spPr>
          <a:xfrm>
            <a:off x="4389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1b</a:t>
            </a:r>
            <a:endParaRPr lang="en-US" sz="1000" dirty="0"/>
          </a:p>
        </p:txBody>
      </p:sp>
      <p:sp>
        <p:nvSpPr>
          <p:cNvPr id="21" name="Shape 19"/>
          <p:cNvSpPr/>
          <p:nvPr/>
        </p:nvSpPr>
        <p:spPr>
          <a:xfrm>
            <a:off x="548640" y="3474720"/>
            <a:ext cx="1645920" cy="731520"/>
          </a:xfrm>
          <a:prstGeom prst="roundRect">
            <a:avLst>
              <a:gd name="adj" fmla="val 10000"/>
            </a:avLst>
          </a:prstGeom>
          <a:solidFill>
            <a:srgbClr val="0D9488"/>
          </a:solidFill>
          <a:ln w="19050">
            <a:solidFill>
              <a:srgbClr val="0F766E"/>
            </a:solidFill>
            <a:prstDash val="solid"/>
          </a:ln>
          <a:effectLst>
            <a:outerShdw sx="100000" sy="100000" kx="0" ky="0" algn="bl" rotWithShape="0" blurRad="50800" dist="25400" dir="2700000">
              <a:srgbClr val="00000022">
                <a:alpha val="75000"/>
              </a:srgbClr>
            </a:outerShdw>
          </a:effectLst>
        </p:spPr>
      </p:sp>
      <p:sp>
        <p:nvSpPr>
          <p:cNvPr id="22" name="Text 20"/>
          <p:cNvSpPr/>
          <p:nvPr/>
        </p:nvSpPr>
        <p:spPr>
          <a:xfrm>
            <a:off x="548640" y="3474720"/>
            <a:ext cx="1645920" cy="73152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Reunión</a:t>
            </a:r>
            <a:endParaRPr lang="en-US" sz="1100" dirty="0"/>
          </a:p>
        </p:txBody>
      </p:sp>
      <p:sp>
        <p:nvSpPr>
          <p:cNvPr id="23" name="Shape 21"/>
          <p:cNvSpPr/>
          <p:nvPr/>
        </p:nvSpPr>
        <p:spPr>
          <a:xfrm>
            <a:off x="438912" y="3364992"/>
            <a:ext cx="329184" cy="329184"/>
          </a:xfrm>
          <a:prstGeom prst="ellipse">
            <a:avLst/>
          </a:prstGeom>
          <a:solidFill>
            <a:srgbClr val="1A237E"/>
          </a:solidFill>
          <a:ln w="25400">
            <a:solidFill>
              <a:srgbClr val="FFFFFF"/>
            </a:solidFill>
            <a:prstDash val="solid"/>
          </a:ln>
        </p:spPr>
      </p:sp>
      <p:sp>
        <p:nvSpPr>
          <p:cNvPr id="24" name="Text 22"/>
          <p:cNvSpPr/>
          <p:nvPr/>
        </p:nvSpPr>
        <p:spPr>
          <a:xfrm>
            <a:off x="438912" y="33649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1c</a:t>
            </a:r>
            <a:endParaRPr lang="en-US" sz="1000" dirty="0"/>
          </a:p>
        </p:txBody>
      </p:sp>
      <p:sp>
        <p:nvSpPr>
          <p:cNvPr id="25" name="Shape 23"/>
          <p:cNvSpPr/>
          <p:nvPr/>
        </p:nvSpPr>
        <p:spPr>
          <a:xfrm>
            <a:off x="3200400" y="2194560"/>
            <a:ext cx="274320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6" name="Text 24"/>
          <p:cNvSpPr/>
          <p:nvPr/>
        </p:nvSpPr>
        <p:spPr>
          <a:xfrm>
            <a:off x="3200400" y="2194560"/>
            <a:ext cx="2743200" cy="155448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Vinculación a entidad</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Cuenta · Oportunidad</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Demanda · Oferta · Activo</a:t>
            </a:r>
            <a:endParaRPr lang="en-US" sz="1000" dirty="0"/>
          </a:p>
        </p:txBody>
      </p:sp>
      <p:sp>
        <p:nvSpPr>
          <p:cNvPr id="27" name="Shape 25"/>
          <p:cNvSpPr/>
          <p:nvPr/>
        </p:nvSpPr>
        <p:spPr>
          <a:xfrm>
            <a:off x="3090672" y="2084832"/>
            <a:ext cx="329184" cy="329184"/>
          </a:xfrm>
          <a:prstGeom prst="ellipse">
            <a:avLst/>
          </a:prstGeom>
          <a:solidFill>
            <a:srgbClr val="1A237E"/>
          </a:solidFill>
          <a:ln w="25400">
            <a:solidFill>
              <a:srgbClr val="FFFFFF"/>
            </a:solidFill>
            <a:prstDash val="solid"/>
          </a:ln>
        </p:spPr>
      </p:sp>
      <p:sp>
        <p:nvSpPr>
          <p:cNvPr id="28" name="Text 26"/>
          <p:cNvSpPr/>
          <p:nvPr/>
        </p:nvSpPr>
        <p:spPr>
          <a:xfrm>
            <a:off x="3090672" y="20848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9" name="Shape 27"/>
          <p:cNvSpPr/>
          <p:nvPr/>
        </p:nvSpPr>
        <p:spPr>
          <a:xfrm>
            <a:off x="6949440" y="2194560"/>
            <a:ext cx="219456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0" name="Text 28"/>
          <p:cNvSpPr/>
          <p:nvPr/>
        </p:nvSpPr>
        <p:spPr>
          <a:xfrm>
            <a:off x="6949440" y="2194560"/>
            <a:ext cx="219456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Tarea derivada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seguimiento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responsable + fecha</a:t>
            </a:r>
            <a:endParaRPr lang="en-US" sz="1000" dirty="0"/>
          </a:p>
        </p:txBody>
      </p:sp>
      <p:sp>
        <p:nvSpPr>
          <p:cNvPr id="31" name="Shape 29"/>
          <p:cNvSpPr/>
          <p:nvPr/>
        </p:nvSpPr>
        <p:spPr>
          <a:xfrm>
            <a:off x="6839712" y="2084832"/>
            <a:ext cx="329184" cy="329184"/>
          </a:xfrm>
          <a:prstGeom prst="ellipse">
            <a:avLst/>
          </a:prstGeom>
          <a:solidFill>
            <a:srgbClr val="1A237E"/>
          </a:solidFill>
          <a:ln w="25400">
            <a:solidFill>
              <a:srgbClr val="FFFFFF"/>
            </a:solidFill>
            <a:prstDash val="solid"/>
          </a:ln>
        </p:spPr>
      </p:sp>
      <p:sp>
        <p:nvSpPr>
          <p:cNvPr id="32" name="Text 30"/>
          <p:cNvSpPr/>
          <p:nvPr/>
        </p:nvSpPr>
        <p:spPr>
          <a:xfrm>
            <a:off x="6839712" y="20848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3" name="Shape 31"/>
          <p:cNvSpPr/>
          <p:nvPr/>
        </p:nvSpPr>
        <p:spPr>
          <a:xfrm>
            <a:off x="10058400" y="2194560"/>
            <a:ext cx="173736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4" name="Text 32"/>
          <p:cNvSpPr/>
          <p:nvPr/>
        </p:nvSpPr>
        <p:spPr>
          <a:xfrm>
            <a:off x="10058400" y="2194560"/>
            <a:ext cx="173736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Cierre actividad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resultado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notas</a:t>
            </a:r>
            <a:endParaRPr lang="en-US" sz="1000" dirty="0"/>
          </a:p>
        </p:txBody>
      </p:sp>
      <p:sp>
        <p:nvSpPr>
          <p:cNvPr id="35" name="Shape 33"/>
          <p:cNvSpPr/>
          <p:nvPr/>
        </p:nvSpPr>
        <p:spPr>
          <a:xfrm>
            <a:off x="9948672" y="2084832"/>
            <a:ext cx="329184" cy="329184"/>
          </a:xfrm>
          <a:prstGeom prst="ellipse">
            <a:avLst/>
          </a:prstGeom>
          <a:solidFill>
            <a:srgbClr val="1A237E"/>
          </a:solidFill>
          <a:ln w="25400">
            <a:solidFill>
              <a:srgbClr val="FFFFFF"/>
            </a:solidFill>
            <a:prstDash val="solid"/>
          </a:ln>
        </p:spPr>
      </p:sp>
      <p:sp>
        <p:nvSpPr>
          <p:cNvPr id="36" name="Text 34"/>
          <p:cNvSpPr/>
          <p:nvPr/>
        </p:nvSpPr>
        <p:spPr>
          <a:xfrm>
            <a:off x="9948672" y="20848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7" name="Shape 35"/>
          <p:cNvSpPr/>
          <p:nvPr/>
        </p:nvSpPr>
        <p:spPr>
          <a:xfrm>
            <a:off x="2194560" y="1828800"/>
            <a:ext cx="1005840" cy="822960"/>
          </a:xfrm>
          <a:prstGeom prst="line">
            <a:avLst/>
          </a:prstGeom>
          <a:noFill/>
          <a:ln w="22860">
            <a:solidFill>
              <a:srgbClr val="BDBDBD"/>
            </a:solidFill>
            <a:prstDash val="solid"/>
            <a:tailEnd type="arrow"/>
          </a:ln>
        </p:spPr>
      </p:sp>
      <p:sp>
        <p:nvSpPr>
          <p:cNvPr id="38" name="Shape 36"/>
          <p:cNvSpPr/>
          <p:nvPr/>
        </p:nvSpPr>
        <p:spPr>
          <a:xfrm>
            <a:off x="2194560" y="2834640"/>
            <a:ext cx="1005840" cy="137160"/>
          </a:xfrm>
          <a:prstGeom prst="line">
            <a:avLst/>
          </a:prstGeom>
          <a:noFill/>
          <a:ln w="22860">
            <a:solidFill>
              <a:srgbClr val="BDBDBD"/>
            </a:solidFill>
            <a:prstDash val="solid"/>
            <a:tailEnd type="arrow"/>
          </a:ln>
        </p:spPr>
      </p:sp>
      <p:sp>
        <p:nvSpPr>
          <p:cNvPr id="39" name="Shape 37"/>
          <p:cNvSpPr/>
          <p:nvPr/>
        </p:nvSpPr>
        <p:spPr>
          <a:xfrm>
            <a:off x="2194560" y="3840480"/>
            <a:ext cx="1005840" cy="-548640"/>
          </a:xfrm>
          <a:prstGeom prst="line">
            <a:avLst/>
          </a:prstGeom>
          <a:noFill/>
          <a:ln w="22860">
            <a:solidFill>
              <a:srgbClr val="BDBDBD"/>
            </a:solidFill>
            <a:prstDash val="solid"/>
            <a:tailEnd type="arrow"/>
          </a:ln>
        </p:spPr>
      </p:sp>
      <p:sp>
        <p:nvSpPr>
          <p:cNvPr id="40" name="Shape 38"/>
          <p:cNvSpPr/>
          <p:nvPr/>
        </p:nvSpPr>
        <p:spPr>
          <a:xfrm>
            <a:off x="5943600" y="2971800"/>
            <a:ext cx="1005840" cy="0"/>
          </a:xfrm>
          <a:prstGeom prst="line">
            <a:avLst/>
          </a:prstGeom>
          <a:noFill/>
          <a:ln w="22860">
            <a:solidFill>
              <a:srgbClr val="BDBDBD"/>
            </a:solidFill>
            <a:prstDash val="solid"/>
            <a:tailEnd type="arrow"/>
          </a:ln>
        </p:spPr>
      </p:sp>
      <p:sp>
        <p:nvSpPr>
          <p:cNvPr id="41" name="Shape 39"/>
          <p:cNvSpPr/>
          <p:nvPr/>
        </p:nvSpPr>
        <p:spPr>
          <a:xfrm>
            <a:off x="9144000" y="2971800"/>
            <a:ext cx="914400" cy="0"/>
          </a:xfrm>
          <a:prstGeom prst="line">
            <a:avLst/>
          </a:prstGeom>
          <a:noFill/>
          <a:ln w="22860">
            <a:solidFill>
              <a:srgbClr val="BDBDBD"/>
            </a:solidFill>
            <a:prstDash val="solid"/>
            <a:tailEnd type="arrow"/>
          </a:ln>
        </p:spPr>
      </p:sp>
      <p:sp>
        <p:nvSpPr>
          <p:cNvPr id="42" name="Shape 40"/>
          <p:cNvSpPr/>
          <p:nvPr/>
        </p:nvSpPr>
        <p:spPr>
          <a:xfrm>
            <a:off x="3200400" y="4023360"/>
            <a:ext cx="5943600" cy="548640"/>
          </a:xfrm>
          <a:prstGeom prst="roundRect">
            <a:avLst>
              <a:gd name="adj" fmla="val 10000"/>
            </a:avLst>
          </a:prstGeom>
          <a:solidFill>
            <a:srgbClr val="FEF3C7"/>
          </a:solidFill>
          <a:ln w="19050">
            <a:solidFill>
              <a:srgbClr val="F59E0B"/>
            </a:solidFill>
            <a:prstDash val="solid"/>
          </a:ln>
        </p:spPr>
      </p:sp>
      <p:sp>
        <p:nvSpPr>
          <p:cNvPr id="43" name="Text 41"/>
          <p:cNvSpPr/>
          <p:nvPr/>
        </p:nvSpPr>
        <p:spPr>
          <a:xfrm>
            <a:off x="3200400" y="4023360"/>
            <a:ext cx="5943600" cy="548640"/>
          </a:xfrm>
          <a:prstGeom prst="rect">
            <a:avLst/>
          </a:prstGeom>
          <a:noFill/>
          <a:ln/>
        </p:spPr>
        <p:txBody>
          <a:bodyPr wrap="square" rtlCol="0" anchor="ctr"/>
          <a:lstStyle/>
          <a:p>
            <a:pPr algn="ctr" indent="0" marL="0">
              <a:buNone/>
            </a:pPr>
            <a:r>
              <a:rPr lang="en-US" sz="1000" b="1" dirty="0">
                <a:solidFill>
                  <a:srgbClr val="92400E"/>
                </a:solidFill>
                <a:latin typeface="Calibri" pitchFamily="34" charset="0"/>
                <a:ea typeface="Calibri" pitchFamily="34" charset="-122"/>
                <a:cs typeface="Calibri" pitchFamily="34" charset="-120"/>
              </a:rPr>
              <a:t>⚠️  Sin vinculación a entidad, la actividad no se persiste — no existen actividades huérfanas</a:t>
            </a:r>
            <a:endParaRPr lang="en-US" sz="1000" dirty="0"/>
          </a:p>
        </p:txBody>
      </p:sp>
      <p:sp>
        <p:nvSpPr>
          <p:cNvPr id="44" name="Shape 42"/>
          <p:cNvSpPr/>
          <p:nvPr/>
        </p:nvSpPr>
        <p:spPr>
          <a:xfrm>
            <a:off x="274320" y="5760720"/>
            <a:ext cx="11640312" cy="868680"/>
          </a:xfrm>
          <a:prstGeom prst="rect">
            <a:avLst/>
          </a:prstGeom>
          <a:solidFill>
            <a:srgbClr val="FFFFFF"/>
          </a:solidFill>
          <a:ln w="12700">
            <a:solidFill>
              <a:srgbClr val="E0E0E0"/>
            </a:solidFill>
            <a:prstDash val="solid"/>
          </a:ln>
        </p:spPr>
      </p:sp>
      <p:sp>
        <p:nvSpPr>
          <p:cNvPr id="45" name="Text 43"/>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Las actividades son transversales: cualquier email (1a), llamada (1b) o reunión (1c) se registra en el PDB y debe vincularse obligatoriamente a una entidad — Cuenta, Oportunidad, Demanda, Oferta o Activo (2). De esa actividad puede derivar una Tarea (3) con responsable y fecha límite, que se cierra al ejecutarse con resultado y notas (4). Sin vinculación a entidad, la actividad no se persiste: no existen actividades huérfanas.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10</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Vencimientos</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Detección automática → alerta → acción comercial → renovación o nueva Oportunidad → reflejo en Dynamics</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7772400"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7626096"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8275320" y="914400"/>
            <a:ext cx="3639312" cy="4572000"/>
          </a:xfrm>
          <a:prstGeom prst="rect">
            <a:avLst/>
          </a:prstGeom>
          <a:solidFill>
            <a:srgbClr val="0078D4">
              <a:alpha val="12000"/>
            </a:srgbClr>
          </a:solidFill>
          <a:ln w="12700">
            <a:solidFill>
              <a:srgbClr val="0078D4"/>
            </a:solidFill>
            <a:prstDash val="dash"/>
          </a:ln>
        </p:spPr>
      </p:sp>
      <p:sp>
        <p:nvSpPr>
          <p:cNvPr id="14" name="Text 12"/>
          <p:cNvSpPr/>
          <p:nvPr/>
        </p:nvSpPr>
        <p:spPr>
          <a:xfrm>
            <a:off x="8348472" y="950976"/>
            <a:ext cx="34930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5" name="Shape 13"/>
          <p:cNvSpPr/>
          <p:nvPr/>
        </p:nvSpPr>
        <p:spPr>
          <a:xfrm>
            <a:off x="548640" y="2560320"/>
            <a:ext cx="182880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548640" y="2560320"/>
            <a:ext cx="182880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Detección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vencimiento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contrato próximo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 vencer</a:t>
            </a:r>
            <a:endParaRPr lang="en-US" sz="1000" dirty="0"/>
          </a:p>
        </p:txBody>
      </p:sp>
      <p:sp>
        <p:nvSpPr>
          <p:cNvPr id="17" name="Shape 15"/>
          <p:cNvSpPr/>
          <p:nvPr/>
        </p:nvSpPr>
        <p:spPr>
          <a:xfrm>
            <a:off x="438912" y="2450592"/>
            <a:ext cx="329184" cy="329184"/>
          </a:xfrm>
          <a:prstGeom prst="ellipse">
            <a:avLst/>
          </a:prstGeom>
          <a:solidFill>
            <a:srgbClr val="1A237E"/>
          </a:solidFill>
          <a:ln w="25400">
            <a:solidFill>
              <a:srgbClr val="FFFFFF"/>
            </a:solidFill>
            <a:prstDash val="solid"/>
          </a:ln>
        </p:spPr>
      </p:sp>
      <p:sp>
        <p:nvSpPr>
          <p:cNvPr id="18" name="Text 16"/>
          <p:cNvSpPr/>
          <p:nvPr/>
        </p:nvSpPr>
        <p:spPr>
          <a:xfrm>
            <a:off x="438912" y="24505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2606040" y="2560320"/>
            <a:ext cx="1645920" cy="1280160"/>
          </a:xfrm>
          <a:prstGeom prst="roundRect">
            <a:avLst>
              <a:gd name="adj" fmla="val 5714"/>
            </a:avLst>
          </a:prstGeom>
          <a:solidFill>
            <a:srgbClr val="EA580C"/>
          </a:solidFill>
          <a:ln w="19050">
            <a:solidFill>
              <a:srgbClr val="C2410C"/>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2606040" y="2560320"/>
            <a:ext cx="164592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Alerta sistema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badge días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restantes</a:t>
            </a:r>
            <a:endParaRPr lang="en-US" sz="1000" dirty="0"/>
          </a:p>
        </p:txBody>
      </p:sp>
      <p:sp>
        <p:nvSpPr>
          <p:cNvPr id="21" name="Shape 19"/>
          <p:cNvSpPr/>
          <p:nvPr/>
        </p:nvSpPr>
        <p:spPr>
          <a:xfrm>
            <a:off x="2496312" y="2450592"/>
            <a:ext cx="329184" cy="329184"/>
          </a:xfrm>
          <a:prstGeom prst="ellipse">
            <a:avLst/>
          </a:prstGeom>
          <a:solidFill>
            <a:srgbClr val="1A237E"/>
          </a:solidFill>
          <a:ln w="25400">
            <a:solidFill>
              <a:srgbClr val="FFFFFF"/>
            </a:solidFill>
            <a:prstDash val="solid"/>
          </a:ln>
        </p:spPr>
      </p:sp>
      <p:sp>
        <p:nvSpPr>
          <p:cNvPr id="22" name="Text 20"/>
          <p:cNvSpPr/>
          <p:nvPr/>
        </p:nvSpPr>
        <p:spPr>
          <a:xfrm>
            <a:off x="2496312" y="24505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4480560" y="2560320"/>
            <a:ext cx="169164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4480560" y="2560320"/>
            <a:ext cx="169164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Acción comercial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contacto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arrendatario</a:t>
            </a:r>
            <a:endParaRPr lang="en-US" sz="1000" dirty="0"/>
          </a:p>
        </p:txBody>
      </p:sp>
      <p:sp>
        <p:nvSpPr>
          <p:cNvPr id="25" name="Shape 23"/>
          <p:cNvSpPr/>
          <p:nvPr/>
        </p:nvSpPr>
        <p:spPr>
          <a:xfrm>
            <a:off x="4370832" y="2450592"/>
            <a:ext cx="329184" cy="329184"/>
          </a:xfrm>
          <a:prstGeom prst="ellipse">
            <a:avLst/>
          </a:prstGeom>
          <a:solidFill>
            <a:srgbClr val="1A237E"/>
          </a:solidFill>
          <a:ln w="25400">
            <a:solidFill>
              <a:srgbClr val="FFFFFF"/>
            </a:solidFill>
            <a:prstDash val="solid"/>
          </a:ln>
        </p:spPr>
      </p:sp>
      <p:sp>
        <p:nvSpPr>
          <p:cNvPr id="26" name="Text 24"/>
          <p:cNvSpPr/>
          <p:nvPr/>
        </p:nvSpPr>
        <p:spPr>
          <a:xfrm>
            <a:off x="4370832" y="24505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6400800" y="128016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6400800" y="128016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Renovación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nuevas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p:txBody>
      </p:sp>
      <p:sp>
        <p:nvSpPr>
          <p:cNvPr id="29" name="Shape 27"/>
          <p:cNvSpPr/>
          <p:nvPr/>
        </p:nvSpPr>
        <p:spPr>
          <a:xfrm>
            <a:off x="6291072" y="1170432"/>
            <a:ext cx="329184" cy="329184"/>
          </a:xfrm>
          <a:prstGeom prst="ellipse">
            <a:avLst/>
          </a:prstGeom>
          <a:solidFill>
            <a:srgbClr val="1A237E"/>
          </a:solidFill>
          <a:ln w="25400">
            <a:solidFill>
              <a:srgbClr val="FFFFFF"/>
            </a:solidFill>
            <a:prstDash val="solid"/>
          </a:ln>
        </p:spPr>
      </p:sp>
      <p:sp>
        <p:nvSpPr>
          <p:cNvPr id="30" name="Text 28"/>
          <p:cNvSpPr/>
          <p:nvPr/>
        </p:nvSpPr>
        <p:spPr>
          <a:xfrm>
            <a:off x="6291072" y="11704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a:t>
            </a:r>
            <a:endParaRPr lang="en-US" sz="1000" dirty="0"/>
          </a:p>
        </p:txBody>
      </p:sp>
      <p:sp>
        <p:nvSpPr>
          <p:cNvPr id="31" name="Shape 29"/>
          <p:cNvSpPr/>
          <p:nvPr/>
        </p:nvSpPr>
        <p:spPr>
          <a:xfrm>
            <a:off x="6400800" y="38404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6400800" y="38404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Nueva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Oportunidad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relocation 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nuevo tenant</a:t>
            </a:r>
            <a:endParaRPr lang="en-US" sz="1000" dirty="0"/>
          </a:p>
        </p:txBody>
      </p:sp>
      <p:sp>
        <p:nvSpPr>
          <p:cNvPr id="33" name="Shape 31"/>
          <p:cNvSpPr/>
          <p:nvPr/>
        </p:nvSpPr>
        <p:spPr>
          <a:xfrm>
            <a:off x="6291072" y="3730752"/>
            <a:ext cx="329184" cy="329184"/>
          </a:xfrm>
          <a:prstGeom prst="ellipse">
            <a:avLst/>
          </a:prstGeom>
          <a:solidFill>
            <a:srgbClr val="1A237E"/>
          </a:solidFill>
          <a:ln w="25400">
            <a:solidFill>
              <a:srgbClr val="FFFFFF"/>
            </a:solidFill>
            <a:prstDash val="solid"/>
          </a:ln>
        </p:spPr>
      </p:sp>
      <p:sp>
        <p:nvSpPr>
          <p:cNvPr id="34" name="Text 32"/>
          <p:cNvSpPr/>
          <p:nvPr/>
        </p:nvSpPr>
        <p:spPr>
          <a:xfrm>
            <a:off x="6291072" y="37307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4b</a:t>
            </a:r>
            <a:endParaRPr lang="en-US" sz="1000" dirty="0"/>
          </a:p>
        </p:txBody>
      </p:sp>
      <p:sp>
        <p:nvSpPr>
          <p:cNvPr id="35" name="Shape 33"/>
          <p:cNvSpPr/>
          <p:nvPr/>
        </p:nvSpPr>
        <p:spPr>
          <a:xfrm>
            <a:off x="8503920" y="1280160"/>
            <a:ext cx="3200400" cy="1280160"/>
          </a:xfrm>
          <a:prstGeom prst="roundRect">
            <a:avLst>
              <a:gd name="adj" fmla="val 5714"/>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8503920" y="1280160"/>
            <a:ext cx="3200400" cy="128016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Update contrato</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en Dynamics</a:t>
            </a:r>
            <a:endParaRPr lang="en-US" sz="1100" dirty="0"/>
          </a:p>
        </p:txBody>
      </p:sp>
      <p:sp>
        <p:nvSpPr>
          <p:cNvPr id="37" name="Shape 35"/>
          <p:cNvSpPr/>
          <p:nvPr/>
        </p:nvSpPr>
        <p:spPr>
          <a:xfrm>
            <a:off x="8394192" y="1170432"/>
            <a:ext cx="329184" cy="329184"/>
          </a:xfrm>
          <a:prstGeom prst="ellipse">
            <a:avLst/>
          </a:prstGeom>
          <a:solidFill>
            <a:srgbClr val="1A237E"/>
          </a:solidFill>
          <a:ln w="25400">
            <a:solidFill>
              <a:srgbClr val="FFFFFF"/>
            </a:solidFill>
            <a:prstDash val="solid"/>
          </a:ln>
        </p:spPr>
      </p:sp>
      <p:sp>
        <p:nvSpPr>
          <p:cNvPr id="38" name="Text 36"/>
          <p:cNvSpPr/>
          <p:nvPr/>
        </p:nvSpPr>
        <p:spPr>
          <a:xfrm>
            <a:off x="8394192" y="11704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a:t>
            </a:r>
            <a:endParaRPr lang="en-US" sz="1000" dirty="0"/>
          </a:p>
        </p:txBody>
      </p:sp>
      <p:sp>
        <p:nvSpPr>
          <p:cNvPr id="39" name="Shape 37"/>
          <p:cNvSpPr/>
          <p:nvPr/>
        </p:nvSpPr>
        <p:spPr>
          <a:xfrm>
            <a:off x="8503920" y="3840480"/>
            <a:ext cx="3200400" cy="1280160"/>
          </a:xfrm>
          <a:prstGeom prst="roundRect">
            <a:avLst>
              <a:gd name="adj" fmla="val 5714"/>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8503920" y="3840480"/>
            <a:ext cx="3200400" cy="128016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Alta Oportunidad</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en Dynamics</a:t>
            </a:r>
            <a:endParaRPr lang="en-US" sz="1100" dirty="0"/>
          </a:p>
        </p:txBody>
      </p:sp>
      <p:sp>
        <p:nvSpPr>
          <p:cNvPr id="41" name="Shape 39"/>
          <p:cNvSpPr/>
          <p:nvPr/>
        </p:nvSpPr>
        <p:spPr>
          <a:xfrm>
            <a:off x="8394192" y="3730752"/>
            <a:ext cx="329184" cy="329184"/>
          </a:xfrm>
          <a:prstGeom prst="ellipse">
            <a:avLst/>
          </a:prstGeom>
          <a:solidFill>
            <a:srgbClr val="1A237E"/>
          </a:solidFill>
          <a:ln w="25400">
            <a:solidFill>
              <a:srgbClr val="FFFFFF"/>
            </a:solidFill>
            <a:prstDash val="solid"/>
          </a:ln>
        </p:spPr>
      </p:sp>
      <p:sp>
        <p:nvSpPr>
          <p:cNvPr id="42" name="Text 40"/>
          <p:cNvSpPr/>
          <p:nvPr/>
        </p:nvSpPr>
        <p:spPr>
          <a:xfrm>
            <a:off x="8394192" y="37307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5b</a:t>
            </a:r>
            <a:endParaRPr lang="en-US" sz="1000" dirty="0"/>
          </a:p>
        </p:txBody>
      </p:sp>
      <p:sp>
        <p:nvSpPr>
          <p:cNvPr id="43" name="Shape 41"/>
          <p:cNvSpPr/>
          <p:nvPr/>
        </p:nvSpPr>
        <p:spPr>
          <a:xfrm>
            <a:off x="2377440" y="3200400"/>
            <a:ext cx="228600" cy="0"/>
          </a:xfrm>
          <a:prstGeom prst="line">
            <a:avLst/>
          </a:prstGeom>
          <a:noFill/>
          <a:ln w="22860">
            <a:solidFill>
              <a:srgbClr val="BDBDBD"/>
            </a:solidFill>
            <a:prstDash val="solid"/>
            <a:tailEnd type="arrow"/>
          </a:ln>
        </p:spPr>
      </p:sp>
      <p:sp>
        <p:nvSpPr>
          <p:cNvPr id="44" name="Shape 42"/>
          <p:cNvSpPr/>
          <p:nvPr/>
        </p:nvSpPr>
        <p:spPr>
          <a:xfrm>
            <a:off x="4251960" y="3200400"/>
            <a:ext cx="228600" cy="0"/>
          </a:xfrm>
          <a:prstGeom prst="line">
            <a:avLst/>
          </a:prstGeom>
          <a:noFill/>
          <a:ln w="22860">
            <a:solidFill>
              <a:srgbClr val="BDBDBD"/>
            </a:solidFill>
            <a:prstDash val="solid"/>
            <a:tailEnd type="arrow"/>
          </a:ln>
        </p:spPr>
      </p:sp>
      <p:sp>
        <p:nvSpPr>
          <p:cNvPr id="45" name="Shape 43"/>
          <p:cNvSpPr/>
          <p:nvPr/>
        </p:nvSpPr>
        <p:spPr>
          <a:xfrm>
            <a:off x="6172200" y="2926080"/>
            <a:ext cx="228600" cy="-1005840"/>
          </a:xfrm>
          <a:prstGeom prst="line">
            <a:avLst/>
          </a:prstGeom>
          <a:noFill/>
          <a:ln w="22860">
            <a:solidFill>
              <a:srgbClr val="BDBDBD"/>
            </a:solidFill>
            <a:prstDash val="solid"/>
            <a:tailEnd type="arrow"/>
          </a:ln>
        </p:spPr>
      </p:sp>
      <p:sp>
        <p:nvSpPr>
          <p:cNvPr id="46" name="Shape 44"/>
          <p:cNvSpPr/>
          <p:nvPr/>
        </p:nvSpPr>
        <p:spPr>
          <a:xfrm>
            <a:off x="6172200" y="3474720"/>
            <a:ext cx="228600" cy="1005840"/>
          </a:xfrm>
          <a:prstGeom prst="line">
            <a:avLst/>
          </a:prstGeom>
          <a:noFill/>
          <a:ln w="22860">
            <a:solidFill>
              <a:srgbClr val="BDBDBD"/>
            </a:solidFill>
            <a:prstDash val="solid"/>
            <a:tailEnd type="arrow"/>
          </a:ln>
        </p:spPr>
      </p:sp>
      <p:sp>
        <p:nvSpPr>
          <p:cNvPr id="47" name="Shape 45"/>
          <p:cNvSpPr/>
          <p:nvPr/>
        </p:nvSpPr>
        <p:spPr>
          <a:xfrm>
            <a:off x="7955280" y="1920240"/>
            <a:ext cx="548640" cy="0"/>
          </a:xfrm>
          <a:prstGeom prst="line">
            <a:avLst/>
          </a:prstGeom>
          <a:noFill/>
          <a:ln w="22860">
            <a:solidFill>
              <a:srgbClr val="BDBDBD"/>
            </a:solidFill>
            <a:prstDash val="solid"/>
            <a:tailEnd type="arrow"/>
          </a:ln>
        </p:spPr>
      </p:sp>
      <p:sp>
        <p:nvSpPr>
          <p:cNvPr id="48" name="Shape 46"/>
          <p:cNvSpPr/>
          <p:nvPr/>
        </p:nvSpPr>
        <p:spPr>
          <a:xfrm>
            <a:off x="7955280" y="4480560"/>
            <a:ext cx="548640" cy="0"/>
          </a:xfrm>
          <a:prstGeom prst="line">
            <a:avLst/>
          </a:prstGeom>
          <a:noFill/>
          <a:ln w="22860">
            <a:solidFill>
              <a:srgbClr val="BDBDBD"/>
            </a:solidFill>
            <a:prstDash val="solid"/>
            <a:tailEnd type="arrow"/>
          </a:ln>
        </p:spPr>
      </p:sp>
      <p:sp>
        <p:nvSpPr>
          <p:cNvPr id="49" name="Shape 47"/>
          <p:cNvSpPr/>
          <p:nvPr/>
        </p:nvSpPr>
        <p:spPr>
          <a:xfrm>
            <a:off x="274320" y="5760720"/>
            <a:ext cx="11640312" cy="868680"/>
          </a:xfrm>
          <a:prstGeom prst="rect">
            <a:avLst/>
          </a:prstGeom>
          <a:solidFill>
            <a:srgbClr val="FFFFFF"/>
          </a:solidFill>
          <a:ln w="12700">
            <a:solidFill>
              <a:srgbClr val="E0E0E0"/>
            </a:solidFill>
            <a:prstDash val="solid"/>
          </a:ln>
        </p:spPr>
      </p:sp>
      <p:sp>
        <p:nvSpPr>
          <p:cNvPr id="50" name="Text 48"/>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motor de vencimientos del PDB detecta automáticamente los contratos próximos a expirar (1) y genera una alerta visible con badge de días restantes (2). El broker ejecuta la acción comercial sobre el arrendatario (3), que deriva en una renovación con condiciones actualizadas (4a) o en una nueva Oportunidad — relocation, tenant alternativo o salida (4b). Ambos resultados se reflejan en Dynamics (5a/5b) para mantener la fuente de verdad.</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DC2626"/>
          </a:solidFill>
          <a:ln w="12700">
            <a:solidFill>
              <a:srgbClr val="DC2626"/>
            </a:solidFill>
            <a:prstDash val="solid"/>
          </a:ln>
        </p:spPr>
      </p:sp>
      <p:sp>
        <p:nvSpPr>
          <p:cNvPr id="3" name="Text 1"/>
          <p:cNvSpPr/>
          <p:nvPr/>
        </p:nvSpPr>
        <p:spPr>
          <a:xfrm>
            <a:off x="274320" y="164592"/>
            <a:ext cx="11640312" cy="457200"/>
          </a:xfrm>
          <a:prstGeom prst="rect">
            <a:avLst/>
          </a:prstGeom>
          <a:noFill/>
          <a:ln/>
        </p:spPr>
        <p:txBody>
          <a:bodyPr wrap="square" rtlCol="0" anchor="ctr"/>
          <a:lstStyle/>
          <a:p>
            <a:pPr indent="0" marL="0">
              <a:buNone/>
            </a:pPr>
            <a:r>
              <a:rPr lang="en-US" sz="2400" b="1" dirty="0">
                <a:solidFill>
                  <a:srgbClr val="DC2626"/>
                </a:solidFill>
                <a:latin typeface="Calibri" pitchFamily="34" charset="0"/>
                <a:ea typeface="Calibri" pitchFamily="34" charset="-122"/>
                <a:cs typeface="Calibri" pitchFamily="34" charset="-120"/>
              </a:rPr>
              <a:t>Por qué vincular Cuentas a Activos es CRÍTICO</a:t>
            </a:r>
            <a:endParaRPr lang="en-US" sz="2400" dirty="0"/>
          </a:p>
        </p:txBody>
      </p:sp>
      <p:sp>
        <p:nvSpPr>
          <p:cNvPr id="4" name="Shape 2"/>
          <p:cNvSpPr/>
          <p:nvPr/>
        </p:nvSpPr>
        <p:spPr>
          <a:xfrm>
            <a:off x="274320" y="713232"/>
            <a:ext cx="11640312" cy="0"/>
          </a:xfrm>
          <a:prstGeom prst="line">
            <a:avLst/>
          </a:prstGeom>
          <a:noFill/>
          <a:ln w="12700">
            <a:solidFill>
              <a:srgbClr val="E0E0E0"/>
            </a:solidFill>
            <a:prstDash val="solid"/>
          </a:ln>
        </p:spPr>
      </p:sp>
      <p:sp>
        <p:nvSpPr>
          <p:cNvPr id="5" name="Shape 3"/>
          <p:cNvSpPr/>
          <p:nvPr/>
        </p:nvSpPr>
        <p:spPr>
          <a:xfrm>
            <a:off x="274320" y="960120"/>
            <a:ext cx="3794760" cy="1508760"/>
          </a:xfrm>
          <a:prstGeom prst="roundRect">
            <a:avLst>
              <a:gd name="adj" fmla="val 6061"/>
            </a:avLst>
          </a:prstGeom>
          <a:solidFill>
            <a:srgbClr val="FFFFFF"/>
          </a:solidFill>
          <a:ln w="25400">
            <a:solidFill>
              <a:srgbClr val="0078D4"/>
            </a:solidFill>
            <a:prstDash val="solid"/>
          </a:ln>
          <a:effectLst>
            <a:outerShdw sx="100000" sy="100000" kx="0" ky="0" algn="bl" rotWithShape="0" blurRad="76200" dist="38100" dir="2700000">
              <a:srgbClr val="00000015">
                <a:alpha val="75000"/>
              </a:srgbClr>
            </a:outerShdw>
          </a:effectLst>
        </p:spPr>
      </p:sp>
      <p:sp>
        <p:nvSpPr>
          <p:cNvPr id="6" name="Shape 4"/>
          <p:cNvSpPr/>
          <p:nvPr/>
        </p:nvSpPr>
        <p:spPr>
          <a:xfrm>
            <a:off x="274320" y="960120"/>
            <a:ext cx="109728" cy="1508760"/>
          </a:xfrm>
          <a:prstGeom prst="rect">
            <a:avLst/>
          </a:prstGeom>
          <a:solidFill>
            <a:srgbClr val="0078D4"/>
          </a:solidFill>
          <a:ln w="12700">
            <a:solidFill>
              <a:srgbClr val="0078D4"/>
            </a:solidFill>
            <a:prstDash val="solid"/>
          </a:ln>
        </p:spPr>
      </p:sp>
      <p:sp>
        <p:nvSpPr>
          <p:cNvPr id="7" name="Text 5"/>
          <p:cNvSpPr/>
          <p:nvPr/>
        </p:nvSpPr>
        <p:spPr>
          <a:xfrm>
            <a:off x="502920" y="1051560"/>
            <a:ext cx="3520440" cy="365760"/>
          </a:xfrm>
          <a:prstGeom prst="rect">
            <a:avLst/>
          </a:prstGeom>
          <a:noFill/>
          <a:ln/>
        </p:spPr>
        <p:txBody>
          <a:bodyPr wrap="square" rtlCol="0" anchor="ctr"/>
          <a:lstStyle/>
          <a:p>
            <a:pPr indent="0" marL="0">
              <a:buNone/>
            </a:pPr>
            <a:r>
              <a:rPr lang="en-US" sz="1200" b="1" dirty="0">
                <a:solidFill>
                  <a:srgbClr val="0078D4"/>
                </a:solidFill>
                <a:latin typeface="Calibri" pitchFamily="34" charset="0"/>
                <a:ea typeface="Calibri" pitchFamily="34" charset="-122"/>
                <a:cs typeface="Calibri" pitchFamily="34" charset="-120"/>
              </a:rPr>
              <a:t>Nexo único con Dynamics</a:t>
            </a:r>
            <a:endParaRPr lang="en-US" sz="1200" dirty="0"/>
          </a:p>
        </p:txBody>
      </p:sp>
      <p:sp>
        <p:nvSpPr>
          <p:cNvPr id="8" name="Text 6"/>
          <p:cNvSpPr/>
          <p:nvPr/>
        </p:nvSpPr>
        <p:spPr>
          <a:xfrm>
            <a:off x="502920" y="146304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Dynamics es la fuente de verdad fiscal. Activo sin Cuenta = huérfano: no facturable, no contratable, no auditable.</a:t>
            </a:r>
            <a:endParaRPr lang="en-US" sz="1000" dirty="0"/>
          </a:p>
        </p:txBody>
      </p:sp>
      <p:sp>
        <p:nvSpPr>
          <p:cNvPr id="9" name="Shape 7"/>
          <p:cNvSpPr/>
          <p:nvPr/>
        </p:nvSpPr>
        <p:spPr>
          <a:xfrm>
            <a:off x="4251960" y="960120"/>
            <a:ext cx="3794760" cy="1508760"/>
          </a:xfrm>
          <a:prstGeom prst="roundRect">
            <a:avLst>
              <a:gd name="adj" fmla="val 6061"/>
            </a:avLst>
          </a:prstGeom>
          <a:solidFill>
            <a:srgbClr val="FFFFFF"/>
          </a:solidFill>
          <a:ln w="25400">
            <a:solidFill>
              <a:srgbClr val="2E7D32"/>
            </a:solidFill>
            <a:prstDash val="solid"/>
          </a:ln>
          <a:effectLst>
            <a:outerShdw sx="100000" sy="100000" kx="0" ky="0" algn="bl" rotWithShape="0" blurRad="76200" dist="38100" dir="2700000">
              <a:srgbClr val="00000015">
                <a:alpha val="75000"/>
              </a:srgbClr>
            </a:outerShdw>
          </a:effectLst>
        </p:spPr>
      </p:sp>
      <p:sp>
        <p:nvSpPr>
          <p:cNvPr id="10" name="Shape 8"/>
          <p:cNvSpPr/>
          <p:nvPr/>
        </p:nvSpPr>
        <p:spPr>
          <a:xfrm>
            <a:off x="4251960" y="960120"/>
            <a:ext cx="109728" cy="1508760"/>
          </a:xfrm>
          <a:prstGeom prst="rect">
            <a:avLst/>
          </a:prstGeom>
          <a:solidFill>
            <a:srgbClr val="2E7D32"/>
          </a:solidFill>
          <a:ln w="12700">
            <a:solidFill>
              <a:srgbClr val="2E7D32"/>
            </a:solidFill>
            <a:prstDash val="solid"/>
          </a:ln>
        </p:spPr>
      </p:sp>
      <p:sp>
        <p:nvSpPr>
          <p:cNvPr id="11" name="Text 9"/>
          <p:cNvSpPr/>
          <p:nvPr/>
        </p:nvSpPr>
        <p:spPr>
          <a:xfrm>
            <a:off x="4480560" y="1051560"/>
            <a:ext cx="3520440" cy="365760"/>
          </a:xfrm>
          <a:prstGeom prst="rect">
            <a:avLst/>
          </a:prstGeom>
          <a:noFill/>
          <a:ln/>
        </p:spPr>
        <p:txBody>
          <a:bodyPr wrap="square" rtlCol="0" anchor="ctr"/>
          <a:lstStyle/>
          <a:p>
            <a:pPr indent="0" marL="0">
              <a:buNone/>
            </a:pPr>
            <a:r>
              <a:rPr lang="en-US" sz="1200" b="1" dirty="0">
                <a:solidFill>
                  <a:srgbClr val="2E7D32"/>
                </a:solidFill>
                <a:latin typeface="Calibri" pitchFamily="34" charset="0"/>
                <a:ea typeface="Calibri" pitchFamily="34" charset="-122"/>
                <a:cs typeface="Calibri" pitchFamily="34" charset="-120"/>
              </a:rPr>
              <a:t>Vista 360º del Propietario</a:t>
            </a:r>
            <a:endParaRPr lang="en-US" sz="1200" dirty="0"/>
          </a:p>
        </p:txBody>
      </p:sp>
      <p:sp>
        <p:nvSpPr>
          <p:cNvPr id="12" name="Text 10"/>
          <p:cNvSpPr/>
          <p:nvPr/>
        </p:nvSpPr>
        <p:spPr>
          <a:xfrm>
            <a:off x="4480560" y="146304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Sin vínculo, los activos del mismo propietario aparecen inconexos. Imposible mostrar cartera, vencimientos y ofertas consolidados.</a:t>
            </a:r>
            <a:endParaRPr lang="en-US" sz="1000" dirty="0"/>
          </a:p>
        </p:txBody>
      </p:sp>
      <p:sp>
        <p:nvSpPr>
          <p:cNvPr id="13" name="Shape 11"/>
          <p:cNvSpPr/>
          <p:nvPr/>
        </p:nvSpPr>
        <p:spPr>
          <a:xfrm>
            <a:off x="8229600" y="960120"/>
            <a:ext cx="3794760" cy="1508760"/>
          </a:xfrm>
          <a:prstGeom prst="roundRect">
            <a:avLst>
              <a:gd name="adj" fmla="val 6061"/>
            </a:avLst>
          </a:prstGeom>
          <a:solidFill>
            <a:srgbClr val="FFFFFF"/>
          </a:solidFill>
          <a:ln w="25400">
            <a:solidFill>
              <a:srgbClr val="00838F"/>
            </a:solidFill>
            <a:prstDash val="solid"/>
          </a:ln>
          <a:effectLst>
            <a:outerShdw sx="100000" sy="100000" kx="0" ky="0" algn="bl" rotWithShape="0" blurRad="76200" dist="38100" dir="2700000">
              <a:srgbClr val="00000015">
                <a:alpha val="75000"/>
              </a:srgbClr>
            </a:outerShdw>
          </a:effectLst>
        </p:spPr>
      </p:sp>
      <p:sp>
        <p:nvSpPr>
          <p:cNvPr id="14" name="Shape 12"/>
          <p:cNvSpPr/>
          <p:nvPr/>
        </p:nvSpPr>
        <p:spPr>
          <a:xfrm>
            <a:off x="8229600" y="960120"/>
            <a:ext cx="109728" cy="1508760"/>
          </a:xfrm>
          <a:prstGeom prst="rect">
            <a:avLst/>
          </a:prstGeom>
          <a:solidFill>
            <a:srgbClr val="00838F"/>
          </a:solidFill>
          <a:ln w="12700">
            <a:solidFill>
              <a:srgbClr val="00838F"/>
            </a:solidFill>
            <a:prstDash val="solid"/>
          </a:ln>
        </p:spPr>
      </p:sp>
      <p:sp>
        <p:nvSpPr>
          <p:cNvPr id="15" name="Text 13"/>
          <p:cNvSpPr/>
          <p:nvPr/>
        </p:nvSpPr>
        <p:spPr>
          <a:xfrm>
            <a:off x="8458200" y="1051560"/>
            <a:ext cx="3520440" cy="365760"/>
          </a:xfrm>
          <a:prstGeom prst="rect">
            <a:avLst/>
          </a:prstGeom>
          <a:noFill/>
          <a:ln/>
        </p:spPr>
        <p:txBody>
          <a:bodyPr wrap="square" rtlCol="0" anchor="ctr"/>
          <a:lstStyle/>
          <a:p>
            <a:pPr indent="0" marL="0">
              <a:buNone/>
            </a:pPr>
            <a:r>
              <a:rPr lang="en-US" sz="1200" b="1" dirty="0">
                <a:solidFill>
                  <a:srgbClr val="00838F"/>
                </a:solidFill>
                <a:latin typeface="Calibri" pitchFamily="34" charset="0"/>
                <a:ea typeface="Calibri" pitchFamily="34" charset="-122"/>
                <a:cs typeface="Calibri" pitchFamily="34" charset="-120"/>
              </a:rPr>
              <a:t>Inteligencia comercial · Mapas</a:t>
            </a:r>
            <a:endParaRPr lang="en-US" sz="1200" dirty="0"/>
          </a:p>
        </p:txBody>
      </p:sp>
      <p:sp>
        <p:nvSpPr>
          <p:cNvPr id="16" name="Text 14"/>
          <p:cNvSpPr/>
          <p:nvPr/>
        </p:nvSpPr>
        <p:spPr>
          <a:xfrm>
            <a:off x="8458200" y="146304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Los cruces clave — vencimientos por zona, ofertas por propietario — solo funcionan si cada activo conoce su Cuenta.</a:t>
            </a:r>
            <a:endParaRPr lang="en-US" sz="1000" dirty="0"/>
          </a:p>
        </p:txBody>
      </p:sp>
      <p:sp>
        <p:nvSpPr>
          <p:cNvPr id="17" name="Shape 15"/>
          <p:cNvSpPr/>
          <p:nvPr/>
        </p:nvSpPr>
        <p:spPr>
          <a:xfrm>
            <a:off x="274320" y="2651760"/>
            <a:ext cx="3794760" cy="1508760"/>
          </a:xfrm>
          <a:prstGeom prst="roundRect">
            <a:avLst>
              <a:gd name="adj" fmla="val 6061"/>
            </a:avLst>
          </a:prstGeom>
          <a:solidFill>
            <a:srgbClr val="FFFFFF"/>
          </a:solidFill>
          <a:ln w="25400">
            <a:solidFill>
              <a:srgbClr val="E65100"/>
            </a:solidFill>
            <a:prstDash val="solid"/>
          </a:ln>
          <a:effectLst>
            <a:outerShdw sx="100000" sy="100000" kx="0" ky="0" algn="bl" rotWithShape="0" blurRad="76200" dist="38100" dir="2700000">
              <a:srgbClr val="00000015">
                <a:alpha val="75000"/>
              </a:srgbClr>
            </a:outerShdw>
          </a:effectLst>
        </p:spPr>
      </p:sp>
      <p:sp>
        <p:nvSpPr>
          <p:cNvPr id="18" name="Shape 16"/>
          <p:cNvSpPr/>
          <p:nvPr/>
        </p:nvSpPr>
        <p:spPr>
          <a:xfrm>
            <a:off x="274320" y="2651760"/>
            <a:ext cx="109728" cy="1508760"/>
          </a:xfrm>
          <a:prstGeom prst="rect">
            <a:avLst/>
          </a:prstGeom>
          <a:solidFill>
            <a:srgbClr val="E65100"/>
          </a:solidFill>
          <a:ln w="12700">
            <a:solidFill>
              <a:srgbClr val="E65100"/>
            </a:solidFill>
            <a:prstDash val="solid"/>
          </a:ln>
        </p:spPr>
      </p:sp>
      <p:sp>
        <p:nvSpPr>
          <p:cNvPr id="19" name="Text 17"/>
          <p:cNvSpPr/>
          <p:nvPr/>
        </p:nvSpPr>
        <p:spPr>
          <a:xfrm>
            <a:off x="502920" y="2743200"/>
            <a:ext cx="3520440" cy="36576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Reporting y honorarios</a:t>
            </a:r>
            <a:endParaRPr lang="en-US" sz="1200" dirty="0"/>
          </a:p>
        </p:txBody>
      </p:sp>
      <p:sp>
        <p:nvSpPr>
          <p:cNvPr id="20" name="Text 18"/>
          <p:cNvSpPr/>
          <p:nvPr/>
        </p:nvSpPr>
        <p:spPr>
          <a:xfrm>
            <a:off x="502920" y="315468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La facturación depende de saber a qué Cuenta pertenece cada operación. Sin Cuenta, no hay liquidación contable.</a:t>
            </a:r>
            <a:endParaRPr lang="en-US" sz="1000" dirty="0"/>
          </a:p>
        </p:txBody>
      </p:sp>
      <p:sp>
        <p:nvSpPr>
          <p:cNvPr id="21" name="Shape 19"/>
          <p:cNvSpPr/>
          <p:nvPr/>
        </p:nvSpPr>
        <p:spPr>
          <a:xfrm>
            <a:off x="4251960" y="2651760"/>
            <a:ext cx="3794760" cy="1508760"/>
          </a:xfrm>
          <a:prstGeom prst="roundRect">
            <a:avLst>
              <a:gd name="adj" fmla="val 6061"/>
            </a:avLst>
          </a:prstGeom>
          <a:solidFill>
            <a:srgbClr val="FFFFFF"/>
          </a:solidFill>
          <a:ln w="25400">
            <a:solidFill>
              <a:srgbClr val="7C3AED"/>
            </a:solidFill>
            <a:prstDash val="solid"/>
          </a:ln>
          <a:effectLst>
            <a:outerShdw sx="100000" sy="100000" kx="0" ky="0" algn="bl" rotWithShape="0" blurRad="76200" dist="38100" dir="2700000">
              <a:srgbClr val="00000015">
                <a:alpha val="75000"/>
              </a:srgbClr>
            </a:outerShdw>
          </a:effectLst>
        </p:spPr>
      </p:sp>
      <p:sp>
        <p:nvSpPr>
          <p:cNvPr id="22" name="Shape 20"/>
          <p:cNvSpPr/>
          <p:nvPr/>
        </p:nvSpPr>
        <p:spPr>
          <a:xfrm>
            <a:off x="4251960" y="2651760"/>
            <a:ext cx="109728" cy="1508760"/>
          </a:xfrm>
          <a:prstGeom prst="rect">
            <a:avLst/>
          </a:prstGeom>
          <a:solidFill>
            <a:srgbClr val="7C3AED"/>
          </a:solidFill>
          <a:ln w="12700">
            <a:solidFill>
              <a:srgbClr val="7C3AED"/>
            </a:solidFill>
            <a:prstDash val="solid"/>
          </a:ln>
        </p:spPr>
      </p:sp>
      <p:sp>
        <p:nvSpPr>
          <p:cNvPr id="23" name="Text 21"/>
          <p:cNvSpPr/>
          <p:nvPr/>
        </p:nvSpPr>
        <p:spPr>
          <a:xfrm>
            <a:off x="4480560" y="2743200"/>
            <a:ext cx="3520440" cy="365760"/>
          </a:xfrm>
          <a:prstGeom prst="rect">
            <a:avLst/>
          </a:prstGeom>
          <a:noFill/>
          <a:ln/>
        </p:spPr>
        <p:txBody>
          <a:bodyPr wrap="square" rtlCol="0" anchor="ctr"/>
          <a:lstStyle/>
          <a:p>
            <a:pPr indent="0" marL="0">
              <a:buNone/>
            </a:pPr>
            <a:r>
              <a:rPr lang="en-US" sz="1200" b="1" dirty="0">
                <a:solidFill>
                  <a:srgbClr val="7C3AED"/>
                </a:solidFill>
                <a:latin typeface="Calibri" pitchFamily="34" charset="0"/>
                <a:ea typeface="Calibri" pitchFamily="34" charset="-122"/>
                <a:cs typeface="Calibri" pitchFamily="34" charset="-120"/>
              </a:rPr>
              <a:t>Cross-selling</a:t>
            </a:r>
            <a:endParaRPr lang="en-US" sz="1200" dirty="0"/>
          </a:p>
        </p:txBody>
      </p:sp>
      <p:sp>
        <p:nvSpPr>
          <p:cNvPr id="24" name="Text 22"/>
          <p:cNvSpPr/>
          <p:nvPr/>
        </p:nvSpPr>
        <p:spPr>
          <a:xfrm>
            <a:off x="4480560" y="315468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El valor del CRM está en detectar que el propietario del activo X también tiene Y y Z. Sin vínculo, el cross-selling es invisible.</a:t>
            </a:r>
            <a:endParaRPr lang="en-US" sz="1000" dirty="0"/>
          </a:p>
        </p:txBody>
      </p:sp>
      <p:sp>
        <p:nvSpPr>
          <p:cNvPr id="25" name="Shape 23"/>
          <p:cNvSpPr/>
          <p:nvPr/>
        </p:nvSpPr>
        <p:spPr>
          <a:xfrm>
            <a:off x="8229600" y="2651760"/>
            <a:ext cx="3794760" cy="1508760"/>
          </a:xfrm>
          <a:prstGeom prst="roundRect">
            <a:avLst>
              <a:gd name="adj" fmla="val 6061"/>
            </a:avLst>
          </a:prstGeom>
          <a:solidFill>
            <a:srgbClr val="FFFFFF"/>
          </a:solidFill>
          <a:ln w="25400">
            <a:solidFill>
              <a:srgbClr val="B71C1C"/>
            </a:solidFill>
            <a:prstDash val="solid"/>
          </a:ln>
          <a:effectLst>
            <a:outerShdw sx="100000" sy="100000" kx="0" ky="0" algn="bl" rotWithShape="0" blurRad="76200" dist="38100" dir="2700000">
              <a:srgbClr val="00000015">
                <a:alpha val="75000"/>
              </a:srgbClr>
            </a:outerShdw>
          </a:effectLst>
        </p:spPr>
      </p:sp>
      <p:sp>
        <p:nvSpPr>
          <p:cNvPr id="26" name="Shape 24"/>
          <p:cNvSpPr/>
          <p:nvPr/>
        </p:nvSpPr>
        <p:spPr>
          <a:xfrm>
            <a:off x="8229600" y="2651760"/>
            <a:ext cx="109728" cy="1508760"/>
          </a:xfrm>
          <a:prstGeom prst="rect">
            <a:avLst/>
          </a:prstGeom>
          <a:solidFill>
            <a:srgbClr val="B71C1C"/>
          </a:solidFill>
          <a:ln w="12700">
            <a:solidFill>
              <a:srgbClr val="B71C1C"/>
            </a:solidFill>
            <a:prstDash val="solid"/>
          </a:ln>
        </p:spPr>
      </p:sp>
      <p:sp>
        <p:nvSpPr>
          <p:cNvPr id="27" name="Text 25"/>
          <p:cNvSpPr/>
          <p:nvPr/>
        </p:nvSpPr>
        <p:spPr>
          <a:xfrm>
            <a:off x="8458200" y="2743200"/>
            <a:ext cx="3520440" cy="365760"/>
          </a:xfrm>
          <a:prstGeom prst="rect">
            <a:avLst/>
          </a:prstGeom>
          <a:noFill/>
          <a:ln/>
        </p:spPr>
        <p:txBody>
          <a:bodyPr wrap="square" rtlCol="0" anchor="ctr"/>
          <a:lstStyle/>
          <a:p>
            <a:pPr indent="0" marL="0">
              <a:buNone/>
            </a:pPr>
            <a:r>
              <a:rPr lang="en-US" sz="1200" b="1" dirty="0">
                <a:solidFill>
                  <a:srgbClr val="B71C1C"/>
                </a:solidFill>
                <a:latin typeface="Calibri" pitchFamily="34" charset="0"/>
                <a:ea typeface="Calibri" pitchFamily="34" charset="-122"/>
                <a:cs typeface="Calibri" pitchFamily="34" charset="-120"/>
              </a:rPr>
              <a:t>Riesgo operativo y calidad de dato</a:t>
            </a:r>
            <a:endParaRPr lang="en-US" sz="1200" dirty="0"/>
          </a:p>
        </p:txBody>
      </p:sp>
      <p:sp>
        <p:nvSpPr>
          <p:cNvPr id="28" name="Text 26"/>
          <p:cNvSpPr/>
          <p:nvPr/>
        </p:nvSpPr>
        <p:spPr>
          <a:xfrm>
            <a:off x="8458200" y="315468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Un activo sin Cuenta contamina matching, falsea KPIs y obliga a limpiezas manuales costosas.</a:t>
            </a:r>
            <a:endParaRPr lang="en-US" sz="1000" dirty="0"/>
          </a:p>
        </p:txBody>
      </p:sp>
      <p:sp>
        <p:nvSpPr>
          <p:cNvPr id="29" name="Shape 27"/>
          <p:cNvSpPr/>
          <p:nvPr/>
        </p:nvSpPr>
        <p:spPr>
          <a:xfrm>
            <a:off x="274320" y="4434840"/>
            <a:ext cx="11640312" cy="2194560"/>
          </a:xfrm>
          <a:prstGeom prst="roundRect">
            <a:avLst>
              <a:gd name="adj" fmla="val 6250"/>
            </a:avLst>
          </a:prstGeom>
          <a:solidFill>
            <a:srgbClr val="1A237E"/>
          </a:solidFill>
          <a:ln w="38100">
            <a:solidFill>
              <a:srgbClr val="FF9800"/>
            </a:solidFill>
            <a:prstDash val="solid"/>
          </a:ln>
          <a:effectLst>
            <a:outerShdw sx="100000" sy="100000" kx="0" ky="0" algn="bl" rotWithShape="0" blurRad="127000" dist="63500" dir="2700000">
              <a:srgbClr val="00000040">
                <a:alpha val="75000"/>
              </a:srgbClr>
            </a:outerShdw>
          </a:effectLst>
        </p:spPr>
      </p:sp>
      <p:sp>
        <p:nvSpPr>
          <p:cNvPr id="30" name="Text 28"/>
          <p:cNvSpPr/>
          <p:nvPr/>
        </p:nvSpPr>
        <p:spPr>
          <a:xfrm>
            <a:off x="274320" y="4572000"/>
            <a:ext cx="11640312" cy="365760"/>
          </a:xfrm>
          <a:prstGeom prst="rect">
            <a:avLst/>
          </a:prstGeom>
          <a:noFill/>
          <a:ln/>
        </p:spPr>
        <p:txBody>
          <a:bodyPr wrap="square" rtlCol="0" anchor="ctr"/>
          <a:lstStyle/>
          <a:p>
            <a:pPr algn="ctr" indent="0" marL="0">
              <a:buNone/>
            </a:pPr>
            <a:r>
              <a:rPr lang="en-US" sz="1400" b="1" dirty="0">
                <a:solidFill>
                  <a:srgbClr val="FF9800"/>
                </a:solidFill>
                <a:latin typeface="Calibri" pitchFamily="34" charset="0"/>
                <a:ea typeface="Calibri" pitchFamily="34" charset="-122"/>
                <a:cs typeface="Calibri" pitchFamily="34" charset="-120"/>
              </a:rPr>
              <a:t>REGLA DE ORO</a:t>
            </a:r>
            <a:endParaRPr lang="en-US" sz="1400" dirty="0"/>
          </a:p>
        </p:txBody>
      </p:sp>
      <p:sp>
        <p:nvSpPr>
          <p:cNvPr id="31" name="Text 29"/>
          <p:cNvSpPr/>
          <p:nvPr/>
        </p:nvSpPr>
        <p:spPr>
          <a:xfrm>
            <a:off x="274320" y="4937760"/>
            <a:ext cx="11640312" cy="1554480"/>
          </a:xfrm>
          <a:prstGeom prst="rect">
            <a:avLst/>
          </a:prstGeom>
          <a:noFill/>
          <a:ln/>
        </p:spPr>
        <p:txBody>
          <a:bodyPr wrap="square" rtlCol="0" anchor="ctr"/>
          <a:lstStyle/>
          <a:p>
            <a:pPr algn="ctr" indent="0" marL="0">
              <a:lnSpc>
                <a:spcPct val="140000"/>
              </a:lnSpc>
              <a:buNone/>
            </a:pPr>
            <a:r>
              <a:rPr lang="en-US" sz="2200" b="1" dirty="0">
                <a:solidFill>
                  <a:srgbClr val="FFFFFF"/>
                </a:solidFill>
                <a:latin typeface="Calibri" pitchFamily="34" charset="0"/>
                <a:ea typeface="Calibri" pitchFamily="34" charset="-122"/>
                <a:cs typeface="Calibri" pitchFamily="34" charset="-120"/>
              </a:rPr>
              <a:t>Ningún Activo sin Cuenta-Propietario.</a:t>
            </a:r>
            <a:endParaRPr lang="en-US" sz="2200" dirty="0"/>
          </a:p>
          <a:p>
            <a:pPr algn="ctr" indent="0" marL="0">
              <a:lnSpc>
                <a:spcPct val="140000"/>
              </a:lnSpc>
              <a:buNone/>
            </a:pPr>
            <a:r>
              <a:rPr lang="en-US" sz="2200" b="1" dirty="0">
                <a:solidFill>
                  <a:srgbClr val="FFFFFF"/>
                </a:solidFill>
                <a:latin typeface="Calibri" pitchFamily="34" charset="0"/>
                <a:ea typeface="Calibri" pitchFamily="34" charset="-122"/>
                <a:cs typeface="Calibri" pitchFamily="34" charset="-120"/>
              </a:rPr>
              <a:t>Ninguna Demanda sin Cuenta-Arrendatario.</a:t>
            </a:r>
            <a:endParaRPr lang="en-US" sz="2200" dirty="0"/>
          </a:p>
          <a:p>
            <a:pPr algn="ctr" indent="0" marL="0">
              <a:lnSpc>
                <a:spcPct val="140000"/>
              </a:lnSpc>
              <a:buNone/>
            </a:pPr>
            <a:r>
              <a:rPr lang="en-US" sz="2200" b="1" dirty="0">
                <a:solidFill>
                  <a:srgbClr val="FFFFFF"/>
                </a:solidFill>
                <a:latin typeface="Calibri" pitchFamily="34" charset="0"/>
                <a:ea typeface="Calibri" pitchFamily="34" charset="-122"/>
                <a:cs typeface="Calibri" pitchFamily="34" charset="-120"/>
              </a:rPr>
              <a:t>Ninguna Oferta sin ambas.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2026-04-27T05:43:34Z</dcterms:created>
  <dcterms:modified xsi:type="dcterms:W3CDTF">2026-04-27T05:43:34Z</dcterms:modified>
</cp:coreProperties>
</file>