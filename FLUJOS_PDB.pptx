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0" y="0"/>
            <a:ext cx="54864" cy="68580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PropDatabase CRM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Capital Markets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17373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de Flujo de Datos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219456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Procesos PDB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297680" y="32004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Gane-Sarson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297680" y="3840480"/>
            <a:ext cx="1097280" cy="0"/>
          </a:xfrm>
          <a:prstGeom prst="line">
            <a:avLst/>
          </a:prstGeom>
          <a:noFill/>
          <a:ln w="3175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41148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técnico de referencia interno: cada proceso del CRM se describe con un diagrama de flujo de datos (DFD) según la notación clásica Gane-Sarson — procesos numerados, entidades externas, almacenes de datos abiertos a la derecha y flujos de datos etiquetados.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53492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55778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5577840"/>
            <a:ext cx="1280160" cy="14630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572414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52160" y="5577840"/>
            <a:ext cx="128016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0" y="55778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 ext.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5577840"/>
            <a:ext cx="292608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557784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699248" y="5577840"/>
            <a:ext cx="987552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99248" y="6035040"/>
            <a:ext cx="987552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54112" y="5577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Gane-Sarson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Convenciones notacionales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lectura de los diagramas siguientes se basa en estos cuatro símbolos.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664208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664208"/>
            <a:ext cx="164592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6642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" y="20299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Cualificar Lead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1645920"/>
            <a:ext cx="2894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1938528"/>
            <a:ext cx="28940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del sistema o usuario que transforma entradas en salidas. Se numera (P1, P2…) y siempre lleva un verbo en su nombre. Opcionalmente incluye el actor responsable.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1636" y="148132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05956" y="1755648"/>
            <a:ext cx="16459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42532" y="1792224"/>
            <a:ext cx="157276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97396" y="1755648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516" y="1645920"/>
            <a:ext cx="2894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 externa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00516" y="1938528"/>
            <a:ext cx="28940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o destino de datos fuera del sistema. Por ejemplo: Cliente, Banco, Notario, Microsoft Dynamics. No se descompone — son fronteras del sistema.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12724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493008"/>
            <a:ext cx="384048" cy="640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93008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15568" y="3493008"/>
            <a:ext cx="181051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5568" y="34930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5568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88720" y="349300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926080" y="3291840"/>
            <a:ext cx="2894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 de datos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926080" y="3584448"/>
            <a:ext cx="28940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donde se almacena información persistente. Se identifica con D1, D2… El símbolo es un rectángulo abierto a la derecha (puede leerse y escribirse).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31636" y="312724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97396" y="3767328"/>
            <a:ext cx="201168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688836" y="36484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88836" y="36484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la oferta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700516" y="3291840"/>
            <a:ext cx="2894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datos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700516" y="3584448"/>
            <a:ext cx="28940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de información entre dos elementos. La flecha indica el sentido y la etiqueta nombra exactamente qué dato concreto viaja por ahí.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413248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48640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LECTURA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0080" y="5687568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Todo flujo entra o sale de un proceso (no hay flujos directos entre almacenes ni entre entidades externas).  · Cada proceso tiene al menos un flujo de entrada y uno de salida.  · El nombre del flujo describe el dato que viaja, no el medio (decir "datos del lead", no "email").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entidades externas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actores y sistemas que interactúan con el CRM desde fuera de su frontera.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151790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53619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/ Empresa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72821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que busca espacio (arrendatario potencial)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48132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8212" y="151790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153619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 / Inversor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4516" y="172821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del activo o inversor con interés en producto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07568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3776" y="211226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13055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Dynamics 365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232257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maestro de Cuentas, Contactos, E. Legales, Oportunidades, Instrucciones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31636" y="207568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8212" y="211226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4516" y="213055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portales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14516" y="232257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Savills, Idealista, Habitaclia, Belbex, LinkedIn (origen de leads)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67004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270662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72491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· APIs urbanísticas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291693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catastrales, edificabilidad, certificaciones ESG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267004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68212" y="270662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14516" y="272491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14516" y="291693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Geocodificación, mapa, distancia a transportes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26440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3776" y="330098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31927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· Notaría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351129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contractual y firma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31636" y="326440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68212" y="330098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4516" y="331927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legal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14516" y="351129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 bueno contractual antes de Instrucción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385876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389534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391363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comercial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0080" y="410565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operativo que ejecuta el ciclo en el CRM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31636" y="3858768"/>
            <a:ext cx="5500116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8212" y="3895344"/>
            <a:ext cx="5426964" cy="429768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4755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4516" y="3913632"/>
            <a:ext cx="51343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· Director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14516" y="4105656"/>
            <a:ext cx="513435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de mandatos, propuestas y pricing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almacenes de datos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persistentes del CRM. Algunos viven en PDB (Supabase), otros en Microsoft Dynamics.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35608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35608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" y="1435608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43560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185623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1435608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51476" y="1508760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1476" y="1508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31636" y="1435608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1636" y="1435608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15684" y="1435608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5684" y="143560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15684" y="185623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8836" y="1435608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725912" y="1508760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2563EB">
              <a:alpha val="13000"/>
            </a:srgbClr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25912" y="1508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1929384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1929384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1248" y="1929384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192938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235000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1929384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51476" y="2002536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2563EB">
              <a:alpha val="13000"/>
            </a:srgbClr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1476" y="20025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31636" y="1929384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31636" y="1929384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15684" y="1929384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15684" y="192938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5684" y="235000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88836" y="1929384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Legales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725912" y="2002536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2563EB">
              <a:alpha val="13000"/>
            </a:srgbClr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25912" y="20025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423160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2423160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41248" y="2423160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" y="242316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1248" y="284378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2423160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951476" y="2496312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2563EB">
              <a:alpha val="13000"/>
            </a:srgbClr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51476" y="24963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31636" y="2423160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31636" y="2423160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615684" y="2423160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615684" y="242316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5684" y="284378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88836" y="2423160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725912" y="2496312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2563EB">
              <a:alpha val="13000"/>
            </a:srgbClr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725912" y="24963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2916936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2916936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D7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41248" y="2916936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1248" y="2916936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1248" y="333756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2916936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951476" y="2990088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51476" y="2990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231636" y="2916936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31636" y="2916936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D8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615684" y="2916936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615684" y="2916936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615684" y="333756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688836" y="2916936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· plantas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0725912" y="2990088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725912" y="2990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57200" y="3410712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3410712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D9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41248" y="3410712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1248" y="341071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41248" y="3831336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14400" y="3410712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4951476" y="3483864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51476" y="34838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231636" y="3410712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231636" y="3410712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D10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615684" y="3410712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15684" y="341071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615684" y="3831336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88836" y="3410712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10725912" y="3483864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725912" y="34838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57200" y="3904488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57200" y="3904488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D11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841248" y="3904488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41248" y="390448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41248" y="432511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14400" y="3904488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4951476" y="3977640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51476" y="3977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231636" y="3904488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31636" y="3904488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D12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615684" y="3904488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615684" y="390448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615684" y="4325112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688836" y="3904488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Negociaciones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10725912" y="3977640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725912" y="3977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457200" y="4398264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7200" y="4398264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D13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841248" y="4398264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41248" y="439826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41248" y="481888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14400" y="4398264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Mandatos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951476" y="4471416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951476" y="44714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6231636" y="4398264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231636" y="4398264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D14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615684" y="4398264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615684" y="439826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615684" y="4818888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688836" y="4398264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/ Proyectos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10725912" y="4471416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725912" y="44714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457200" y="4892040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7200" y="4892040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D15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41248" y="4892040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41248" y="489204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841248" y="531266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14400" y="4892040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Vencimientos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4951476" y="4965192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951476" y="4965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6231636" y="4892040"/>
            <a:ext cx="384048" cy="420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231636" y="4892040"/>
            <a:ext cx="384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D16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6615684" y="4892040"/>
            <a:ext cx="401878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615684" y="4892040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615684" y="5312664"/>
            <a:ext cx="4018788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88836" y="4892040"/>
            <a:ext cx="38999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· Tareas</a:t>
            </a:r>
            <a:endParaRPr lang="en-US" sz="1050" dirty="0"/>
          </a:p>
        </p:txBody>
      </p:sp>
      <p:sp>
        <p:nvSpPr>
          <p:cNvPr id="136" name="Shape 134"/>
          <p:cNvSpPr/>
          <p:nvPr/>
        </p:nvSpPr>
        <p:spPr>
          <a:xfrm>
            <a:off x="10725912" y="4965192"/>
            <a:ext cx="914400" cy="274320"/>
          </a:xfrm>
          <a:prstGeom prst="roundRect">
            <a:avLst>
              <a:gd name="adj" fmla="val 13333"/>
            </a:avLst>
          </a:prstGeom>
          <a:solidFill>
            <a:srgbClr val="15803D">
              <a:alpha val="13000"/>
            </a:srgbClr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725912" y="4965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Nivel 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CRM como una sola caja, rodeado por las entidades externas que intercambian datos con él.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39996" y="3035808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1f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39996" y="3035808"/>
            <a:ext cx="31089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7156" y="30358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39996" y="303580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CRM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39996" y="349300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Database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118872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50976" y="122529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11887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69680" y="118872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06256" y="122529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0" y="11887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539496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0976" y="543153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53949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portales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539496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06256" y="543153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0" y="53949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 365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12080" y="77724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248656" y="81381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0" y="7772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212080" y="5852160"/>
            <a:ext cx="23774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248656" y="5888736"/>
            <a:ext cx="230428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0" y="58521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/ Notaría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91840" y="1554480"/>
            <a:ext cx="1431036" cy="175564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3092958" y="231343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2958" y="231343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5756" y="3493008"/>
            <a:ext cx="-1613916" cy="-170992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3184398" y="270205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84398" y="27020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69680" y="1554480"/>
            <a:ext cx="-1403604" cy="175564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7253478" y="231343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53478" y="231343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83196" y="3493008"/>
            <a:ext cx="1586484" cy="-170992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162038" y="270205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62038" y="27020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arrendatario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5760720"/>
            <a:ext cx="1431036" cy="-171907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3092958" y="478231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92958" y="47823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capturado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66076" y="4041648"/>
            <a:ext cx="1403604" cy="171907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7253478" y="478231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53478" y="47823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Op./Instr.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69680" y="6035040"/>
            <a:ext cx="-1586484" cy="-1810512"/>
          </a:xfrm>
          <a:prstGeom prst="line">
            <a:avLst/>
          </a:prstGeom>
          <a:noFill/>
          <a:ln w="13970">
            <a:solidFill>
              <a:srgbClr val="64748B"/>
            </a:solidFill>
            <a:prstDash val="dash"/>
            <a:tailEnd type="arrow"/>
          </a:ln>
        </p:spPr>
      </p:sp>
      <p:sp>
        <p:nvSpPr>
          <p:cNvPr id="53" name="Shape 51"/>
          <p:cNvSpPr/>
          <p:nvPr/>
        </p:nvSpPr>
        <p:spPr>
          <a:xfrm>
            <a:off x="7162038" y="523951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62038" y="52395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registros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94476" y="1508760"/>
            <a:ext cx="0" cy="1481328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5180076" y="213055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80076" y="2130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operativas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94476" y="4361688"/>
            <a:ext cx="0" cy="1490472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9" name="Shape 57"/>
          <p:cNvSpPr/>
          <p:nvPr/>
        </p:nvSpPr>
        <p:spPr>
          <a:xfrm>
            <a:off x="5180076" y="4988052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80076" y="49880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firmado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57200" y="6099048"/>
            <a:ext cx="112745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0 muestra la frontera del sistema. Los procesos internos se descomponen a partir del nivel 1.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Nivel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nivel 1 — vista general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11 procesos principales del CRM y sus interacciones con los almacenes de datos.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0956" y="152704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90956" y="152704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396" y="152704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" y="18928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Lead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34156" y="152704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34156" y="152704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5596" y="152704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25596" y="18928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Cualificar y Transformar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7356" y="152704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77356" y="152704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68796" y="152704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68796" y="18928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Activo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20556" y="152704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20556" y="152704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11996" y="152704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11996" y="18928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Stacking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0956" y="299008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90956" y="299008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" y="299008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82396" y="33558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Oferta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34156" y="299008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4156" y="299008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25596" y="299008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25596" y="33558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 Demanda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77356" y="299008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77356" y="299008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8796" y="299008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68796" y="33558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Matching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20556" y="299008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020556" y="299008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11996" y="299008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P8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11996" y="33558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Visita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90956" y="445312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90956" y="445312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2396" y="44531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82396" y="48188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534156" y="445312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534156" y="445312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25596" y="44531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25596" y="48188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Instrucción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277356" y="4453128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277356" y="445312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68796" y="44531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P11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368796" y="48188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Vencimiento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168396" y="1938528"/>
            <a:ext cx="3657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5911596" y="1938528"/>
            <a:ext cx="3657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8654796" y="1938528"/>
            <a:ext cx="3657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1979676" y="2350008"/>
            <a:ext cx="0" cy="6400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9" name="Shape 57"/>
          <p:cNvSpPr/>
          <p:nvPr/>
        </p:nvSpPr>
        <p:spPr>
          <a:xfrm>
            <a:off x="4722876" y="2350008"/>
            <a:ext cx="0" cy="6400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1979676" y="3813048"/>
            <a:ext cx="0" cy="6400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1" name="Shape 59"/>
          <p:cNvSpPr/>
          <p:nvPr/>
        </p:nvSpPr>
        <p:spPr>
          <a:xfrm>
            <a:off x="5911596" y="4864608"/>
            <a:ext cx="3657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2" name="Shape 60"/>
          <p:cNvSpPr/>
          <p:nvPr/>
        </p:nvSpPr>
        <p:spPr>
          <a:xfrm>
            <a:off x="457200" y="5733288"/>
            <a:ext cx="11274552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" y="582472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proceso se descompone en su propio DFD nivel 2 en las siguientes diapositivas (07–17).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P1 — Capturar Lead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Lead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 un lead al sistema y queda almacenado para cualificación posterior.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portales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17296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320954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17296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3308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68096" y="416966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13308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738360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38360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38360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11512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D16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P1.1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Recibir entrada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P1.2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canal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P1.3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registro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257860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· email · click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26080" y="3538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directa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4498848"/>
            <a:ext cx="2025396" cy="-2103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manual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crudos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+ tipo sugerido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nuevo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"lead creado"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entrada (web, portal, llamada, email, recomendación) se canaliza por P1.1. P1.2 detecta el canal y propone tipo (Demanda/Oferta/Servicio). P1.3 persiste el registro en D1 y deja rastro en D16 (actividad de tipo "captura").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P2 — Cualificar y Transformar Lead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Cualificación · Transformación a Oportunidad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broker cualifica el lead, lo vincula a Cuenta/Contacto y lanza el handoff a Dynamics.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21284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15568" y="221284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2128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29443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21284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15568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5568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8720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354312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90888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5752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Dynamics 365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P2.1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Cualificar lead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P2.2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Cta./Cont.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P2.3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handoff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926080" y="257860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candidato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3538728"/>
            <a:ext cx="2025396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existente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6080" y="4498848"/>
            <a:ext cx="2025396" cy="-960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024378" y="38999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24378" y="38999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existente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cualificado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+ Cta/Cont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oportunidad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1548872" y="3058668"/>
            <a:ext cx="-2194560" cy="960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9537192" y="3511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37192" y="3511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creada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P2.1 ejecuta cualificación BANT (presupuesto, autoridad, necesidad, plazo). P2.2 obliga a vincular Cuenta o Contacto antes de continuar. P2.3 abre Dynamics con datos preasignados; el broker completa allí y la Oportunidad sincroniza de vuelta al PDB.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P3 — Gestionar Activo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Activo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del activo, vinculación opcional con propietario y enriquecimiento de información.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· APIs urbanísticas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17296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320954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17296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3308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68096" y="416966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13308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738360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38360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38360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11512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P3.1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del activo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P3.2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Enriquecer datos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P3.3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cuenta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2578608"/>
            <a:ext cx="2025396" cy="960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3024378" y="29397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24378" y="29397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ref. catastral · ESG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26080" y="3538728"/>
            <a:ext cx="2025396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· dirección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4498848"/>
            <a:ext cx="2025396" cy="-2103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básicos del activo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nuevo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enriquecido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persistido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cuenta-propietario (opcional)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es independiente: P3.1 puede crear el registro sin propietario. P3.2 sincroniza con Catastro y Google Maps. P3.3 vincula la Cuenta-Propietario cuando se conozca (FK opcional, recomendado).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P4 — Construir Stacking Plan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del Stacking Plan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la distribución física del edificio: plantas, usos, propietarios, arrendatarios.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15568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5568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15568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5568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38360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38360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11512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· plantas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P4.1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edif.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P4.2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usos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P4.3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ocupantes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257860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sup. planta · sobre/bajo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26080" y="3538728"/>
            <a:ext cx="2025396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34198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activo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4498848"/>
            <a:ext cx="2025396" cy="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4471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4471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vivas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plantas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por planta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4681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stacking_data persistido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P4.1 crea la estructura del edificio (plantas sobre rasante, sótanos, sup. planta tipo). P4.2 asigna uso a cada planta. P4.3 mapea propietarios y arrendatarios. El componente es único: se accede igual desde Activo y Oferta.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P5 — Publicar Oferta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de Oferta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la oferta sobre un activo y publicación al mercado.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17296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320954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17296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738360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38360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38360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11512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D8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· plantas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P5.1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oferta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P5.2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esp./renta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P5.3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y publicar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926080" y="257860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comerciales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3538728"/>
            <a:ext cx="2025396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 bueno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4498848"/>
            <a:ext cx="2025396" cy="-2103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3328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+ stacking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borrador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completa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publicada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reservadas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cuelga del Activo (FK obligatorio). P5.2 define superficie, renta, condiciones. La aprobación del Manager (P5.3) es opcional según política. Al publicar, las unidades del stacking se marcan como "ofertadas".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P6 — Captar Demanda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Demanda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estructurado de lo que un Cliente busca: uso, superficie, renta máxima, zona.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73278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176936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73278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15568" y="461314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5568" y="46131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53446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8720" y="461314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38360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38360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11512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P6.1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Recoger requisitos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P6.2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perfil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P6.3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Persistir demanda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926080" y="2098548"/>
            <a:ext cx="2025396" cy="297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212826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212826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 concreta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305866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con cliente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4018788"/>
            <a:ext cx="2025396" cy="-480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36598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36598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cuenta-arrendatario (FK)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6080" y="4978908"/>
            <a:ext cx="2025396" cy="-297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024378" y="471144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24378" y="471144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(FK opcional)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en bruto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validada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4681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activa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exige Cuenta-Arrendatario (FK obligatorio). P6.1 recoge uso, superficie, renta máx., zona, break option. P6.2 valida coherencia (rangos sensatos, zonas existentes). Si hay Oportunidad vinculada, la Cuenta se hereda.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P7 — Matching Oferta ↔ Demanda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Oferta ↔ Demanda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flexible entre demanda y ofertas vigentes. Genera shortlist priorizada.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15568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D9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54312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90888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5752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/ Proyectos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P7.1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requisitos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P7.2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flexibilidad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P7.3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shortlist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305866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búsqueda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26080" y="401878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activas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estrictos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+ flexible + alternativas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visual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persistida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P7.1 filtra estricto (uso, sup., renta máx., zona). P7.2 amplía con tres bandas: cumple requisitos, flexible (±10–20%), alternativas razonables. P7.3 deja al broker priorizar antes de enviar al Cliente.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P8 — Realizar Visita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y feedback de Visita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física del espacio · captura de feedback comercial estructurado.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73278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176936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73278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D9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15568" y="461314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5568" y="46131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53446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8720" y="461314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54312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38360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38360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11512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D16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P8.1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visita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P8.2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visita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P8.3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feedback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926080" y="2098548"/>
            <a:ext cx="2025396" cy="297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212826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212826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· asistentes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6080" y="3058668"/>
            <a:ext cx="2025396" cy="480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024378" y="31798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24378" y="31798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 confirmada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926080" y="401878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 visitar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26080" y="4978908"/>
            <a:ext cx="2025396" cy="-2583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3024378" y="356844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024378" y="356844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asociada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programada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realizada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5" name="Shape 73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+ feedback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8" name="Shape 76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de visita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visita queda vinculada a Oferta + Demanda + responsable. El feedback (interés, objeciones, valoración) alimenta la cualificación posterior. Si el interés es alto → Negociación. Si bajo → ajustar matching o descartar.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P9 — Negociar condiciones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 · hilo formal de condiciones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Intercambio versionado de condiciones entre las partes hasta acuerdo.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73278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176936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73278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65302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68096" y="368960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65302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61314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15568" y="461314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5568" y="46131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" y="53446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461314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269290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390888" y="272948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45752" y="269290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Dynamics 365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54312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38360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38360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11512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Negociaciones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P9.1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hilo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P9.2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Iterar contraofertas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P9.3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· Prop.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acuerdo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926080" y="2098548"/>
            <a:ext cx="2025396" cy="1440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3024378" y="269976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4378" y="269976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cliente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0" y="305866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desde Op.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4018788"/>
            <a:ext cx="2025396" cy="-480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36598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36598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contraoferta propietario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6080" y="4978908"/>
            <a:ext cx="2025396" cy="-25831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024378" y="356844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24378" y="356844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(FK obl.)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 abierto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finales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468172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27214" y="3751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 cerrada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328916" y="468172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27214" y="4231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#2 (instrucción)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P9.1 requiere Oportunidad (FK obligatorio). P9.2 mantiene tabla evolutiva con cada ronda y diff de borradores. P9.3 dispara handoff a Dynamics para crear la Instrucción — no existe contrato sin ese paso.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P10 — Cerrar Instrucción · Transacción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Instrucción · facturación · cierre formal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contractual y registro de la facturación contra Entidad Legal.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1284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21284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15568" y="221284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2128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29443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21284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15568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5568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8720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Legales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354312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90888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5752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Dynamics 365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354312" y="317296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390888" y="320954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5752" y="317296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· Notaría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54312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54312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738360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38360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738360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11512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P10.1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Instrucción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P10.2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· Notario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contrato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P10.3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honorarios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926080" y="257860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2368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acordadas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6080" y="3538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024378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24378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madre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926080" y="4498848"/>
            <a:ext cx="2025396" cy="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3024378" y="4471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24378" y="4471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 · fiscalidad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instrucción borrador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firmado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328916" y="4681728"/>
            <a:ext cx="2025396" cy="-2103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7427214" y="3511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27214" y="3511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registro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328916" y="4681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5" name="Shape 73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pago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328916" y="468172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8" name="Shape 76"/>
          <p:cNvSpPr/>
          <p:nvPr/>
        </p:nvSpPr>
        <p:spPr>
          <a:xfrm>
            <a:off x="7427214" y="4471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27214" y="4471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instrucción cerrada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P10.1 crea la Instrucción en Dynamics (sistema maestro). P10.2 formaliza el contrato (banco/notaría). P10.3 calcula y emite honorarios contra la Entidad Legal correspondiente. Esto cierra el ciclo y registra revenue.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P11 — Detectar Vencimiento · Reactivar ciclo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Vencimientos · reactivación del ciclo comercial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45752" y="585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DFD nivel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automático de detección de break/fin de contrato y disparo de acción comercial.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69290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9290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15568" y="269290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6929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34244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69290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5302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15568" y="365302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65302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5568" y="438454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365302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· plantas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54312" y="2212848"/>
            <a:ext cx="21945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10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90888" y="2249424"/>
            <a:ext cx="2121408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5752" y="22128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317296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38360" y="317296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38360" y="317296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39044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11512" y="317296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Vencimientos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354312" y="4133088"/>
            <a:ext cx="38404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54312" y="4133088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738360" y="4133088"/>
            <a:ext cx="181051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38360" y="413308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38360" y="4864608"/>
            <a:ext cx="181051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11512" y="4133088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951476" y="2007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951476" y="2007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P11.1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42916" y="2007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2916" y="2372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fechas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51476" y="3150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951476" y="3150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P11.2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42916" y="3150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042916" y="3515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alerta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951476" y="4293108"/>
            <a:ext cx="23774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18">
                <a:alpha val="7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951476" y="4293108"/>
            <a:ext cx="237744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P11.3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042916" y="42931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042916" y="46588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Disparar acción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926080" y="3058668"/>
            <a:ext cx="2025396" cy="-66294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24378" y="260832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break · fin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4018788"/>
            <a:ext cx="2025396" cy="-162306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24378" y="308838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arrendatarios actuales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28916" y="2395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25796" y="2848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próximos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28916" y="3538728"/>
            <a:ext cx="-2377440" cy="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3" name="Shape 61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225796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+ días restantes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28916" y="4681728"/>
            <a:ext cx="2025396" cy="-210312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7427214" y="351129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27214" y="351129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vencimiento detectado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28916" y="4681728"/>
            <a:ext cx="2025396" cy="-114300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27214" y="399135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oportunidad (renov./reloc.)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328916" y="4681728"/>
            <a:ext cx="2025396" cy="-18288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7427214" y="447141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27214" y="4471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broker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57200" y="5687568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" y="5760720"/>
            <a:ext cx="10908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40080" y="596188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P11.1 corre periódicamente revisando fechas de contratos vivos. P11.2 emite alertas con días restantes. P11.3 deja al broker decidir: renovación (update Dynamics) o nueva Oportunidad (relocation, tenant alternativo, salida).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17352" y="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6019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Savills · PDB CRM · 2026 · Notación Gane-Sarson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74152" y="6601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— uso interno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521208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Vínculos críticos · Regla de oro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042416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reglas duras de integridad referencial que mantienen el sistema coherente.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72768"/>
            <a:ext cx="3636264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18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572768"/>
            <a:ext cx="36362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7556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85800" y="2258568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+ Cuenta-Propietario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761488"/>
            <a:ext cx="3179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Activo puede existir sin Cuenta, pero vincularlo desbloquea la vista 360º del Propietario, el cross-selling, el reporting agregado y la facturación. Activo sin Cuenta = dato incompleto.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76344" y="1572768"/>
            <a:ext cx="3636264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7706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18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76344" y="1572768"/>
            <a:ext cx="363626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4944" y="17556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04944" y="2258568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+ Cuenta-Arrendatario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04944" y="2761488"/>
            <a:ext cx="3179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Demanda sin Cuenta-Arrendatario. La Cuenta es el origen del interés comercial y permite segmentar, hacer reporting y mantener trazabilidad cuando la búsqueda evoluciona.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95488" y="1572768"/>
            <a:ext cx="3636264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18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95488" y="1572768"/>
            <a:ext cx="3636264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4088" y="17556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324088" y="2258568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+ Demanda + Activo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24088" y="2761488"/>
            <a:ext cx="3179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Oferta debe colgar de un Activo. La Demanda machea siempre contra Ofertas vivas. El triángulo Oferta-Demanda-Activo es la unidad mínima que permite cerrar una operación.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0B1F3F"/>
          </a:solidFill>
          <a:ln w="12700">
            <a:solidFill>
              <a:srgbClr val="0B1F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4531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4773168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Activo sin Cuenta-Propietario. Ninguna Demanda sin Cuenta-Arrendatario. Ninguna Oferta sin ambas.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Savills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PDB CRM · DFD Gane-Sarson</dc:title>
  <dc:subject>PptxGenJS Presentation</dc:subject>
  <dc:creator>Savills · PDB Team</dc:creator>
  <cp:lastModifiedBy>Savills · PDB Team</cp:lastModifiedBy>
  <cp:revision>1</cp:revision>
  <dcterms:created xsi:type="dcterms:W3CDTF">2026-04-28T06:32:39Z</dcterms:created>
  <dcterms:modified xsi:type="dcterms:W3CDTF">2026-04-28T06:32:39Z</dcterms:modified>
</cp:coreProperties>
</file>