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4864" cy="6858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PropDatabase CRM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Capital Markets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309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0" y="20116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Procesos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4688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conectan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módulos del CRM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297680" y="4297680"/>
            <a:ext cx="1097280" cy="0"/>
          </a:xfrm>
          <a:prstGeom prst="line">
            <a:avLst/>
          </a:prstGeom>
          <a:noFill/>
          <a:ln w="317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45720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referencia interno que describe los flujos comerciales del CRM, las dependencias entre módulos y las reglas de gobierno entre PropDatabase y Microsoft Dynamics 365.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procesos clave del ciclo comercial PDB, conectados de extremo a extremo.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137160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57276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· Instrucción · Cuenta vs Entidad Legal · Activo vs Oferta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77356" y="13716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80276" y="137160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dependencias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80276" y="157276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entidad cuelga de qué: jerarquía y FKs obligatorios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1920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192024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comercial completo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12140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Cuenta → Activo/Oferta/Demanda → Negociación → Instrucción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77356" y="19202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80276" y="192024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origen del funnel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80276" y="212140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automática y cualificación previa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2468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60" y="246888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Contactos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67004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relacional · Dynamics como sistema maestro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77356" y="246888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80276" y="246888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(WIP)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80276" y="267004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paraguas comercial, 0–100% probabilidad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0175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051560" y="301752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51560" y="321868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física · puede existir sin propietario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77356" y="30175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80276" y="301752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80276" y="321868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búsqueda · matching contra Ofertas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35661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51560" y="356616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51560" y="376732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comercial · cuelga del Activo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77356" y="35661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780276" y="356616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80276" y="376732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formal · tabla evolutiva de versiones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41148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51560" y="411480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/ Transacción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51560" y="431596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formal · facturación contra Entidad Legal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77356" y="411480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780276" y="4114800"/>
            <a:ext cx="486003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Mandatos · Propuestas · Vencimientos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80276" y="4315968"/>
            <a:ext cx="4860036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derivados que cuelgan de Oportunidad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Conceptos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Conceptos clave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pares de conceptos que sostienen toda la arquitectura del CRM.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417320"/>
            <a:ext cx="540867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417320"/>
            <a:ext cx="5408676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58191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1984248"/>
            <a:ext cx="49514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comercial · Microsoft Dynamics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2258568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registro con posibilidad real de generar facturación, desde 0% a 100% de probabilidad. Cubre advisory, valoración, captación, leasing, venta y consultoría. Vive obligatoriamente en Dynamics; el PDB consume y enriquece.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31636" y="1417320"/>
            <a:ext cx="540867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31636" y="1417320"/>
            <a:ext cx="5408676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236" y="158191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60236" y="1984248"/>
            <a:ext cx="49514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formal · Revenue real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60236" y="2258568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Facturación cerrada: fee, honorarios, formalización contractual. Frontera entre WIP y revenue. Se factura siempre contra una Entidad Legal, no contra la Cuenta. La Instrucción se origina en Dynamics y se refleja en PDB en lectura.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40867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57600"/>
            <a:ext cx="5408676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82219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vs Entidad Legal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" y="4224528"/>
            <a:ext cx="49514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vs fiscalidad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4498848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= matriz comercial (Samsung, Merlin, Inditex). Entidad Legal = sociedad fiscal con CIF/NIF (Merlin Offices SL, Merlin Logistics SL). Las Entidades Legales cuelgan de la Cuenta. Facturación → Entidad Legal.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1636" y="3657600"/>
            <a:ext cx="5408676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31636" y="3657600"/>
            <a:ext cx="5408676" cy="457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0236" y="3822192"/>
            <a:ext cx="49514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vs Oferta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460236" y="4224528"/>
            <a:ext cx="49514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vs disponibilidad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60236" y="4498848"/>
            <a:ext cx="49514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= inmueble físico (dato maestro). Oferta = disponibilidad comercializable que cuelga del Activo. La disponibilidad NUNCA se almacena en el Activo; sí puede mostrarse como KPI agregado derivado de las Ofertas vinculadas.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Jerarquía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dependencias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anidan las entidades y qué FKs son obligatorios para cada flujo.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371600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325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(read-only)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0" y="1371600"/>
            <a:ext cx="164592" cy="1645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325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(operativo)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1371600"/>
            <a:ext cx="164592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1325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crítico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0" y="1371600"/>
            <a:ext cx="164592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3258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opcional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1874520"/>
            <a:ext cx="3657600" cy="420624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2563E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" y="1920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· Sistema maestro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28600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28600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2359152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77824" y="2651760"/>
            <a:ext cx="309067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comercial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297180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297180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3044952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77824" y="3337560"/>
            <a:ext cx="309067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asociadas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31520" y="365760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65760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3730752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 Legal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77824" y="4023360"/>
            <a:ext cx="309067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 con CIF · facturación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31520" y="434340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1520" y="434340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416552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77824" y="4709160"/>
            <a:ext cx="309067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comercial 0–100%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31520" y="502920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" y="5029200"/>
            <a:ext cx="54864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5102352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877824" y="5394960"/>
            <a:ext cx="309067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formal · revenue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1874520"/>
            <a:ext cx="6976872" cy="420624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15803D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4754880" y="1920240"/>
            <a:ext cx="6793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 · Sistema operativo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228600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46320" y="2286000"/>
            <a:ext cx="54864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92624" y="235915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992624" y="2651760"/>
            <a:ext cx="299923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física (independiente)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297180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2971800"/>
            <a:ext cx="54864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92624" y="3044952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992624" y="3337560"/>
            <a:ext cx="130759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/ unidades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537960" y="2971800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537960" y="2971800"/>
            <a:ext cx="54864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84264" y="3044952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684264" y="3337560"/>
            <a:ext cx="130759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46320" y="3657600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46320" y="3657600"/>
            <a:ext cx="54864" cy="5029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92624" y="373075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992624" y="4023360"/>
            <a:ext cx="2999232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búsqueda · cuelga de Cuenta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46320" y="4343400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46320" y="4343400"/>
            <a:ext cx="54864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92624" y="4416552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992624" y="4709160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cuelga de Op.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537960" y="4343400"/>
            <a:ext cx="15087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537960" y="4343400"/>
            <a:ext cx="54864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684264" y="4416552"/>
            <a:ext cx="13075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6684264" y="4709160"/>
            <a:ext cx="130759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+ Of + Activo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46320" y="5029200"/>
            <a:ext cx="32004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846320" y="5029200"/>
            <a:ext cx="54864" cy="5943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92624" y="510235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/ Proyecto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4992624" y="5394960"/>
            <a:ext cx="2999232" cy="210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cuelga de Op.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023360" y="2587752"/>
            <a:ext cx="822960" cy="0"/>
          </a:xfrm>
          <a:prstGeom prst="line">
            <a:avLst/>
          </a:prstGeom>
          <a:noFill/>
          <a:ln w="19050">
            <a:solidFill>
              <a:srgbClr val="B91C1C"/>
            </a:solidFill>
            <a:prstDash val="solid"/>
            <a:tailEnd type="arrow"/>
          </a:ln>
        </p:spPr>
      </p:sp>
      <p:sp>
        <p:nvSpPr>
          <p:cNvPr id="71" name="Text 69"/>
          <p:cNvSpPr/>
          <p:nvPr/>
        </p:nvSpPr>
        <p:spPr>
          <a:xfrm>
            <a:off x="4069080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crítico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548640" y="594360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es independiente: puede existir sin Cuenta-Propietario vinculada. Stacking Plan se construye igual. Oferta sí requiere Activo.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End-to-end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comercial completo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→ Cuenta → Activo + Oferta + Demanda → Match → Oportunidad → Negociación → Instrucción → Transacción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463040"/>
            <a:ext cx="1645920" cy="77724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D9770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0080" y="1508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645920"/>
            <a:ext cx="14630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1645920"/>
            <a:ext cx="54864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" y="1517904"/>
            <a:ext cx="292608" cy="292608"/>
          </a:xfrm>
          <a:prstGeom prst="ellipse">
            <a:avLst/>
          </a:prstGeom>
          <a:solidFill>
            <a:srgbClr val="D977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517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171907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86384" y="2011680"/>
            <a:ext cx="1261872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0" y="1691640"/>
            <a:ext cx="9262872" cy="118872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2563E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468880" y="1737360"/>
            <a:ext cx="9079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201168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0" y="20116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32304" y="188366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32304" y="1883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06624" y="208483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06624" y="2377440"/>
            <a:ext cx="126187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de verdad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49440" y="201168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20116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21424" y="188366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21424" y="1883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095744" y="208483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95744" y="2377440"/>
            <a:ext cx="126187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· handoff #1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149840" y="201168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149840" y="20116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21824" y="1883664"/>
            <a:ext cx="292608" cy="292608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21824" y="1883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296144" y="208483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0296144" y="2377440"/>
            <a:ext cx="126187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#2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77440" y="3246120"/>
            <a:ext cx="9262872" cy="1280160"/>
          </a:xfrm>
          <a:prstGeom prst="rect">
            <a:avLst/>
          </a:prstGeom>
          <a:solidFill>
            <a:srgbClr val="FFFFFF">
              <a:alpha val="70000"/>
            </a:srgbClr>
          </a:solidFill>
          <a:ln w="6350">
            <a:solidFill>
              <a:srgbClr val="15803D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2468880" y="3291840"/>
            <a:ext cx="90799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56616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60320" y="3566160"/>
            <a:ext cx="54864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32304" y="3438144"/>
            <a:ext cx="292608" cy="292608"/>
          </a:xfrm>
          <a:prstGeom prst="ellipse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3230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06624" y="363931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706624" y="3931920"/>
            <a:ext cx="107899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023360" y="356616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023360" y="3566160"/>
            <a:ext cx="54864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95344" y="3438144"/>
            <a:ext cx="292608" cy="292608"/>
          </a:xfrm>
          <a:prstGeom prst="ellipse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9534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169664" y="363931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169664" y="3931920"/>
            <a:ext cx="107899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0" y="356616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86400" y="3566160"/>
            <a:ext cx="54864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58384" y="3438144"/>
            <a:ext cx="292608" cy="292608"/>
          </a:xfrm>
          <a:prstGeom prst="ellipse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35838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32704" y="363931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632704" y="3931920"/>
            <a:ext cx="107899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949440" y="3566160"/>
            <a:ext cx="1280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949440" y="3566160"/>
            <a:ext cx="54864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821424" y="3438144"/>
            <a:ext cx="292608" cy="292608"/>
          </a:xfrm>
          <a:prstGeom prst="ellipse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2142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095744" y="3639312"/>
            <a:ext cx="107899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7095744" y="3931920"/>
            <a:ext cx="107899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↔ Dem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503920" y="356616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503920" y="3566160"/>
            <a:ext cx="54864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375904" y="3438144"/>
            <a:ext cx="292608" cy="292608"/>
          </a:xfrm>
          <a:prstGeom prst="ellipse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7590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8650224" y="363931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8650224" y="3931920"/>
            <a:ext cx="126187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0149840" y="3566160"/>
            <a:ext cx="14630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14">
                <a:alpha val="7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0149840" y="3566160"/>
            <a:ext cx="54864" cy="7772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21824" y="3438144"/>
            <a:ext cx="292608" cy="292608"/>
          </a:xfrm>
          <a:prstGeom prst="ellipse">
            <a:avLst/>
          </a:prstGeom>
          <a:solidFill>
            <a:srgbClr val="158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021824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10296144" y="3639312"/>
            <a:ext cx="126187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10296144" y="3931920"/>
            <a:ext cx="1261872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103120" y="1920240"/>
            <a:ext cx="457200" cy="45720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arrow"/>
          </a:ln>
        </p:spPr>
      </p:sp>
      <p:sp>
        <p:nvSpPr>
          <p:cNvPr id="77" name="Shape 75"/>
          <p:cNvSpPr/>
          <p:nvPr/>
        </p:nvSpPr>
        <p:spPr>
          <a:xfrm>
            <a:off x="1691640" y="202996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691640" y="20299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cualificación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91840" y="2788920"/>
            <a:ext cx="-91440" cy="777240"/>
          </a:xfrm>
          <a:prstGeom prst="line">
            <a:avLst/>
          </a:prstGeom>
          <a:noFill/>
          <a:ln w="25400">
            <a:solidFill>
              <a:srgbClr val="B91C1C"/>
            </a:solidFill>
            <a:prstDash val="solid"/>
            <a:tailEnd type="arrow"/>
          </a:ln>
        </p:spPr>
      </p:sp>
      <p:sp>
        <p:nvSpPr>
          <p:cNvPr id="80" name="Shape 78"/>
          <p:cNvSpPr/>
          <p:nvPr/>
        </p:nvSpPr>
        <p:spPr>
          <a:xfrm>
            <a:off x="2606040" y="305866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B91C1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606040" y="30586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Activo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840480" y="3950208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arrow"/>
          </a:ln>
        </p:spPr>
      </p:sp>
      <p:sp>
        <p:nvSpPr>
          <p:cNvPr id="83" name="Shape 81"/>
          <p:cNvSpPr/>
          <p:nvPr/>
        </p:nvSpPr>
        <p:spPr>
          <a:xfrm>
            <a:off x="5303520" y="3950208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arrow"/>
          </a:ln>
        </p:spPr>
      </p:sp>
      <p:sp>
        <p:nvSpPr>
          <p:cNvPr id="84" name="Shape 82"/>
          <p:cNvSpPr/>
          <p:nvPr/>
        </p:nvSpPr>
        <p:spPr>
          <a:xfrm>
            <a:off x="6766560" y="3950208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arrow"/>
          </a:ln>
        </p:spPr>
      </p:sp>
      <p:sp>
        <p:nvSpPr>
          <p:cNvPr id="85" name="Shape 83"/>
          <p:cNvSpPr/>
          <p:nvPr/>
        </p:nvSpPr>
        <p:spPr>
          <a:xfrm>
            <a:off x="7863840" y="3749040"/>
            <a:ext cx="-365760" cy="-96012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arrow"/>
          </a:ln>
        </p:spPr>
      </p:sp>
      <p:sp>
        <p:nvSpPr>
          <p:cNvPr id="86" name="Shape 84"/>
          <p:cNvSpPr/>
          <p:nvPr/>
        </p:nvSpPr>
        <p:spPr>
          <a:xfrm>
            <a:off x="7040880" y="315010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040880" y="31501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#1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680960" y="2788920"/>
            <a:ext cx="1280160" cy="77724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arrow"/>
          </a:ln>
        </p:spPr>
      </p:sp>
      <p:sp>
        <p:nvSpPr>
          <p:cNvPr id="89" name="Shape 87"/>
          <p:cNvSpPr/>
          <p:nvPr/>
        </p:nvSpPr>
        <p:spPr>
          <a:xfrm>
            <a:off x="7680960" y="305866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80960" y="30586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966960" y="3749040"/>
            <a:ext cx="548640" cy="-96012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  <a:tailEnd type="arrow"/>
          </a:ln>
        </p:spPr>
      </p:sp>
      <p:sp>
        <p:nvSpPr>
          <p:cNvPr id="92" name="Shape 90"/>
          <p:cNvSpPr/>
          <p:nvPr/>
        </p:nvSpPr>
        <p:spPr>
          <a:xfrm>
            <a:off x="9601200" y="315010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601200" y="315010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#2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0881360" y="2788920"/>
            <a:ext cx="0" cy="777240"/>
          </a:xfrm>
          <a:prstGeom prst="line">
            <a:avLst/>
          </a:prstGeom>
          <a:noFill/>
          <a:ln w="15875">
            <a:solidFill>
              <a:srgbClr val="2563EB"/>
            </a:solidFill>
            <a:prstDash val="solid"/>
            <a:tailEnd type="arrow"/>
          </a:ln>
        </p:spPr>
      </p:sp>
      <p:sp>
        <p:nvSpPr>
          <p:cNvPr id="95" name="Shape 93"/>
          <p:cNvSpPr/>
          <p:nvPr/>
        </p:nvSpPr>
        <p:spPr>
          <a:xfrm>
            <a:off x="10241280" y="3058668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0241280" y="3058668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8640" y="539496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31520" y="548640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NO es el origen del ciclo. Aparece como WIP cuando el Lead se cualifica y se vincula a una Cuenta. PDB lanza el handoff a Dynamics; Dynamics sincroniza el registro de vuelta para seguir operando en PDB.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Lead — origen del funnel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origen del funnel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automática desde web, portales, formularios, recomendaciones y campañas. Tres tipos: Demanda, Oferta, Servicio.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portales · LinkedIn · campañas · formularios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Demanda / Oferta / Servicio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Cualificación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· llamadas · validación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o Contacto (obligatorio)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9751162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a Dynamics · crea Oportunidad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Lead es el verdadero punto de entrada del funnel. La transformación a Oportunidad exige obligatoriamente Cuenta o Contacto vinculado — sin esto no se puede crear el registro maestro en Dynamics.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Cuentas y Contactos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Cuentas y Contactos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es la matriz comercial · Entidades Legales son las sociedades fiscales que cuelgan de ella · ambas viven en Dynamics.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Cuenta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fiscales y de contacto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PDB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Replicación lectura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5149901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Enriquecimiento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Contactos · actividades · histórico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360º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· ofertas · oportunidades · operaciones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· Arrendatario · Inversor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Cuenta es el núcleo relacional. Sobre ella se asientan tres roles posibles, no excluyentes: Propietario (cartera de activos), Arrendatario (demandas y contratos), Inversor (transacciones de capital). Las Entidades Legales (CIF/NIF) cuelgan como filiales fiscales.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Oportunidades — WIP comercial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— WIP comercial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registro que pueda generar facturación: leasing, venta, advisory, valoración, captación, consultoría. Vive en Dynamics.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Oport.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comercial real (lead cualif., match Of↔Dem, etc.)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"Crear oportunidad" → abre Dynamics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Text 21"/>
          <p:cNvSpPr/>
          <p:nvPr/>
        </p:nvSpPr>
        <p:spPr>
          <a:xfrm>
            <a:off x="5149901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maestro WIP en Dynamics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vuelta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visible en PDB · solo lectura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9751162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Vinculaciones · actividades · negociación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Oportunidad NO es un estadio del ciclo: es el paraguas. Desde 0% a 100% de probabilidad. Dynamics es el sistema maestro: PDB lanza la transición y consume el registro sincronizado.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Activo — base maestra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— base maestra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inmueble físico. Independiente: puede existir sin Cuenta-Propietario asignada. El Stacking Plan se construye igual.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Activo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· dirección · uso · SBA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Plan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 · unidades · usos · arr/prop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Cuenta-Propietario (opcional pero recomendado)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Oferta · disponibilidad al mercado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derivados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 · días en mercado (de Ofertas)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NO almacena disponibilidad. Esta vive siempre en la Oferta. La ficha del activo puede mostrar KPIs agregados (ocupación, renta promedio) calculados a partir de las Ofertas vinculadas, pero los datos no se persisten en el activo.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Demanda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búsqueda de un Cuenta-Arrendatario. Matching contra Ofertas (no contra Activos sueltos).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Cuenta-Arr.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obligatorio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84927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Demanda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· sup · renta máx · zona · break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Ofertas vigentes · flexible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· virtual · resultados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final · handoff a Op WIP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matching parte de los requisitos pero permite flexibilidad comercial: rangos ampliados, alternativas razonables, opciones algo más caras o de superficie próxima. Nunca recomienda Activos sin Oferta vigente.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Oferta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disponible al mercado. Cuelga del Activo. Existe antes que la demanda concreta que la captura.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Activo (FK obligatorio)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al mercado · espacios · renta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Demandas que machean · interés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concreta seleccionada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Lockeada · handoff Op · retirada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es el contenedor de mercado, no el de la transacción. La transacción se cierra en la Negociación → Instrucción. Una Oferta puede dar de baja un espacio convirtiéndolo en Arrendatario sobre el Activo.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Negociación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Negociación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formal de condiciones. Tabla evolutiva con todas las versiones lado a lado para trazabilidad.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Oportunidad WIP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adjuntos · contraofertas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evolutiva · diff de borradores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 condiciones finales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9751162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#2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Instrucción en Dynamics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contrato sin Instrucción en Dynamics. La Negociación es la última fase operativa en PDB; el cierre formal y la facturación se gestionan exclusivamente desde el sistema maestro.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Instrucción / Transacción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 / Transacción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formal · facturación · única vía válida para registrar revenue.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Neg.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final alcanzado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84927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maestro en Dynamics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Formalización + visto bueno legal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7450531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de vuelta · vista lectura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Honorarios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· emisión · archivo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Instrucción se emite contra una Entidad Legal (sociedad fiscal con CIF/NIF), nunca contra la Cuenta directamente. Esto es lo que cierra el ciclo y permite registrar revenue en el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Mandatos · Propuestas · Vencimientos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Mandatos · Propuestas · Vencimientos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derivados que cuelgan siempre de una Oportunidad existente.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4864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508760"/>
            <a:ext cx="188915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1323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obligatorio para todo lo siguiente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83510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2849270" y="1280160"/>
            <a:ext cx="18891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849270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49270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3862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13862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13862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Op + Oferta + Activo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8414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14990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4990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1449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1449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1449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RFP · advisory · valoración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84771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7450531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0531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5123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615123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15123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· alerta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85402" y="219456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9751162" y="1508760"/>
            <a:ext cx="188915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51162" y="1508760"/>
            <a:ext cx="1889150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15754" y="163677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9915754" y="2057400"/>
            <a:ext cx="161483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Reactivación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915754" y="2350008"/>
            <a:ext cx="161483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Renovación o nueva Oportunidad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48640" y="52120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303520"/>
            <a:ext cx="107259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del proceso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" y="5532120"/>
            <a:ext cx="107259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 y Propuesta nunca nacen solos: ambos exigen FK Oportunidad obligatorio. Mandato exige además FK Oferta y Activo (triple anclaje). Los Vencimientos detectan contratos próximos a expirar y reactivan el ciclo comercial.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88720" y="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725912" y="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6583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Savills · PDB CRM ·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82712" y="6583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uso interno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5029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Vínculos críticos · Regla de oro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reglas duras que mantienen la integridad del ciclo comercial.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600200"/>
            <a:ext cx="357530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B91C1C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00200"/>
            <a:ext cx="3575304" cy="5486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77240" y="228600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+ Cuenta-Propietario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Activo puede existir sin Cuenta, vincularlo desbloquea la vista 360º del Propietario, el cross-selling, el reporting agregado y la facturación. Un Activo sin Cuenta vinculada queda como dato incompleto.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06824" y="1600200"/>
            <a:ext cx="357530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06824" y="1600200"/>
            <a:ext cx="357530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35424" y="228600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 + Cuenta-Arrendatario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35424" y="278892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Demanda sin Cuenta-Arrendatario. La Cuenta es el origen del interés comercial y permite segmentar, hacer reporting y mantener trazabilidad cuando la búsqueda evoluciona.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65008" y="1600200"/>
            <a:ext cx="3575304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15803D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18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5008" y="1600200"/>
            <a:ext cx="3575304" cy="5486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293608" y="2286000"/>
            <a:ext cx="3118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+ Demanda + Activo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93608" y="2788920"/>
            <a:ext cx="31181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Oferta debe colgar de un Activo. La Demanda machea siempre contra Ofertas vivas, nunca contra Activos sueltos. El triángulo Oferta-Demanda-Activo es la unidad mínima que permite cerrar una operación.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4805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4800600"/>
            <a:ext cx="103601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Activo sin Cuenta-Propietario. Ninguna Demanda sin Cuenta-Arrendatario. Ninguna Oferta sin ambas.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Savills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PDB CRM · Mapa de Procesos</dc:title>
  <dc:subject>PptxGenJS Presentation</dc:subject>
  <dc:creator>Savills · PDB Team</dc:creator>
  <cp:lastModifiedBy>Savills · PDB Team</cp:lastModifiedBy>
  <cp:revision>1</cp:revision>
  <dcterms:created xsi:type="dcterms:W3CDTF">2026-04-27T20:21:59Z</dcterms:created>
  <dcterms:modified xsi:type="dcterms:W3CDTF">2026-04-27T20:21:59Z</dcterms:modified>
</cp:coreProperties>
</file>