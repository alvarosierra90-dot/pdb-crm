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PropDatabase · Arquitectura completa del sistema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· Flujos · Conexiones · Datos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CRM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12848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11296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9744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08192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06640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05088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5088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03536" y="5029200"/>
            <a:ext cx="1188720" cy="292608"/>
          </a:xfrm>
          <a:prstGeom prst="roundRect">
            <a:avLst>
              <a:gd name="adj" fmla="val 15625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3536" y="5029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módulos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548640"/>
            <a:ext cx="2468880" cy="5120640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56032" y="5852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DYNAMICS CRM  (origen)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914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🏬 Cuentas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727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Contactos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31136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23113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Oportunidades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9504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88950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Negociaciones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54787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Instrucciones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2062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Entidades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548640"/>
            <a:ext cx="2468880" cy="2743200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07792" y="5852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ACTIVOS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9144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65100"/>
          </a:solidFill>
          <a:ln w="19050">
            <a:solidFill>
              <a:srgbClr val="BF360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71800" y="914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nombre · zona · uso · SBA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71800" y="16916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65100"/>
          </a:solidFill>
          <a:ln w="19050">
            <a:solidFill>
              <a:srgbClr val="BF360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71800" y="1691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Stacking Plan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· plantas · unidades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71800" y="23774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905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71800" y="2377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Multimedia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34640" y="3429000"/>
            <a:ext cx="2468880" cy="2240280"/>
          </a:xfrm>
          <a:prstGeom prst="rect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2907792" y="346557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OFERTA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71800" y="37947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71800" y="3794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 · renta · estado · activa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455371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971800" y="455371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Activas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Desactivadas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548640"/>
            <a:ext cx="2468880" cy="2743200"/>
          </a:xfrm>
          <a:prstGeom prst="rect">
            <a:avLst/>
          </a:prstGeom>
          <a:solidFill>
            <a:srgbClr val="6A1B9A">
              <a:alpha val="20000"/>
            </a:srgbClr>
          </a:solidFill>
          <a:ln w="12700">
            <a:solidFill>
              <a:srgbClr val="6A1B9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559552" y="5852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DEMANDA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23560" y="91440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 w="1905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23560" y="91440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· zona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17830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905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23560" y="1783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Visita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23560" y="24688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905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623560" y="2468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Propuesta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 cliente)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0" y="3429000"/>
            <a:ext cx="2468880" cy="2240280"/>
          </a:xfrm>
          <a:prstGeom prst="rect">
            <a:avLst/>
          </a:prstGeom>
          <a:solidFill>
            <a:srgbClr val="00838F">
              <a:alpha val="20000"/>
            </a:srgbClr>
          </a:solidFill>
          <a:ln w="12700">
            <a:solidFill>
              <a:srgbClr val="00838F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5559552" y="346557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MAPA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23560" y="37947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00838F"/>
          </a:solidFill>
          <a:ln w="19050">
            <a:solidFill>
              <a:srgbClr val="00606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23560" y="37947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· activos · demanda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vencimientos · cuentas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23560" y="46634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00838F"/>
          </a:solidFill>
          <a:ln w="19050">
            <a:solidFill>
              <a:srgbClr val="00606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62356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Propuesta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138160" y="548640"/>
            <a:ext cx="2468880" cy="2743200"/>
          </a:xfrm>
          <a:prstGeom prst="rect">
            <a:avLst/>
          </a:prstGeom>
          <a:solidFill>
            <a:srgbClr val="B71C1C">
              <a:alpha val="20000"/>
            </a:srgbClr>
          </a:solidFill>
          <a:ln w="12700">
            <a:solidFill>
              <a:srgbClr val="B71C1C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8211312" y="58521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CONTRATOS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75320" y="91440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B71C1C"/>
          </a:solidFill>
          <a:ln w="19050">
            <a:solidFill>
              <a:srgbClr val="7F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275320" y="914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· SBA · yield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5320" y="16916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B71C1C"/>
          </a:solidFill>
          <a:ln w="19050">
            <a:solidFill>
              <a:srgbClr val="7F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275320" y="16916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· inicio · break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 · renta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75320" y="254203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9050">
            <a:solidFill>
              <a:srgbClr val="BDBDB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275320" y="25420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/ KYC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138160" y="3429000"/>
            <a:ext cx="2468880" cy="2240280"/>
          </a:xfrm>
          <a:prstGeom prst="rect">
            <a:avLst/>
          </a:prstGeom>
          <a:solidFill>
            <a:srgbClr val="37474F">
              <a:alpha val="20000"/>
            </a:srgbClr>
          </a:solidFill>
          <a:ln w="12700">
            <a:solidFill>
              <a:srgbClr val="37474F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8211312" y="3465576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PORTFOLIO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75320" y="379476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37474F"/>
          </a:solidFill>
          <a:ln w="19050">
            <a:solidFill>
              <a:srgbClr val="26323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275320" y="3794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 propietario)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275320" y="4462272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37474F"/>
          </a:solidFill>
          <a:ln w="19050">
            <a:solidFill>
              <a:srgbClr val="26323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275320" y="446227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75320" y="5102352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37474F"/>
          </a:solidFill>
          <a:ln w="19050">
            <a:solidFill>
              <a:srgbClr val="26323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275320" y="51023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mercado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789920" y="548640"/>
            <a:ext cx="1280160" cy="1828800"/>
          </a:xfrm>
          <a:prstGeom prst="rect">
            <a:avLst/>
          </a:prstGeom>
          <a:solidFill>
            <a:srgbClr val="4E342E">
              <a:alpha val="20000"/>
            </a:srgbClr>
          </a:solidFill>
          <a:ln w="12700">
            <a:solidFill>
              <a:srgbClr val="4E342E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10863072" y="585216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PROPUESTAS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863072" y="91440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4E342E"/>
          </a:solidFill>
          <a:ln w="19050">
            <a:solidFill>
              <a:srgbClr val="3E27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0863072" y="91440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863072" y="1508760"/>
            <a:ext cx="1133856" cy="502920"/>
          </a:xfrm>
          <a:prstGeom prst="roundRect">
            <a:avLst>
              <a:gd name="adj" fmla="val 14545"/>
            </a:avLst>
          </a:prstGeom>
          <a:solidFill>
            <a:srgbClr val="4E342E"/>
          </a:solidFill>
          <a:ln w="19050">
            <a:solidFill>
              <a:srgbClr val="3E27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0863072" y="150876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14600" y="1188720"/>
            <a:ext cx="3200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69" name="Text 67"/>
          <p:cNvSpPr/>
          <p:nvPr/>
        </p:nvSpPr>
        <p:spPr>
          <a:xfrm>
            <a:off x="2308860" y="10698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514600" y="1847088"/>
            <a:ext cx="251460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1" name="Text 69"/>
          <p:cNvSpPr/>
          <p:nvPr/>
        </p:nvSpPr>
        <p:spPr>
          <a:xfrm>
            <a:off x="3406140" y="17282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069080" y="3291840"/>
            <a:ext cx="0" cy="50292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3" name="Text 71"/>
          <p:cNvSpPr/>
          <p:nvPr/>
        </p:nvSpPr>
        <p:spPr>
          <a:xfrm>
            <a:off x="3703320" y="34244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166360" y="4114800"/>
            <a:ext cx="3200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5" name="Shape 73"/>
          <p:cNvSpPr/>
          <p:nvPr/>
        </p:nvSpPr>
        <p:spPr>
          <a:xfrm>
            <a:off x="6720840" y="3291840"/>
            <a:ext cx="0" cy="50292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5166360" y="1188720"/>
            <a:ext cx="297180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5166360" y="4114800"/>
            <a:ext cx="3108960" cy="-205740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8" name="Text 76"/>
          <p:cNvSpPr/>
          <p:nvPr/>
        </p:nvSpPr>
        <p:spPr>
          <a:xfrm>
            <a:off x="6355080" y="29672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de baja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372600" y="3090672"/>
            <a:ext cx="0" cy="704088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9921240" y="2423160"/>
            <a:ext cx="320040" cy="2313432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comercial completo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secuencial desde la captación del activo hasta el cierre del contrato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 w="19050">
            <a:solidFill>
              <a:srgbClr val="BF360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en PDB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6A1B9A"/>
          </a:solidFill>
          <a:ln w="1905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cliente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 w="19050">
            <a:solidFill>
              <a:srgbClr val="00606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y seleccionar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6A1B9A"/>
          </a:solidFill>
          <a:ln w="1905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técnica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Dynamics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6092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+ link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4964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4964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Dynamics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73836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 w="19050">
            <a:solidFill>
              <a:srgbClr val="7F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3836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firmado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27080" y="2377440"/>
            <a:ext cx="1115568" cy="914400"/>
          </a:xfrm>
          <a:prstGeom prst="roundRect">
            <a:avLst>
              <a:gd name="adj" fmla="val 8000"/>
            </a:avLst>
          </a:prstGeom>
          <a:solidFill>
            <a:srgbClr val="37474F"/>
          </a:solidFill>
          <a:ln w="19050">
            <a:solidFill>
              <a:srgbClr val="26323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27080" y="2377440"/>
            <a:ext cx="1115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activo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4416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253288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72160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91032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09904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28776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847648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966520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0853928" y="2834640"/>
            <a:ext cx="7315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2179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81051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051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9923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923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8795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8795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7667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6539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5411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5411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4283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4283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13155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3155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320272" y="2011680"/>
            <a:ext cx="329184" cy="329184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320272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8638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97510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16382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435254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54126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672998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791870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910742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1029614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11484864" y="2340864"/>
            <a:ext cx="0" cy="329184"/>
          </a:xfrm>
          <a:prstGeom prst="line">
            <a:avLst/>
          </a:prstGeom>
          <a:noFill/>
          <a:ln w="12700">
            <a:solidFill>
              <a:srgbClr val="BDBDBD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274320" y="4023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paralela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606040" y="4251960"/>
            <a:ext cx="1115568" cy="640080"/>
          </a:xfrm>
          <a:prstGeom prst="roundRect">
            <a:avLst>
              <a:gd name="adj" fmla="val 11429"/>
            </a:avLst>
          </a:prstGeom>
          <a:solidFill>
            <a:srgbClr val="4E342E"/>
          </a:solidFill>
          <a:ln w="19050">
            <a:solidFill>
              <a:srgbClr val="3E27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2606040" y="425196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alternativas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86200" y="4251960"/>
            <a:ext cx="1115568" cy="640080"/>
          </a:xfrm>
          <a:prstGeom prst="roundRect">
            <a:avLst>
              <a:gd name="adj" fmla="val 11429"/>
            </a:avLst>
          </a:prstGeom>
          <a:solidFill>
            <a:srgbClr val="4E342E"/>
          </a:solidFill>
          <a:ln w="19050">
            <a:solidFill>
              <a:srgbClr val="3E27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886200" y="4251960"/>
            <a:ext cx="1115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gana el cliente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721608" y="4572000"/>
            <a:ext cx="164592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3163824" y="3291840"/>
            <a:ext cx="0" cy="960120"/>
          </a:xfrm>
          <a:prstGeom prst="line">
            <a:avLst/>
          </a:prstGeom>
          <a:noFill/>
          <a:ln w="19050">
            <a:solidFill>
              <a:srgbClr val="9C27B0"/>
            </a:solidFill>
            <a:prstDash val="dash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786384" y="3291840"/>
            <a:ext cx="0" cy="100584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228600" y="43891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Cuentas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975104" y="3291840"/>
            <a:ext cx="0" cy="100584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1417320" y="43891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negociación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729984" y="3291840"/>
            <a:ext cx="0" cy="100584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6172200" y="43891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Dynamics→PDB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0296144" y="3291840"/>
            <a:ext cx="0" cy="100584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9738360" y="4389120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vías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creación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173736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 →  Comercialización  →  Dynamics  →  Contrato  →  Seguimiento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— Entidades y relaciones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25603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65100"/>
          </a:solidFill>
          <a:ln w="19050">
            <a:solidFill>
              <a:srgbClr val="BF360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0" y="2560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nombre · zona · uso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 · lat/lng · stacking_data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31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(Dynamics)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sector · contacto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B71C1C"/>
          </a:solidFill>
          <a:ln w="19050">
            <a:solidFill>
              <a:srgbClr val="7F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· yield · precio_compra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anyo_compra · superficie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4572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B71C1C"/>
          </a:solidFill>
          <a:ln w="19050">
            <a:solidFill>
              <a:srgbClr val="7F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· inicio · break_option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 · closing_rent · m2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731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9050">
            <a:solidFill>
              <a:srgbClr val="1B5E2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731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estado · activa · renta_m2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superficie_disponible · activo_ref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7315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731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(Dynamics→PDB)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· superficie · renta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duracion_anos · carencia_meses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18320" y="7315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 w="19050">
            <a:solidFill>
              <a:srgbClr val="005A9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7315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(Dynamics)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arrendatario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· condiciones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4572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6A1B9A"/>
          </a:solidFill>
          <a:ln w="19050">
            <a:solidFill>
              <a:srgbClr val="4A148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· tipología · sba_min/max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renta_max · zonas · naturaleza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4572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4E342E"/>
          </a:solidFill>
          <a:ln w="19050">
            <a:solidFill>
              <a:srgbClr val="3E27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572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seleccionadas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cliente · estado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418320" y="45720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4E342E"/>
          </a:solidFill>
          <a:ln w="19050">
            <a:solidFill>
              <a:srgbClr val="3E272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18320" y="4572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· exclusiva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418320" y="27432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37474F"/>
          </a:solidFill>
          <a:ln w="19050">
            <a:solidFill>
              <a:srgbClr val="26323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1832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· activos_count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m2_totales · yield_pct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1188720"/>
            <a:ext cx="2194560" cy="155448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754880" y="3063240"/>
            <a:ext cx="-219456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754880" y="3474720"/>
            <a:ext cx="-2194560" cy="155448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937760" y="2560320"/>
            <a:ext cx="0" cy="-91440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577840" y="1188720"/>
            <a:ext cx="10058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8869680" y="1188720"/>
            <a:ext cx="5486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10515600" y="1645920"/>
            <a:ext cx="-7955280" cy="338328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5577840" y="5029200"/>
            <a:ext cx="10058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8869680" y="5029200"/>
            <a:ext cx="54864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2560320" y="3063240"/>
            <a:ext cx="6858000" cy="91440"/>
          </a:xfrm>
          <a:prstGeom prst="line">
            <a:avLst/>
          </a:prstGeom>
          <a:noFill/>
          <a:ln w="19050">
            <a:solidFill>
              <a:srgbClr val="BDBDBD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4754880" y="3749040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749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lng 🗺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89320" y="3749040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3749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stacking_data 📐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4041648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416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activo_ref FK →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989320" y="4041648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40416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83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UUID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vías de creación — Propietarios &amp; Arrendatarios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640080"/>
            <a:ext cx="640080" cy="6400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🏗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2743200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FichaActivo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Pestaña at-prop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broker abre el activo y crea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o arrendatario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desde la ficha.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37360" y="5257800"/>
            <a:ext cx="0" cy="457200"/>
          </a:xfrm>
          <a:prstGeom prst="line">
            <a:avLst/>
          </a:prstGeom>
          <a:noFill/>
          <a:ln w="19050">
            <a:solidFill>
              <a:srgbClr val="E65100"/>
            </a:solidFill>
            <a:prstDash val="dash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251960" y="6400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246120" y="2011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011680"/>
            <a:ext cx="27432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02996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FichaOferta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Dar de baja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9260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una oferta disponible,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convierte automáticamente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unidades vacantes en arrendadas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crea el registro de arrendatario.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5257800"/>
            <a:ext cx="0" cy="457200"/>
          </a:xfrm>
          <a:prstGeom prst="line">
            <a:avLst/>
          </a:prstGeom>
          <a:noFill/>
          <a:ln w="19050">
            <a:solidFill>
              <a:srgbClr val="2E7D32"/>
            </a:solidFill>
            <a:prstDash val="dash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7132320" y="640080"/>
            <a:ext cx="640080" cy="64008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126480" y="2011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011680"/>
            <a:ext cx="2743200" cy="8229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02996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módulo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Arrendatarios/Propietarios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9260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standalone desde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del módulo.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asocia manualmente al activo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activo_ref.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5257800"/>
            <a:ext cx="0" cy="457200"/>
          </a:xfrm>
          <a:prstGeom prst="line">
            <a:avLst/>
          </a:prstGeom>
          <a:noFill/>
          <a:ln w="19050">
            <a:solidFill>
              <a:srgbClr val="B71C1C"/>
            </a:solidFill>
            <a:prstDash val="dash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012680" y="64008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12680" y="640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14400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006840" y="20116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06840" y="2011680"/>
            <a:ext cx="27432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202996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Instrucción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→ 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92608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envía la instrucción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cierre → PDB crea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 el arrendatario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datos del contrato.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378440" y="5257800"/>
            <a:ext cx="0" cy="457200"/>
          </a:xfrm>
          <a:prstGeom prst="line">
            <a:avLst/>
          </a:prstGeom>
          <a:noFill/>
          <a:ln w="19050">
            <a:solidFill>
              <a:srgbClr val="0078D4"/>
            </a:solidFill>
            <a:prstDash val="dash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3931920" y="580644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E65100"/>
          </a:solidFill>
          <a:ln w="19050">
            <a:solidFill>
              <a:srgbClr val="BF360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22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931920" y="5806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+ PROPIETARIOS + ARRENDATARIOS  →  Supabase DB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3747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11640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· Capas · Filtros · Zona circular/polígono · Propuesta cliente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Disponible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En negociación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· SBA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plantas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propietarios · tenants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relación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40680" y="1005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· zona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0" y="1005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option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contrato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823960" y="100584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· venta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· precio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desde Demanda 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7B1FA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FichaDemanda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"Exportar a mapa"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2857500"/>
            <a:ext cx="228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697480" y="2468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pre-filtrado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(uso · SBA · renta)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2857500"/>
            <a:ext cx="228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029200" y="2468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pines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2857500"/>
            <a:ext cx="228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7360920" y="2468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4E34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 cliente)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464040" y="2857500"/>
            <a:ext cx="228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9692640" y="2468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4688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zona: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931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Zona circular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393192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028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3931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Polígono libre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93192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455A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931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 Transporte público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46320"/>
            <a:ext cx="11640312" cy="320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pins de Ofertas se cargan en tiempo real desde Supabase · Coloreados por estado · Filtros SBA mín/máx y Renta máx disponibles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Dynamics CRM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40080"/>
            <a:ext cx="5029200" cy="5486400"/>
          </a:xfrm>
          <a:prstGeom prst="rect">
            <a:avLst/>
          </a:prstGeom>
          <a:solidFill>
            <a:srgbClr val="E8F5E9">
              <a:alpha val="80000"/>
            </a:srgbClr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PDB CRM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640080"/>
            <a:ext cx="5303520" cy="5486400"/>
          </a:xfrm>
          <a:prstGeom prst="rect">
            <a:avLst/>
          </a:prstGeom>
          <a:solidFill>
            <a:srgbClr val="E3F2FD">
              <a:alpha val="80000"/>
            </a:srgbClr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6583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DYNAMICS CRM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640080"/>
            <a:ext cx="1097280" cy="5486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FF9800">
              <a:alpha val="15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143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Oportunidad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(botón en FichaDemanda)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109728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FF9800">
              <a:alpha val="15000"/>
            </a:srgbClr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143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Oportunidad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asigna equipo comercial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1508760"/>
            <a:ext cx="1188720" cy="0"/>
          </a:xfrm>
          <a:prstGeom prst="line">
            <a:avLst/>
          </a:prstGeom>
          <a:noFill/>
          <a:ln w="25400">
            <a:solidFill>
              <a:srgbClr val="FF9800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413248" y="1353312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35331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9C27B0">
              <a:alpha val="15000"/>
            </a:srgbClr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402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Negociaciones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0" y="219456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9C27B0">
              <a:alpha val="15000"/>
            </a:srgbClr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2402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Negociación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rondas · contraofertas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2606040"/>
            <a:ext cx="-365760" cy="0"/>
          </a:xfrm>
          <a:prstGeom prst="line">
            <a:avLst/>
          </a:prstGeom>
          <a:noFill/>
          <a:ln w="25400">
            <a:solidFill>
              <a:srgbClr val="9C27B0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413248" y="2450592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245059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37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Instrucción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 Arrendatario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5120" y="329184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337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Instrucción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acuerdo cerrado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60720" y="3703320"/>
            <a:ext cx="-36576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413248" y="3547872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354787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0078D4">
              <a:alpha val="1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434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Contactos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 lectura)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4389120"/>
            <a:ext cx="4937760" cy="822960"/>
          </a:xfrm>
          <a:prstGeom prst="roundRect">
            <a:avLst>
              <a:gd name="adj" fmla="val 6667"/>
            </a:avLst>
          </a:prstGeom>
          <a:solidFill>
            <a:srgbClr val="0078D4">
              <a:alpha val="15000"/>
            </a:srgbClr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4348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CRM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cuentas · contactos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60720" y="4800600"/>
            <a:ext cx="-36576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5413248" y="4645152"/>
            <a:ext cx="1060704" cy="310896"/>
          </a:xfrm>
          <a:prstGeom prst="roundRect">
            <a:avLst>
              <a:gd name="adj" fmla="val 17647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4645152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40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— Próximos módulos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475488"/>
            <a:ext cx="1164031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6A1B9A">
              <a:alpha val="8000"/>
            </a:srgbClr>
          </a:solidFill>
          <a:ln w="25400">
            <a:solidFill>
              <a:srgbClr val="6A1B9A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65760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Demanda en Supabase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demandas · persistencia real · flujo completo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256032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5603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0" y="9144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00838F">
              <a:alpha val="8000"/>
            </a:srgbClr>
          </a:solidFill>
          <a:ln w="25400">
            <a:solidFill>
              <a:srgbClr val="00838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914400"/>
            <a:ext cx="3657600" cy="548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914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Selección mapa → demanda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selecciones como registro vinculado a demanda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256032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5603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138160" y="91440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E65100">
              <a:alpha val="8000"/>
            </a:srgbClr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914400"/>
            <a:ext cx="3657600" cy="548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914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Visita desde demanda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visita asociada a demanda · resultado · seguimiento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256032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25603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B71C1C">
              <a:alpha val="8000"/>
            </a:srgbClr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91840"/>
            <a:ext cx="3657600" cy="548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Negociación real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931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negociaciones · mensajes · rondas · persistencia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493776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49377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32918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4E342E">
              <a:alpha val="8000"/>
            </a:srgbClr>
          </a:solidFill>
          <a:ln w="25400">
            <a:solidFill>
              <a:srgbClr val="4E342E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06240" y="3291840"/>
            <a:ext cx="3657600" cy="5486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Propuestas / Mandatos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3931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Supabase · estados · documentos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0" y="493776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9377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38160" y="329184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0078D4">
              <a:alpha val="8000"/>
            </a:srgbClr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15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291840"/>
            <a:ext cx="3657600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291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Sync Dynamics real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75320" y="39319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/ API Dynamics → instrucciones · oportunidades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515600" y="493776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0" y="49377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2026-04-23T06:35:37Z</dcterms:created>
  <dcterms:modified xsi:type="dcterms:W3CDTF">2026-04-23T06:35:37Z</dcterms:modified>
</cp:coreProperties>
</file>