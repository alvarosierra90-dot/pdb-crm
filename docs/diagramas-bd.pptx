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</p:sldIdLst>
  <p:notesMasterIdLst>
    <p:notesMasterId r:id="rId10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notesMaster" Target="notesMasters/notesMaster1.xml"/><Relationship Id="rId109" Type="http://schemas.openxmlformats.org/officeDocument/2006/relationships/presProps" Target="presProps.xml"/><Relationship Id="rId110" Type="http://schemas.openxmlformats.org/officeDocument/2006/relationships/viewProps" Target="viewProps.xml"/><Relationship Id="rId111" Type="http://schemas.openxmlformats.org/officeDocument/2006/relationships/theme" Target="theme/theme1.xml"/><Relationship Id="rId1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CRM · Diagramas técnicos de base de datos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6565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CRM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técnicos de la base de datos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entidades · Flujos transversales · State machines · Flujos por módulo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2026-05-04 · migraciones 001-026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4114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técnicos · PDB CRM — Base de datos y flujos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técnico de la base de datos del PDB CRM, orientado a un ingeniero que tenga que mantener, ampliar o reimplementar el sistema. Cubre el modelo de entidades, los flujos operativos extremo-a-extremo y los state machines de cada entidad.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Convención: todos los flowchart están en orientación horizontal (LR). Los erDiagram y sequenceDiagram son horizontales por defecto. El sistema vive sobre PostgreSQL (Supabase). Los nodos en azul corresponden a Microsoft Dynamics 365 (sistema maestro de cuenta, contacto, oportunidad, instrucción), los verdes a PDB (operativo del broker).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Vista de conjunto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Vista de conjunto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201" y="777240"/>
            <a:ext cx="8675117" cy="5577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canónico end-to-end es: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Modelo de datos · diagrama de entidades (ERD)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Modelo de datos · diagrama de entidades (ERD)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9101" y="777240"/>
            <a:ext cx="6623318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Flujos operativos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F-CAP · Captura del Lead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88227"/>
            <a:ext cx="11430000" cy="39558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tocadas: leads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F-CUAL · Cualificación Lead → Oportunidad + downstream · contexto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entrada al funnel comercial. El broker decide pitch vs directo y se ejecuta una de seis cascadas.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Componente: src/components/TransformarLeadModal.jsx. Side-effects ordenados: 1. INSERT dynamics_opportunities (id auto: dyn-opp-&lt;timestamp&gt;). 2. INSERT en la tabla destino (propuestas | demandas | ofertas) con equipo_trabajo heredado. 3. UPDATE leads: estado='cualificado', fecha_cualificacion, FKs. 4. Auto-detección de duplicados: leads con mismo email/teléfono + demandas activas de la misma cuenta. No bloquean, requieren acuse de recibo.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F-CUAL · Cualificación Lead → Oportunidad + downstream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31" y="777240"/>
            <a:ext cx="11311259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F-PITCH · Cascada Propuesta ganada → Mandato · contexto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Componente: src/components/MarcarPropuestaGanadaModal.jsx. Validaciones (puede=false si): propuesta ya cerrada, sin oportunidad Dynamics, sin cuenta. Ref del mandato: nextMandatoRef() → MAN-YYYY-NNNN consultando MAX(ref) + 1 por año.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F-PITCH · Cascada Propuesta ganada → Mandato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332640"/>
            <a:ext cx="11430000" cy="8785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F-FIRM · Firma directa de Mandato (post-hoc) · contexto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Demanda u Oferta puede vivir sin mandato firmado (mayoría de casos: sub-brokering, búsqueda con varias consultoras, oferta de mandato ajeno). Cuando el cliente formaliza el acuerdo, se "eleva" la entidad a mandato.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Componente: src/components/FirmarMandatoModal.jsx. Tipo del mandato (sugerido): - origen=demanda → demanda o consultoria. - origen=oferta con tipo_operacion=Venta → venta. - origen=oferta con tipo_operacion=Alquiler → alquiler.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desde MandatosList no hay botón "+ Nuevo Mandato". El mandato siempre nace de un origen previo (Propuesta ganada, Demanda existente u Oferta existente).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F-FIRM · Firma directa de Mandato (post-hoc)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812447"/>
            <a:ext cx="11430000" cy="19189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F-MAN-LIFE · Lifecycle del Mandato · contexto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/ Cierre — decisión sobre las ofertas vinculadas: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Motivos predefinidos de cancelación: - Cliente cancela el encargo - Pérdida de competitividad de Savills - Cambio de estrategia del cliente - Activo vendido / alquilado fuera de Savills - Conflicto de interés - Problema de compliance / KYC - Otro motivo (texto libre)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F-MAN-LIFE · Lifecycle del Mandato (1/2)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43150"/>
            <a:ext cx="11430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F-MAN-LIFE · Lifecycle del Mandato (2/2)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89421"/>
            <a:ext cx="11430000" cy="27649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F-STACK · Stacking Plan del Activo · contexto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activos.stacking_data es un jsonb con la siguiente estructura: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"id": "A",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"label": "Edif. A",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"supPlantaTipo": 1500,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"floors": [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{ "id": "P5", "sup": 1500,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"principal": [{ "uso": "oficinas", "sup": 1500 }],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"adicional": [] }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],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"prop": [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{ "p": "P5", "sup": 1500,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"units": [{ "prop_id": "PRO-1714...", "n": "Barings", "sup": 1500 }] }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],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"arr": [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{ "p": "P5", "sup": 1500,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"units": [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{ "type": "ten", "arr_ref": "ARR-1714...", "n": "Celonis", "sup": 1202, "brk": "Oct 2025" },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{ "type": "vac", "oferta": "OFR-0017", "sup": 298 }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}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}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unit en la capa arr: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drag &amp; drop (capa arr):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estable: cada unit ten lleva arr_ref (= arrendatarios.ref), cada unit prop lleva prop_id (= propietarios.id). Permite renames sin romper match y disambigua múltiples "Desconocido" coexistentes en el mismo activo.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F-STACK · Stacking Plan del Activo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337663"/>
            <a:ext cx="11430000" cy="8684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F-PROP · Alta de Propietario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84115"/>
            <a:ext cx="11430000" cy="5640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asignar al stacking: el registro existe en propietarios pero no está en activos.stacking_data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F-ARR · Alta de Arrendatario · contexto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Idéntico al de propietario salvo que la auto-asignación al stacking sí ocurre si se vino desde el flujo "Convertir oferta en arrendatario" (cuando una oferta se firma).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"tenant desconocido": nombre='Desconocido', tenant_desconocido=true. Pueden coexistir varios en el mismo activo — se distinguen por arr_ref.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F-ARR · Alta de Arrendatario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048446"/>
            <a:ext cx="11430000" cy="14469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F-VENC · Vencimientos y deal-flow (1/2)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52952"/>
            <a:ext cx="11430000" cy="48264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VencimientosView cruza tres queries en paralelo: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F-VENC · Vencimientos y deal-flow (2/2)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520" y="777240"/>
            <a:ext cx="8148479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 F-MATCH · Matching Demanda → Pool de Ofertas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012155"/>
            <a:ext cx="11430000" cy="11080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condiciones_negociadas es snapshot — los cambios posteriores en la oferta no se propagan automáticamente a las alternativas existentes.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 F-ENVIO · Envío al cliente + Microsite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421214"/>
            <a:ext cx="11430000" cy="70137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 F-VISITA · Visitas trazables · contexto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visitas son trazables triple: la fila vive en visitas con FKs a oferta_demanda (alternativa), oferta, activo y demanda. Cualquier vista de las cuatro entidades puede mostrar las visitas relacionadas.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 F-VISITA · Visitas trazables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41609"/>
            <a:ext cx="11430000" cy="106058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 F-NEG · Negociación y cierre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057525"/>
            <a:ext cx="114300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 F-DYN · Sincronización Dynamics ↔ PDB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75" y="777240"/>
            <a:ext cx="10972569" cy="5577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actual: los dynamics_* se simulan creando filas locales (dyn-opp-&lt;ts&gt;, dyn-ins-&lt;ts&gt;)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 F-CONF · Confidencialidad · contexto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en FichaOferta y FichaDemanda. Pendiente de replicar en FichaMandato.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Reglas: - Solo Principal del equipo o Manager pueden activar. - Directores y rol Research bypassean (ven completo). - Solicitar acceso → notifica al Principal.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 F-CONF · Confidencialidad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58719"/>
            <a:ext cx="11430000" cy="402636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3.16 F-EQ · Equipo de trabajo · contexto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equipo_trabajo es un jsonb array [{nombre, rol, fecha_alta}] con roles: Principal, Soporte, Colaborador. Componente EquipoTrabajoCard + helper makeEquipoHandlers en src/components/EquipoTrabajoCard.jsx.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3.16 F-EQ · Equipo de trabajo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47209"/>
            <a:ext cx="11430000" cy="304938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State machines de las entidades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leads.estado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840107"/>
            <a:ext cx="11430000" cy="186358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propuestas.estado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69587"/>
            <a:ext cx="11430000" cy="380462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mandatos.estado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97579"/>
            <a:ext cx="11430000" cy="314864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demandas.estatus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978" y="777240"/>
            <a:ext cx="10049565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ofertas.estado + activa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65267"/>
            <a:ext cx="11430000" cy="241326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oferta_demanda.estado_alternativa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03985"/>
            <a:ext cx="11430000" cy="173583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negociaciones.estado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4550"/>
            <a:ext cx="11430000" cy="42547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arrendatarios.estado_arr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694283"/>
            <a:ext cx="11430000" cy="215523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propietarios.estado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65778"/>
            <a:ext cx="11430000" cy="401224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Identidad estable en `stacking_data`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Identidad estable en `stacking_data` · contexto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units type='ten' llevan arr_ref (= arrendatarios.ref); las units de la capa prop llevan prop_id (= propietarios.id). El match unit ↔ registro sigue esta prioridad: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 — "Desconocido": si arrendatarios.tenant_desconocido=true o nombre='Desconocido', el match por nombre es ambiguo cuando hay múltiples Desconocido en el mismo activo. La UI marca: - ⚠ HUÉRFANO — tenant identificado, sin presencia en stacking. - ⚠ SIN STACKING — Desconocido sin ninguna unidad Desconocido. - 🆔 AMBIGUO — varias units Desconocido y match no fiable.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Identidad estable en `stacking_data`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73766"/>
            <a:ext cx="11430000" cy="359626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Triggers y FKs denormalizadas (migración 011)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Triggers y FKs denormalizadas (migración 011) · contexto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tabla operativa lleva FK denormalizadas a sus padres para permitir la vista 360º con una sola query. Triggers BEFORE INSERT/UPDATE propagan automáticamente.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una query a actividades (o cualquier tabla operativa) puede filtrar por cualquier nivel de la jerarquía sin joins. La vista 360º del Activo / Cuenta / Portfolio es directa.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Triggers y FKs denormalizadas (migración 011)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658208"/>
            <a:ext cx="11430000" cy="222738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Sincronización · matriz de masters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Confidencialidad y permisos cross-equipo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Confidencialidad y permisos cross-equipo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Lectura: libre cross-equipo (todos los brokers ven todo lo que no es confidencial). - Edición: restringida al equipo_trabajo de la entidad. Solo Principal puede editar. - Confidencialidad: activable solo por Principal o Manager. Usuarios no autorizados ven los campos sensibles enmascarados con * (excepción: rol Director y rol Research ven todo). - Audit log: inmutable, accesible solo por rol admin.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Notas de implementación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Generación de refs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nextRef(prefix) consulta MAX(ref) para el año y suma 1. Race condition aceptada en el prototipo; en producción sustituir por SEQUENCE PostgreSQL.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 jsonb relevantes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mandatos.fee_sliding_jsonb — escala de fee por tramos ([{ desde, hasta, pct }]). - mandatos.fee_compartido_jsonb — { reparto: [{ nombre, tipo: interno|externo, porcentaje, equipo, miembro, agencia_id }] }. La suma de porcentaje debe ser 100. - mandatos.equipo_trabajo — [{ nombre, rol, fecha_alta }]. Idem para todas las entidades downstream. - activos.stacking_data — descrito en §3.6. - demandas.requisitos — criterios de búsqueda (uso, sup_min, sup_max, zonas, renta_max). - oferta_demanda.condiciones_negociadas — snapshot al añadir como alternativa. - negociaciones.condiciones_acordadas — diff acumulado durante la negociación. - negociaciones.documentos_versionados — array de versiones de borradores de contrato.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Row Level Security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tablas tienen RLS habilitado con policy dev_all permisiva (USING (true) WITH CHECK (true)) durante el prototipo. Sustituir por policies basadas en auth.uid() y rol del usuario en producción.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Migraciones aplicadas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contenido)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Migraciones aplicadas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11247120" cy="55778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 schema base · activos · propietarios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002–005 activos extended (propietario, dirección, coordenadas, superficies)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006 persistencia · stacking_data jsonb · asignaciones_stacking · desglose_ofertas · plazas_oferta · caracteristicas_oferta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007 arrendatarios extended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008 propietarios extended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009 ofertas.activa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 CRM pipeline · dynamics_* · leads · demandas · mandatos · oferta_demanda · visitas · vencimientos · negociaciones · actividades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011 triggers FK denormalizadas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012 leads seed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013 propuestas + lead links (lead.propuesta_id, lead.demanda_id, lead.oferta_id)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014 relax required fields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015 dynamics_account_fields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016 migrate mock demandas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017 demandas.motivo_descarte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018 motivo_descarte oferta + propuesta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019 mandatos spec alignment · mandato_activos · ofertas.mandato_id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020 migrate mock mandatos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021 leads.equipo_trabajo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022 equipo_trabajo downstream (propuestas, demandas, ofertas, mandatos)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023 propuestas → mandatos (mandatos.propuesta_id)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024 portfolios seed real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025 propietarios.estado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026 actividades.mandato_id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Apéndice · queries operativas frecuentes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360 de un Activo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contenido)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360 de un Activo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11247120" cy="55778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Mandato vivo + arrendatarios + ofertas + actividades, todo en una pasada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a.id, a.ref, a.nombre,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a.stacking_data,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json_agg(arr) FROM arrendatarios arr WHERE arr.activo_ref = a.ref) AS arrendatarios,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json_agg(o) FROM ofertas o WHERE o.activo_id = a.id AND o.activa) AS ofertas_activas,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json_agg(m) FROM mandatos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JOIN mandato_activos ma ON ma.mandato_id = m.id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WHERE ma.activo_id = a.id AND m.estado = 'en_curso') AS mandatos_vivos,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count(*) FROM actividades ac WHERE ac.activo_id = a.id) AS num_actividades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activos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a.ref = $1;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la cuenta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(SELECT count() FROM leads      WHERE dynamics_account_id = $1 AND estado &lt;&gt; 'cualificado')      AS leads_abiertos,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(SELECT count() FROM propuestas WHERE dynamics_account_id = $1 AND estado IN ('borrador','enviada')) AS propuestas_vivas,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(SELECT count() FROM mandatos   WHERE dynamics_account_id = $1 AND estado = 'en_curso')            AS mandatos_en_curso,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(SELECT count() FROM ofertas    WHERE dynamics_account_id = $1 AND activa = true)                  AS ofertas_activas,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(SELECT count(*) FROM demandas   WHERE dynamics_account_id = $1 AND estatus = 'ongoing')            AS demandas_activas;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la cuenta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11247120" cy="55778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count(*) FROM leads      WHERE dynamics_account_id = $1 AND estado &lt;&gt; 'cualificado')      AS leads_abiertos,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count(*) FROM propuestas WHERE dynamics_account_id = $1 AND estado IN ('borrador','enviada')) AS propuestas_vivas,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count(*) FROM mandatos   WHERE dynamics_account_id = $1 AND estado = 'en_curso')            AS mandatos_en_curso,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count(*) FROM ofertas    WHERE dynamics_account_id = $1 AND activa = true)                  AS ofertas_activas,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count(*) FROM demandas   WHERE dynamics_account_id = $1 AND estatus = 'ongoing')            AS demandas_activas;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Deal-flow caliente · vencimientos próximos en activos bajo mandato sell-side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contenido)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Deal-flow caliente · vencimientos próximos en activos bajo mandato sell-side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11247120" cy="55778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arr.ref, arr.nombre, arr.activo_ref, arr.vencimiento,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m.ref AS mandato_ref, m.tipo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arrendatarios arr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activos a            ON a.ref = arr.activo_ref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mandato_activos ma   ON ma.activo_id = a.id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mandatos m           ON m.id = ma.mandato_id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arr.vencimiento BETWEEN now() AND now() + interval '1 year'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m.estado = 'en_curso'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m.tipo IN ('alquiler','venta')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arr.vencimiento;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Flujos por módulo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Flujos por módulo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sección recorre uno por uno todos los módulos de la base de datos. Cada módulo muestra: cómo nace, lifecycle horizontal, side-effects que dispara, quién lo crea / consume, y sus FKs canónicas.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Módulo · LEAD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leads. Master: PDB.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Side-effects al cualificar (ok): crea dynamics_opportunities + (propuestas | demandas | ofertas según rama). FKs salida: dynamics_account_id, dynamics_contact_id, dynamics_opportunity_id, propuesta_id, demanda_id, oferta_id.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Módulo · LEAD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48624"/>
            <a:ext cx="11430000" cy="284655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Módulo · CUENTA (Dynamics)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01019"/>
            <a:ext cx="11430000" cy="53302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dynamics_accounts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Módulo · CONTACTO (Dynamics)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96130"/>
            <a:ext cx="11430000" cy="454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dynamics_contacts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 Módulo · OPORTUNIDAD (Dynamics)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84208"/>
            <a:ext cx="11430000" cy="4163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dynamics_opportunities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 Módulo · PROPUESTA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14697"/>
            <a:ext cx="11430000" cy="3902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propuestas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 Módulo · INSTRUCCIÓN (Dynamics)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dynamics_instructions. Master: Dynamics. FK: oportunidad_dynamics_id.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la Instrucción es el "trigger de facturación" — separa la fase pitch (sin honorarios) de la fase mandato (con honorarios devengados).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 Módulo · INSTRUCCIÓN (Dynamics)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012033"/>
            <a:ext cx="11430000" cy="151973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 Módulo · MANDATO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mandatos. Master: PDB. Tipos: alquiler, venta, demanda, consultoria. Modos: exclusiva, coexclusiva. Vías: pitch, directo.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- mandatos_tipo_check: tipo IN ('alquiler','venta','demanda','consultoria'). - mandato_cancelado_requires_motivo: estado='cancelado' ⇒ motivo_cancelacion NOT NULL. - mandato_activos UNIQUE(mandato_id, activo_id): un activo no puede repetirse en el mismo mandato.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 Módulo · MANDATO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49353"/>
            <a:ext cx="11430000" cy="284509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 Módulo · DEMANDA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demandas. Master: PDB. Buy-side: cliente busca espacio.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clave con Mandato: una demanda existe SIN mandato firmado. La mayoría de demandas son sub-brokering (cliente busca con varias consultoras).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 Módulo · DEMANDA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523947"/>
            <a:ext cx="11430000" cy="2495907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 Módulo · OFERTA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ofertas. Master: PDB. Sell-side: activo en mercado.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Sub-modelo · desglose y plazas: - Una oferta puede dividirse en desglose_ofertas (espacios divisibles). - Cada desglose se asigna a planta(s) del activo en asignaciones_stacking. - plazas_oferta lista las plazas de parking incluidas en este deal concreto.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 Módulo · OFERTA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3962"/>
            <a:ext cx="11430000" cy="3895877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11.10 Módulo · ACTIVO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activos. Master: PDB. Host del stacking jsonb.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jsonb canónicas: - Drag tenant → push unit a arr[planta].units. - Drag owner → push unit a prop[planta].units. - Drop oferta → push unit type='vac' a arr[planta].units con oferta=ref. - Save → UPDATE activos SET stacking_data = ?.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11.10 Módulo · ACTIVO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674" y="777240"/>
            <a:ext cx="10356173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11.11 Módulo · PROPIETARIO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propietarios. Master: PDB. PK: id (formato PRO-&lt;timestamp&gt;).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propietario (mig 025): - activo — propiedad operativa. - vendido — tras un cierre de venta (auto-desactivación). - desinversion — programada para venta. - inactivo — pausa administrativa.</a:t>
            </a:r>
            <a:endParaRPr 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11.11 Módulo · PROPIETARIO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885546"/>
            <a:ext cx="11430000" cy="177270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11.12 Módulo · ARRENDATARIO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arrendatarios. Master: PDB. PK: id uuid + ref 'ARR-&lt;timestamp&gt;'.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 Desconocido: tenant_desconocido=true → nombre='Desconocido'. Múltiples Desconocido coexisten; se distinguen por arr_ref. Tooltip / badge en VencimientosView marca ambigüedad si stacking tiene varios sin arr_ref.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11.12 Módulo · ARRENDATARIO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13646"/>
            <a:ext cx="11430000" cy="2116507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11.13 Módulo · STACKING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99915"/>
            <a:ext cx="11430000" cy="41324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tabla — es jsonb en activos.stacking_data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11.14 Módulo · ALTERNATIVA (oferta_demanda)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oferta_demanda. Tabla puente del matching demanda↔oferta.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(oferta_id, demanda_id) — una oferta no puede ser alternativa duplicada de la misma demanda. Snapshot: condiciones_negociadas se congela al añadir la alternativa; los cambios posteriores en la oferta no se propagan.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11.14 Módulo · ALTERNATIVA (oferta_demanda)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308372"/>
            <a:ext cx="11430000" cy="92705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11.15 Módulo · ENVÍO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868493"/>
            <a:ext cx="11430000" cy="13953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envios_ofertas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11.16 Módulo · VISITA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visitas. Trazabilidad triple: vinculada a alternativa + oferta + demanda + activo.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en 4 vistas distintas: ficha de la alternativa, de la oferta, de la demanda, del activo. Una sola fila, cuatro consumidores.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11.16 Módulo · VISITA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104096"/>
            <a:ext cx="11430000" cy="1335609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11.17 Módulo · NEGOCIACIÓN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010508"/>
            <a:ext cx="11430000" cy="1111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negociaciones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11.18 Módulo · ACTIVIDAD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actividades. Transversal: una fila puede colgar de cualquier entidad operativa.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reusable: &lt;ActividadesPanel filter={{column, value}} /&gt;. Filtra por cualquier FK; KPI strip + tabla unificada.</a:t>
            </a:r>
            <a:endParaRPr 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11.18 Módulo · ACTIVIDAD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50840"/>
            <a:ext cx="11430000" cy="2042121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11.19 Módulo · VENCIMIENTOS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98836"/>
            <a:ext cx="11430000" cy="31346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computada sobre arrendatarios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11.20 Módulo · MANDATO_ACTIVOS (puente multi-activo)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36332"/>
            <a:ext cx="11430000" cy="48596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mandato_activos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11.21 Módulo · DESGLOSE_OFERTAS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39652"/>
            <a:ext cx="11430000" cy="16530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Tabla: desglose_ofertas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11.22 Módulo · EQUIPO DE TRABAJO · contexto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tabla — es jsonb presente en leads.equipo_trabajo, propuestas.equipo_trabajo, demandas.equipo_trabajo, ofertas.equipo_trabajo, mandatos.equipo_trabajo.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jsonb: [{ "nombre": "Sierra Álvaro", "rol": "Principal", "fecha_alta": "2026-04-12" }].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11.22 Módulo · EQUIPO DE TRABAJO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64960"/>
            <a:ext cx="11430000" cy="3013881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11.23 Módulo · CONFIDENCIALIDAD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32619"/>
            <a:ext cx="11430000" cy="28670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tabla — es boolean + jsonb en ofertas.confidencial (mig 006) y similar en demandas.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11.24 Módulo · TAREA / FOLLOW-UP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677694"/>
            <a:ext cx="11430000" cy="1776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no tienen tabla propia: son actividades.tipo='tarea' con estado='abierto' y un fecha futuro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 Módulo · DYNAMICS_INSTRUCTIONS (espejo)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cubierto en §11.6. Un detalle adicional: el espejo en PDB se usa para mostrar la lista en InstruccionesList con badge "Read-only · Dynamics master".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11.26 Resumen de FKs salientes por entidad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del documento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actualización: 2026-05-04 — refleja migraciones 001-026 y el estado del frontend en commit faac21e.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106</Slides>
  <Notes>106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0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</vt:vector>
  </TitlesOfParts>
  <Company>PDB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Diagramas técnicos de la BD</dc:title>
  <dc:subject>PDB CRM — base de datos</dc:subject>
  <dc:creator>PDB CRM · Equipo</dc:creator>
  <cp:lastModifiedBy>PDB CRM · Equipo</cp:lastModifiedBy>
  <cp:revision>1</cp:revision>
  <dcterms:created xsi:type="dcterms:W3CDTF">2026-05-04T06:58:35Z</dcterms:created>
  <dcterms:modified xsi:type="dcterms:W3CDTF">2026-05-04T06:58:35Z</dcterms:modified>
</cp:coreProperties>
</file>