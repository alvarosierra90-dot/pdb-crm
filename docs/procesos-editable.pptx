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 · procesos por módulo · diagrama editable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565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por módulo · diagrama editable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lane Dynamics ↔ PDB · campos a cumplimentar por etapa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114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2026-05-04 · todas las cajas editables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lane Dynamics ↔ PDB · vista global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143000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914400"/>
            <a:ext cx="411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1143000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108960"/>
            <a:ext cx="411480" cy="310896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384048" y="3108960"/>
            <a:ext cx="411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· operativo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1554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910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+ Contacto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08960" y="1554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5910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19933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tipos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869680" y="15544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5910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19933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→ cerrada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05840" y="4297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3342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7365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8960" y="3337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374136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6393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pitch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08960" y="42062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242816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4507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directa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50749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5111496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53766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directa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41605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1970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45994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0880" y="41605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41970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· Visita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45994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oferta_demanda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869680" y="41605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45994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607040" y="41605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07040" y="41970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07040" y="45994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0" y="1874520"/>
            <a:ext cx="54864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663440" y="1874520"/>
            <a:ext cx="420624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2560320" y="3657600"/>
            <a:ext cx="548640" cy="96012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194560" y="401878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cualifica · pitch=sí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V="1">
            <a:off x="2560320" y="4453128"/>
            <a:ext cx="548640" cy="164592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2194560" y="4416552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· demanda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0" y="4617720"/>
            <a:ext cx="548640" cy="704088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2194560" y="4850892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· oferta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63440" y="3584448"/>
            <a:ext cx="548640" cy="713232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297680" y="3822192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4453128"/>
            <a:ext cx="548640" cy="914"/>
          </a:xfrm>
          <a:prstGeom prst="line">
            <a:avLst/>
          </a:prstGeom>
          <a:noFill/>
          <a:ln w="15875">
            <a:solidFill>
              <a:srgbClr val="15803D"/>
            </a:solidFill>
            <a:prstDash val="dash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297680" y="4334256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opcional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 flipV="1">
            <a:off x="4663440" y="4663440"/>
            <a:ext cx="548640" cy="658368"/>
          </a:xfrm>
          <a:prstGeom prst="line">
            <a:avLst/>
          </a:prstGeom>
          <a:noFill/>
          <a:ln w="15875">
            <a:solidFill>
              <a:srgbClr val="15803D"/>
            </a:solidFill>
            <a:prstDash val="dash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766560" y="4480560"/>
            <a:ext cx="274320" cy="914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595360" y="4480560"/>
            <a:ext cx="274320" cy="914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424160" y="4480560"/>
            <a:ext cx="182880" cy="914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783080" y="2194560"/>
            <a:ext cx="2103120" cy="210312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2194560" y="31272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cualifica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flipV="1">
            <a:off x="4663440" y="2103120"/>
            <a:ext cx="4206240" cy="141732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6126480" y="269290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ganada · INSERT instr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V="1">
            <a:off x="9646920" y="2194560"/>
            <a:ext cx="914" cy="19659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9006840" y="305866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· UPDATE cerrada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flechas continuas: cascada principal   |   ▷ discontinuas: ramas opcionales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× responsabilidades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del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lead (estado=nuevo, tipo, via=null)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Cualificación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oportunidad (broker pide)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lead estado=cualificado + INSERT entidad downstream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(Propuesta)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oportunidad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propuesta — broker la elabora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Ganar Pitch →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instrucción (kickoff)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mandato (vía=pitch, FK propuesta)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oportunidad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demanda + (opcional) firma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oportunidad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 + (opcional) firma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mandato directo (post-hoc)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instrucción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mandato (vía=directo) + UPDATE demanda/oferta.mandato_id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oferta_demanda (snapshot condiciones)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al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envios_ofertas + microsite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visita (FK alternativa + oferta + demanda + activo)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negociación + iteraciones (jsonb diff)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/ Firmado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instrucción cerrada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oferta Ocupada total + INSERT arrendatario + UPDATE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— renovar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arrendatario fecha + estado_arr=Renovado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— salir a mercado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 sell-side + UPDATE arrendatario Finalizado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Cancelación / Cierre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mandato + decisión sobre ofertas (desvincular vs retirar)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captura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· estado=nuevo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0944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cualificar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entrada. Todos los campos son nuevos: no hay módulo anterior.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lead/asunto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· demanda · generico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libre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uno (email o teléfono)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uno (email o teléfono)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origen_canal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· portal · linkedin · recomendacion · directo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origen_campana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 origen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origen_anuncio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 concreto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origen_url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de la landing/portal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(Dynamics) — cualificación del Lead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pitch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5848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· Oferta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directa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TransformarLeadModal. Se crea la oportunidad en Dynamics y la entidad downstream en PDB.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nombre · tipo (derivado de lead.tipo + pitch?)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cuenta_dynamics_id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Typeahead. Si la cuenta no existe, crearla en Dynamics primero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contacto_dynamics_id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 obligatorio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del broker: SÍ → Propuesta · NO → Demanda/Oferta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pitch=NO + tipo=oferta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— solo vía pitch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ganar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broker elabora la propuesta para competir por el mandato. Solo existe en la rama pitch.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cuenta · oportunidad · equipo_trabajo (copia editable) · nombre derivado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Editable; pre-rellenado con nombre de la cuenta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· Valoración · Propuesta servicios · Mandato comercial · Consultoría · Urbanismo · Proyecto arquitectura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de negocio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Honorarios estimados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fecha_envio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se envía al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fecha_cierre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al ganar/perder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motivo_descarte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pasa a perdida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— cascada Propuesta ganada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· vía pitch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5848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· Visita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MarcarPropuestaGanadaModal. Crea automáticamente la Instrucción Dynamics y el Mandato en PDB.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cuenta · oportunidad · propuesta_id · equipo_trabajo · responsable · título sugerido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fee_savills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— va a la Instrucción Dynamics (lifetime fee)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fecha_kickoff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la Instrucción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 · venta · demanda · consultoria (sugerido por tipo de oportunidad)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fecha_firma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hoy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fecha_vencimiento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Recomendable rellenar para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fee_eur_fijo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fee_savills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fee_porcentaje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sobre operación (alternativa al fijo)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fee_min_garantizado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garantizado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exclusividad_modo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exclusiva. Otra opción: coexclusiva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cuenta_agente_id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exclusividad_modo=coexclusiva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activos_vinculados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Mandato_activos. Obligatorio si tipo alquiler/venta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preaviso_dias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alerta_dias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prorroga_tacita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— firma directa post-hoc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· Oferta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mandato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· vía directa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FirmarMandatoModal desde Demanda u Oferta existentes. Crea Instrucción + Mandato y lo enlaza al origen.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cuenta · oportunidad · equipo_trabajo · FK al origen (demandas/ofertas.mandato_id) · activo (si origen=oferta)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fee_savills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— Instrucción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fecha_kickoff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Sugerido según origen: demanda → demanda; oferta → alquiler/venta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fecha_firma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hoy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fecha_vencimiento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fee_eur_fijo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exclusividad_modo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exclusiva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cuenta_agente_id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coexclusiva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— buy-side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5848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ofertas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busca espacio. La mayoría de demandas operan SIN mandato (sub-brokering, búsquedas en paralelo).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cuenta · oportunidad · equipo_trabajo · nombre derivado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Oficinas · Logístico · Retail · Residencial · Hotel · Living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requisitos.sup_min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mínimos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requisitos.sup_max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máximos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requisitos.zonas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Zonas/submercados de interés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requisitos.renta_max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máximo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requisitos.fecha_disp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necesita ocupar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Detalles libres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— sell-side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5848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mercado. Puede nacer de un lead directo, del portfolio existente, o de un vencimiento.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(cuenta + oportunidad si nace de lead)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 a comercializar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tipo_operacion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 · Venta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desglose_ofertas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 espacio (ref interno + sup_min)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(alquiler)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 (venta)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fecha_disponibilidad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hoy. Si nace de un vencimiento → la fecha del vencimiento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asignaciones_stacking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el desglose a planta(s) del activo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caracteristicas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de features del activo a incluir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plazas_oferta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Plazas de parking incluidas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0944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prop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arr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hereda de nada (es origen). Se da de alta directamente en el módulo Activos.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Slug único (ej. MAD-OF-00189)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comercial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codigo_postal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Submercado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Oficinas · Logístico · Retail · Residencial · Living · Hotel · Industrial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 bruta arrendable total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n_edificios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 / longitud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anno_construccion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· A · B ·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stacking_data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edificios + plantas (editor visual)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(sobre activo)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a planta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desde la ficha del activo. La cuenta del propietario se busca en Dynamics.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activo_ref (auto)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propietario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Cuenta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tipologia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deal · Share deal ·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anyo_compra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 · 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precio_compra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Soporta texto (ej. "130 M€")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Propiedad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· Core+ · Value-add · Opportunistic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· Sell · Reposicionamiento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yield_pct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deuda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al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drag&amp;drop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arrastrar al stacking, el alta queda incompleta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 (sobre activo)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cierre oferta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acercarse fin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nace de cierre de oferta, los datos del cliente se prerrellenan.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activo_ref · (prefilledTenant + sup + fromFloorId si viene de oferta)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inquilino. Si tenant_desconocido=true, se omite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tenant_desconocido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si no se conoce el inquilino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ocupados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closing_rent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acordada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fecha_inicio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fecha_fin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contractual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break_option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meses_carencia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meses_recordatorio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3 (alertar antes del break)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tipo_contrato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 · LAU comercial ·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anios_obligado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 de obligatoriedad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del inquilino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al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drag&amp;drop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si nace de cierre de oferta; si no,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5848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de borrador de contrato hasta el firmado. Versionado de documentos.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oferta_id · oferta_demanda_id · demanda_id · cuenta_inquilina_id · cuenta_propietaria_id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condiciones_acordadas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acumulado (renta · carencia · plazos · obras...)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documentos_versionados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de versiones del borrador de contrato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fee_savills_estimado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Estimación de honorarios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fecha_cierre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cerrar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motivo_perdida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rechazado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83964" y="1234440"/>
            <a:ext cx="288036" cy="9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positiva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triple: visible desde alternativa, oferta, demanda y activo. Una sola fila.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oferta_demanda_id · oferta_id · activo_id · demanda_id (todos auto)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· cliente · propietario...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positiva · neutral · negativa (al completar)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— transversal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ficha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lead/oferta/...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08276" y="1234440"/>
            <a:ext cx="169164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8686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052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990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ficha tiene "+ Nueva actividad". Las FKs se rellenan según el contexto desde el que se crea.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HEREDA del módulo anterior:  FKs del contexto (lead_id · oferta_id · mandato_id · etc.)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 cumplimentar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"/>
                <a:gridCol w="667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· llamada · reunion · nota · tarea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asignado_a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usuario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abierto → completado / cancelado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obligatorio · * condicional · (vacío) opcional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PDB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Procesos PDB ↔ Dynamics</dc:title>
  <dc:subject>PptxGenJS Presentation</dc:subject>
  <dc:creator>PDB CRM</dc:creator>
  <cp:lastModifiedBy>PDB CRM</cp:lastModifiedBy>
  <cp:revision>1</cp:revision>
  <dcterms:created xsi:type="dcterms:W3CDTF">2026-05-04T13:02:27Z</dcterms:created>
  <dcterms:modified xsi:type="dcterms:W3CDTF">2026-05-04T13:02:27Z</dcterms:modified>
</cp:coreProperties>
</file>