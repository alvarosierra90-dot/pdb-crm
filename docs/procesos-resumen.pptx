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88952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565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CRM · procesos y campos por módulo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95360" y="65653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· uso interno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CRM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y campos por módulo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swim lane Dynamics ↔ PDB · campos a cumplimentar por módulo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931920"/>
            <a:ext cx="41148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2026-05-04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BE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Swim lane · Dynamics ↔ PDB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4297680"/>
            <a:ext cx="45720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Swim lane · Dynamics ↔ PDB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71779"/>
            <a:ext cx="11430000" cy="32973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5508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oro: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BE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Procesos × responsabilidades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4297680"/>
            <a:ext cx="45720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Procesos × responsabilidades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114300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200400"/>
                <a:gridCol w="3886200"/>
                <a:gridCol w="38862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Dynamics 365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Captura del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lead (`estado=nuevo`, `tipo`, `via=null`)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Cualificación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oportunidad (broker pide)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lead `estado=cualificado` + INSERT entidad downstream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Pitch (Propuesta)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opp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propuesta — broker la elabora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Ganar Pitch → Mandato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instrucción (`kickoff`)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mandato (`via=pitch`, FK propuesta)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Demanda directa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opp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demanda + (opcional) firma mandato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Oferta directa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opp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oferta + (opcional) firma mandato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Firma mandato directo (post-hoc)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instrucción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mandato (`via=directo`) + UPDATE demanda/oferta `mandato_id`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oferta_demanda (snapshot condiciones)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Envío al cliente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envios_ofertas + microsite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visita (FK alternativa + oferta + demanda + activo)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Negociación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negociación + iteraciones (jsonb diff)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Cierre / Firmado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instrucción `cerrada`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oferta `Ocupada total` + INSERT arrendatario + UPDATE stacking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Vencimiento — renovar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arrendatario `fecha` + `estado_arr=Renovado`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Vencimiento — salir a mercado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oferta sell-side + UPDATE arrendatario `Finalizado`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Cancelación / Cierre Mandato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mandato + decisión sobre ofertas (desvincular vs retirar)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6263640"/>
            <a:ext cx="1371600" cy="27432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Dynamics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828800" y="6263640"/>
            <a:ext cx="1371600" cy="274320"/>
          </a:xfrm>
          <a:prstGeom prst="rect">
            <a:avLst/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PDB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BE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Campos por módulo (solo los que el broker debe rellenar)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4297680"/>
            <a:ext cx="45720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Lead — captura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entrada. Todos los campos son nuevos porque no hay módulo anterior.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914400"/>
                <a:gridCol w="64008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`nombre`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del lead/asunto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`tipo`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`oferta` · `demanda` · `generico`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`descripcion`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 libre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`prioridad`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`baja` · `media` · `alta`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`email`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menos uno (email o teléfono) para detectar duplicados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`telefono`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`origen_canal`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`web` · `portal` · `linkedin` · `recomendacion` · `directo`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`origen_campana`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Campaña de origen (si aplica)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`origen_anuncio`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Anuncio concreto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`origen_url`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de la landing/portal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Oportunidad (Dynamics) — cualificación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desde el modal TransformarLeadModal. Hereda del Lead: nombre, tipo (derivado de lead.tipo + pitch?).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914400"/>
                <a:gridCol w="64008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`cuenta_dynamics_id`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Typeahead obligatorio. Si no existe la cuenta hay que crearla en Dynamics primero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`contacto_dynamics_id`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Typeahead obligatorio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`pitch`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Decisión del broker (SÍ → propuesta, NO → demanda/oferta directa)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`activo_id`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si pitch=NO + tipo=oferta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Propuesta — solo vía pitch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Hereda de la Oportunidad: cuenta, oportunidad, equipo_trabajo (copia editable), nombre derivado del lead/cuenta.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914400"/>
                <a:gridCol w="64008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`nombre`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Editable; pre-rellenado con nombre de cuenta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`tipo`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`Pitch` · `Valoración` · `Propuesta de servicios` · `Mandato comercial` · `Consultoría` · `Urbanismo` · `Proyecto arquitectura/workplace`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`linea`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 de negocio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`fees`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Honorarios estimados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`fecha_envio`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Cuando se envía al cliente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`fecha_cierre`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al ganar/perder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`motivo_descarte`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pasa a `perdida`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Mandato (cascada Propuesta ganada)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MarcarPropuestaGanadaModal. Hereda: cuenta, oportunidad, propuesta_id, equipo_trabajo, responsable, nombre/título sugerido. Crea automáticamente la Instrucción Dynamics.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914400"/>
                <a:gridCol w="64008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`fee_savills`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 — va a la **Instrucción Dynamics** (lifetime fee)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`fecha_kickoff`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la Instrucción Dynamics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`tipo`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`alquiler` · `venta` · `demanda` · `consultoria` (sugerido por tipo de oportunidad)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`fecha_firma`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= hoy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`fecha_vencimiento`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Recomendable rellenar para alertas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`fee_eur_fijo`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= `fee_savills`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`fee_porcentaje`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el fee va por % sobre operación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`fee_min_garantizado`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 garantizado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`exclusividad_modo`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`exclusiva`. Otra opción: `coexclusiva` (requiere agente externo)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`cuenta_agente_id`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si `exclusividad_modo=coexclusiva`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`activos_vinculados`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Mandato_activos. Obligatorio si tipo `alquiler` o `venta`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`preaviso_dias`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`alerta_dias`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60 (alertas en vencimiento)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`prorroga_tacita`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`prorroga_meses`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`prorroga_tacita=true`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Demanda — buy-side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Hereda de Lead/Oportunidad: cuenta, oportunidad, equipo_trabajo, nombre derivado.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914400"/>
                <a:gridCol w="64008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`requisitos.uso`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`Oficinas` · `Logístico` · `Retail` · `Residencial` · `Hotel` · `Living`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`requisitos.sup_min`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m² mínimos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`requisitos.sup_max`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m² máximos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`requisitos.zonas`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de zonas/submercados de interés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`requisitos.renta_max`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€/m²/mes máximo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`requisitos.fecha_disp`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necesita ocupar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`notas`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Detalles libres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Oferta — sell-side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Hereda: cuenta + oportunidad (de lead) o ninguno si la creación nace de un activo del portfolio. Activo es obligatorio.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914400"/>
                <a:gridCol w="64008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`activo_id`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Activo a comercializar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`tipo_operacion`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`Alquiler` · `Venta`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`desglose_ofertas`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menos un espacio (ref interno + sup_min)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`renta`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€/m²/mes (alquiler)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`precio`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€/m² (venta)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`fecha_disponibilidad`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= hoy. Si nace de un vencimiento → la fecha del vencimiento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`divisible`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`confidencial`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Toggle 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`asignaciones_stacking`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Asignar el desglose a planta(s) del activo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`caracteristicas`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 de features del activo a incluir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`plazas_oferta`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Plazas de parking incluidas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Activo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hereda de nada (es origen). Se da de alta directamente en el módulo Activos.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914400"/>
                <a:gridCol w="64008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`ref`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Slug único (ej. `MAD-OF-00189`)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`nombre`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comercial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`direccion`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`ciudad`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`codigo_postal`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`zona`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Submercado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`uso`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`Oficinas` · `Logístico` · `Retail` · `Residencial` · `Living` · `Hotel` · `Industrial`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`sba`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Superficie bruta arrendable total m²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`sba_neta`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`n_edificios`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`coordenadas`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Latitud / longitud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`anno_construccion`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`anno_rehabilitacion`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`calidad`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`Prime` · `A` · `B` · `C`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`leed` / `breeam` / `well`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Certificaciones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`stacking_data`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 de edificios + plantas (editor visual)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 Propietario (sobre activo)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Hereda: activo_ref (auto del flujo desde el activo). El propietario en sí (cuenta) se busca en Dynamics.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914400"/>
                <a:gridCol w="64008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`propietario`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Cuenta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Typeahead Dynamics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`tipologia`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`Asset deal` · `Share deal` · 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`anyo_compra`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`trimestre`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`Q1` · `Q2` · `Q3` · `Q4`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`precio_compra`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Soporta texto (ej. "130 M€")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`regimen`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`Propiedad 100%`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`perfil`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`Core` · `Core+` · `Value-add` · `Opportunistic`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`estrategia`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`Hold` · `Sell` · `Reposicionamiento`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`cap_rate` / `yield_pct` / `tir_objetivo`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`ltv` / `financiacion` / `banco`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Estructura de deuda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**Asignación al stacking**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drag&amp;drop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arrastrar al stacking, el alta queda incompleta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3.10 Arrendatario (sobre activo)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Hereda: activo_ref (auto). Si nace de cierre de oferta → prefilledTenant, prefilledSup, fromFloorId también heredados.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914400"/>
                <a:gridCol w="64008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`tenant`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del inquilino. Si `tenant_desconocido=true`, se omite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`tenant_desconocido`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Toggle si no se conoce el inquilino actual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`persona_fisica`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`superficie`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m² ocupados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`closing_rent`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€/m²/mes acordada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`asking_rent`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 inicial (anti-)pedida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`fecha_inicio`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`fecha_fin`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Vencimiento contractual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`break_option`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alertas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`meses_carencia`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`meses_recordatorio`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3 (alertar antes del break)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`tipo_contrato`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LAU, LAU comercial, etc.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`anios_obligado`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Periodo de obligatoriedad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`aportacion_obras_m2`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 / fit-out aportado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`agente_activo` / `agente_pasivo`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`sector`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Sector del inquilino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`color`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 del chip en el stacking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**Asignación al stacking**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drag&amp;drop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si nace de cierre de oferta; si no, manual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3.11 Negociación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Hereda: oferta_id, oferta_demanda_id, demanda_id, cuenta_inquilina_id, cuenta_propietaria_id (todas auto del contexto).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914400"/>
                <a:gridCol w="64008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`condiciones_acordadas`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 acumulado de las condiciones (renta, carencia, plazos, obras...)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`documentos_versionados`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de versiones de borrador de contrato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`fee_savills_estimado`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Estimación de honorarios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`fecha_cierre`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cerrar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`motivo_perdida`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rechazado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3.12 Visita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Hereda: oferta_demanda_id, oferta_id, activo_id, demanda_id (todos auto).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914400"/>
                <a:gridCol w="64008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`fecha`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`asistentes`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de asistentes (broker, cliente, propietario...)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`resultado`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`positiva` · `neutral` · `negativa` (al completar)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`notas`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3.13 Actividad (transversal)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ficha tiene un botón "+ Nueva actividad". Las FKs se rellenan automáticamente según el contexto desde el que se crea.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914400"/>
                <a:gridCol w="64008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`tipo`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`email` · `llamada` · `reunion` · `nota` · `tarea`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`asunto`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`descripcion`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`fecha`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`asignado_a`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= usuario actual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`estado`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`abierto`; pasa a `completado`/`cancelado`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BE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Resumen visual · qué se hereda al cascadear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4297680"/>
            <a:ext cx="457200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Resumen visual · qué se hereda al cascadear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14300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22965"/>
            <a:ext cx="11430000" cy="29949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35508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nodo lista solo los campos nuevos del paso. Los anteriores se heredan automáticamente.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PDB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Procesos y campos por módulo</dc:title>
  <dc:subject>PptxGenJS Presentation</dc:subject>
  <dc:creator>PDB CRM</dc:creator>
  <cp:lastModifiedBy>PDB CRM</cp:lastModifiedBy>
  <cp:revision>1</cp:revision>
  <dcterms:created xsi:type="dcterms:W3CDTF">2026-05-04T12:54:30Z</dcterms:created>
  <dcterms:modified xsi:type="dcterms:W3CDTF">2026-05-04T12:54:30Z</dcterms:modified>
</cp:coreProperties>
</file>